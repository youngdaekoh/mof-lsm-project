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4011C0A2.xml" ContentType="application/vnd.ms-powerpoint.comments+xml"/>
  <Override PartName="/ppt/notesSlides/notesSlide3.xml" ContentType="application/vnd.openxmlformats-officedocument.presentationml.notesSlide+xml"/>
  <Override PartName="/ppt/comments/modernComment_103_B7E9DC2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08A365-7897-0999-58A4-387518C487CC}" name="JeongJee-Hoon" initials="JH" userId="S::jjeehoon@sju.ac.kr::970309e6-b4ef-416a-a431-31ba0fb0dc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7"/>
    <p:restoredTop sz="77281"/>
  </p:normalViewPr>
  <p:slideViewPr>
    <p:cSldViewPr snapToGrid="0">
      <p:cViewPr varScale="1">
        <p:scale>
          <a:sx n="144" d="100"/>
          <a:sy n="144" d="100"/>
        </p:scale>
        <p:origin x="2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2_4011C0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7E2869-3204-174D-910C-F376AADF7907}" authorId="{7B08A365-7897-0999-58A4-387518C487CC}" created="2026-03-05T12:30:40.5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4905250" sldId="258"/>
      <ac:spMk id="15" creationId="{7FB5A3CF-EC4A-E8DD-6095-9DBAE94E1BFC}"/>
    </ac:deMkLst>
    <p188:txBody>
      <a:bodyPr/>
      <a:lstStyle/>
      <a:p>
        <a:r>
          <a:rPr lang="ko-KR" altLang="en-US"/>
          <a:t>동일한 관측자료를 강제력으로 사용하였음에도 모델바다 년변동성 뿐만아니라 경향에도 큰 차이가 나타남. 차세대 모델도 이러한 성능평가 비교를 통해 진단을 실시할 계획</a:t>
        </a:r>
      </a:p>
    </p188:txBody>
  </p188:cm>
  <p188:cm id="{89C6F8A2-9A9A-B24F-8546-CACC2038A160}" authorId="{7B08A365-7897-0999-58A4-387518C487CC}" created="2026-03-10T11:21:59.02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4905250" sldId="258"/>
      <ac:spMk id="18" creationId="{C4298BE1-B0F8-237F-FFDD-DAA3E9C8E4E0}"/>
    </ac:deMkLst>
    <p188:txBody>
      <a:bodyPr/>
      <a:lstStyle/>
      <a:p>
        <a:r>
          <a:rPr lang="ko-KR" altLang="en-US"/>
          <a:t>동아시아 지역에서 지면-대기 결합강도가 강화되고 있으며, 이는 폭염-가뭄의 강도강화로 이어져 동아시아 및 연안기후에 큰 영향을 줄 수 있음. </a:t>
        </a:r>
      </a:p>
    </p188:txBody>
  </p188:cm>
</p188:cmLst>
</file>

<file path=ppt/comments/modernComment_103_B7E9DC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2EA677-E54E-FF4A-BBEC-2E6EA4F6AE9B}" authorId="{7B08A365-7897-0999-58A4-387518C487CC}" created="2026-03-05T12:53:01.7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85556774" sldId="259"/>
      <ac:spMk id="5" creationId="{46A20F87-430D-3EA0-922F-92DF2B649B32}"/>
      <ac:txMk cp="0" len="47">
        <ac:context len="48" hash="398735332"/>
      </ac:txMk>
    </ac:txMkLst>
    <p188:pos x="4426580" y="377709"/>
    <p188:txBody>
      <a:bodyPr/>
      <a:lstStyle/>
      <a:p>
        <a:r>
          <a:rPr lang="ko-KR" altLang="en-US"/>
          <a:t>타모델(GRIMS-CCM에서 지면모델을 업데이트 하였을경우(NOahLSM &gt; NoahMP) 나타나는 기온모의결과의 변화. 모델이 업데이트 되었어도 일부지역에서는 오히려 오차가 커지는 현상이 발생할 수 있음. 차세대 모델의 개발기간중 토양 및 수문 물리과정, 식생과정, 담주 유추모델 업데이트를 적용하고,  이처럼 모델의 벤치마크를 통해 나타나는 문제점을 파악, 최적화하려함. </a:t>
        </a:r>
      </a:p>
    </p188:txBody>
  </p188:cm>
  <p188:cm id="{6DF11842-650B-CB44-8FEE-FAE975B06FEE}" authorId="{7B08A365-7897-0999-58A4-387518C487CC}" created="2026-03-05T12:56:44.4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85556774" sldId="259"/>
      <ac:spMk id="10" creationId="{430BDAD2-FABD-8F7F-B911-579C2579587C}"/>
      <ac:txMk cp="0" len="79">
        <ac:context len="80" hash="2395129756"/>
      </ac:txMk>
    </ac:txMkLst>
    <p188:pos x="3793239" y="379848"/>
    <p188:txBody>
      <a:bodyPr/>
      <a:lstStyle/>
      <a:p>
        <a:r>
          <a:rPr lang="ko-KR" altLang="en-US"/>
          <a:t>비슷한 방법으로 차세대 예측시스템의 지면기원 극한기후(가뭄-폭염)의 예측성능을 평가할 계획임.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4C8BE-820B-C54F-BB31-B4E91599CD21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15C4E-61C1-E145-9E1B-9DB6DD9DE2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755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5C4E-61C1-E145-9E1B-9DB6DD9DE293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057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단계에는 차세대 해양기후모델의 지면</a:t>
            </a:r>
            <a:r>
              <a:rPr kumimoji="1" lang="en-US" altLang="ko-KR" dirty="0"/>
              <a:t>-</a:t>
            </a:r>
            <a:r>
              <a:rPr kumimoji="1" lang="ko-KR" altLang="en-US" dirty="0"/>
              <a:t>식생모델의 성능을 객관적</a:t>
            </a:r>
            <a:r>
              <a:rPr kumimoji="1" lang="en-US" altLang="ko-KR" dirty="0"/>
              <a:t>,</a:t>
            </a:r>
            <a:r>
              <a:rPr kumimoji="1" lang="ko-KR" altLang="en-US" dirty="0"/>
              <a:t> 종합적으로 비교할 수 있는 진단체계를 구축하여 개선점을 파악하는데 중점을 둘 계획임</a:t>
            </a:r>
            <a:endParaRPr kumimoji="1" lang="en-US" altLang="ko-KR" dirty="0"/>
          </a:p>
          <a:p>
            <a:r>
              <a:rPr kumimoji="1" lang="en-US" altLang="ko-KR" dirty="0"/>
              <a:t>1</a:t>
            </a:r>
            <a:r>
              <a:rPr kumimoji="1" lang="ko-KR" altLang="en-US" dirty="0"/>
              <a:t>차년도</a:t>
            </a:r>
            <a:r>
              <a:rPr kumimoji="1" lang="en-US" altLang="ko-KR" dirty="0"/>
              <a:t>:</a:t>
            </a:r>
            <a:r>
              <a:rPr kumimoji="1" lang="ko-KR" altLang="en-US" dirty="0"/>
              <a:t> 현존 최신 지면</a:t>
            </a:r>
            <a:r>
              <a:rPr kumimoji="1" lang="en-US" altLang="ko-KR" dirty="0"/>
              <a:t>-</a:t>
            </a:r>
            <a:r>
              <a:rPr kumimoji="1" lang="ko-KR" altLang="en-US" dirty="0"/>
              <a:t>식생 모델인 </a:t>
            </a:r>
            <a:r>
              <a:rPr kumimoji="1" lang="en-US" altLang="ko-KR" dirty="0"/>
              <a:t>LM4+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포함한 </a:t>
            </a:r>
            <a:r>
              <a:rPr kumimoji="1" lang="en-US" altLang="ko-KR" dirty="0"/>
              <a:t>Noah, JULES, CLM</a:t>
            </a:r>
            <a:r>
              <a:rPr kumimoji="1" lang="ko-KR" altLang="en-US" dirty="0"/>
              <a:t> 등과 비교할 수 있는 벤치마크 시스템을 구축하고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2</a:t>
            </a:r>
            <a:r>
              <a:rPr kumimoji="1" lang="ko-KR" altLang="en-US" dirty="0"/>
              <a:t>차년도</a:t>
            </a:r>
            <a:r>
              <a:rPr kumimoji="1" lang="en-US" altLang="ko-KR" dirty="0"/>
              <a:t>:</a:t>
            </a:r>
            <a:r>
              <a:rPr kumimoji="1" lang="ko-KR" altLang="en-US" dirty="0"/>
              <a:t> 해양기후예측시스템 지면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식새모델의</a:t>
            </a:r>
            <a:r>
              <a:rPr kumimoji="1" lang="ko-KR" altLang="en-US" dirty="0"/>
              <a:t> 기후변화 민감도 실험</a:t>
            </a:r>
            <a:r>
              <a:rPr kumimoji="1" lang="en-US" altLang="ko-KR" dirty="0"/>
              <a:t>(historical)</a:t>
            </a:r>
            <a:r>
              <a:rPr kumimoji="1" lang="ko-KR" altLang="en-US" dirty="0"/>
              <a:t>을 통해 구조적 오차를 파악함</a:t>
            </a:r>
            <a:r>
              <a:rPr kumimoji="1" lang="en-US" altLang="ko-KR" dirty="0"/>
              <a:t>.</a:t>
            </a:r>
            <a:r>
              <a:rPr kumimoji="1" lang="ko-KR" altLang="en-US" dirty="0"/>
              <a:t> 특히 동아시아 지역 연안의 기후변화에 따른 지면</a:t>
            </a:r>
            <a:r>
              <a:rPr kumimoji="1" lang="en-US" altLang="ko-KR" dirty="0"/>
              <a:t>-</a:t>
            </a:r>
            <a:r>
              <a:rPr kumimoji="1" lang="ko-KR" altLang="en-US" dirty="0"/>
              <a:t>식생 변화의 영향을 중점적으로 파악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ko-KR" altLang="en-US" dirty="0"/>
              <a:t>차년도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CMIP7</a:t>
            </a:r>
            <a:r>
              <a:rPr kumimoji="1" lang="ko-KR" altLang="en-US" dirty="0"/>
              <a:t> 실험에서 지면</a:t>
            </a:r>
            <a:r>
              <a:rPr kumimoji="1" lang="en-US" altLang="ko-KR" dirty="0"/>
              <a:t>-</a:t>
            </a:r>
            <a:r>
              <a:rPr kumimoji="1" lang="ko-KR" altLang="en-US" dirty="0"/>
              <a:t>식생</a:t>
            </a:r>
            <a:r>
              <a:rPr kumimoji="1" lang="en-US" altLang="ko-KR" dirty="0"/>
              <a:t>-</a:t>
            </a:r>
            <a:r>
              <a:rPr kumimoji="1" lang="ko-KR" altLang="en-US" dirty="0"/>
              <a:t>대기 상호작용을 진단하고 개선점을 도출함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&gt;&gt;</a:t>
            </a:r>
            <a:r>
              <a:rPr kumimoji="1" lang="ko-KR" altLang="en-US" dirty="0"/>
              <a:t> 내부적으로는 모델 개선 작업 시작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5C4E-61C1-E145-9E1B-9DB6DD9DE293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3267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단계에는 </a:t>
            </a:r>
            <a:r>
              <a:rPr kumimoji="1" lang="en-US" altLang="ko-KR" dirty="0"/>
              <a:t>1</a:t>
            </a:r>
            <a:r>
              <a:rPr kumimoji="1" lang="ko-KR" altLang="en-US" dirty="0"/>
              <a:t>단계 진단을 기반으로 지면</a:t>
            </a:r>
            <a:r>
              <a:rPr kumimoji="1" lang="en-US" altLang="ko-KR" dirty="0"/>
              <a:t>-</a:t>
            </a:r>
            <a:r>
              <a:rPr kumimoji="1" lang="ko-KR" altLang="en-US" dirty="0"/>
              <a:t>식생 물리과정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특히 최근 많은 개선이 이루어지고 있는 토양 및 수문 물리과정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담수 유출모델 과정을 업데이트 할 계획임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여기에 명시하지는 않았으나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연구기간내 물리모델들의 </a:t>
            </a:r>
            <a:r>
              <a:rPr kumimoji="1" lang="en-US" altLang="ko-KR" dirty="0"/>
              <a:t>emulator</a:t>
            </a:r>
            <a:r>
              <a:rPr kumimoji="1" lang="ko-KR" altLang="en-US" dirty="0"/>
              <a:t>들이 개발 될 예정으로 이들에 대한 적용도 실시할 계획임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5C4E-61C1-E145-9E1B-9DB6DD9DE293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34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5A156-874B-3B96-9BEE-F7D367434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C3A12A-A7C4-9210-D3CB-22131C9B9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BEAF20-538E-B958-A97B-9D10251F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55993-6D77-6889-D35E-89A8C37B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749D9B-2C96-5EC8-21E7-C3633CFF7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44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E8038-5C8A-3D4A-D6E9-2AFBB01A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9663B-CFEE-B9B7-463B-D0A64B8A4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717CC-BD8A-2458-C897-ADF304EB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C8A111-0CBA-2AA7-8DAF-78CF705D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B8B9FF-F4ED-5A5A-CEC6-2F2F1FB5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D1726-D05D-3089-E342-2B5870D5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8987E6-4148-DD8D-71C3-E24D0061D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BE5667-10C5-64E0-27C2-A182D8DE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F6C2CE-A5C4-D589-2E50-7E5A7AED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0077B4-6D3A-5225-BA31-D9EE7C5B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3CC9D-BA1B-89A1-9FC3-4927B7F7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DE673D-C188-9E19-D26E-7D215A6BD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41332B-A8DD-6C98-DF94-880B9E9BE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A02D30-3EA9-2E9F-7B05-AC8589A18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D109E-798D-FDEB-94D8-DCDAA11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5B8A16-5269-5496-714B-1CECF27B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28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C5C24-AF84-FB05-D0EB-AA5C85CE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2EF68-D66C-6E7B-7622-588665CFF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13C59-33F7-616C-F1A8-C5A94B966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1877F9-9085-3C10-48F7-E11392A86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344554-671F-86AA-1B58-8080813F0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AC5150-D1FB-F2F7-8DDC-0221E883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ECA474-5803-6794-1C03-E9CAF1F9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7D7593-48D2-0381-AA3D-29B5C8C9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893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20F08-E740-CE1F-6482-83727E14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CBEFC5-0482-4358-D210-79E962C03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83CB55-C11F-746E-CF0C-B698178E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BE376-9C91-8301-7007-C75B1962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59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C81473-BC7F-1B88-8734-F8B0FEEB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B5A0C-8D68-9B94-C7FE-A604C7A8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F22BB-74CF-D564-7CE8-D9539F98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12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BB3C4-D114-CB25-2543-CB63E206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94A886-D1A8-809B-E40D-C93A79B7F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7054EF-8E63-F5FA-30DF-04356B5AC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79054-609D-4C46-9754-2A9D92C5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0FF570-64A3-C989-B0A0-C7A12683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0C4F9D-14BB-B319-CDE8-D05BC5EB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23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ECCDD-0B30-57EC-41FF-BCD4AF27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BCEFAD-E61C-4F0A-C8DB-1DE813B50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AE452-6912-CC1F-0278-B2C6DD4AD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637D9E-94D3-6F51-FABE-84CEC5B3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C6763-107C-B1E0-C267-9C2BB5ED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DF389A-BDFC-68A2-FA66-63121BE0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4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B620C-6821-D75D-2621-2850B2C6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7D870B-E6FA-C808-BDBC-B0C693330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B3DE62-1C24-BB4A-58FD-3F670084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DA6D5-6DF8-C0ED-58E8-A72C55A4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BBCB4-E724-EE77-1175-58D8468C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6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AB895D-9A29-1A9F-07BC-75ED8ABDF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AE419B-6D3F-1918-9ECF-D6624C591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D9EB8-8AA9-B40B-F4DA-A0D3232F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9474CD-7EA3-8C62-BB83-5BF15C6E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D0D66-4BED-E5D1-37E4-80E852C6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6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6B7A74-C9FD-A569-2479-A9B9E1C0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650B45-1E85-5730-B67F-8F22245C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71DA0-3F1B-E45C-94A7-B28834894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0BCE0-17D2-EDA9-6118-ED1DC79A5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17EAF-E0DF-54C8-16E3-331107F74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11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4011C0A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B7E9DC2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0BA2D-CE9E-0178-4A90-0A9FBF8D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차세대 해양기후모델 지면</a:t>
            </a:r>
            <a:r>
              <a:rPr lang="en-US" altLang="ko-KR" sz="3600" dirty="0"/>
              <a:t>-</a:t>
            </a:r>
            <a:r>
              <a:rPr lang="ko-KR" altLang="en-US" sz="3600" dirty="0"/>
              <a:t>식생모델 진단 및 개선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454C05-BA85-2268-187A-3F4E87C1A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110" y="1523164"/>
            <a:ext cx="7003676" cy="5220082"/>
          </a:xfrm>
        </p:spPr>
        <p:txBody>
          <a:bodyPr>
            <a:normAutofit fontScale="92500"/>
          </a:bodyPr>
          <a:lstStyle/>
          <a:p>
            <a:r>
              <a:rPr lang="ko-KR" altLang="en-US" sz="2000" dirty="0"/>
              <a:t>연구배경</a:t>
            </a:r>
            <a:endParaRPr lang="en-US" altLang="ko-KR" sz="2000" dirty="0"/>
          </a:p>
          <a:p>
            <a:pPr lvl="1"/>
            <a:r>
              <a:rPr lang="ko-KR" altLang="en-US" sz="1800" dirty="0"/>
              <a:t>기후모델의 정확한 모의에 육상 식생 및 </a:t>
            </a:r>
            <a:r>
              <a:rPr lang="ko-KR" altLang="en-US" sz="1800" dirty="0" err="1"/>
              <a:t>물순환</a:t>
            </a:r>
            <a:r>
              <a:rPr lang="en-US" altLang="ko-KR" sz="1800" dirty="0"/>
              <a:t>,</a:t>
            </a:r>
            <a:r>
              <a:rPr lang="ko-KR" altLang="en-US" sz="1800" dirty="0"/>
              <a:t> 에너지 순환을 정확히 모의하는 지면</a:t>
            </a:r>
            <a:r>
              <a:rPr lang="en-US" altLang="ko-KR" sz="1800" dirty="0"/>
              <a:t>-</a:t>
            </a:r>
            <a:r>
              <a:rPr lang="ko-KR" altLang="en-US" sz="1800" dirty="0"/>
              <a:t>식생 모델의 역할이 매우 중요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지면</a:t>
            </a:r>
            <a:r>
              <a:rPr lang="en-US" altLang="ko-KR" sz="1800" dirty="0"/>
              <a:t>-</a:t>
            </a:r>
            <a:r>
              <a:rPr lang="ko-KR" altLang="en-US" sz="1800" dirty="0"/>
              <a:t>식생변화는 지면</a:t>
            </a:r>
            <a:r>
              <a:rPr lang="en-US" altLang="ko-KR" sz="1800" dirty="0"/>
              <a:t>-</a:t>
            </a:r>
            <a:r>
              <a:rPr lang="ko-KR" altLang="en-US" sz="1800" dirty="0"/>
              <a:t>대기 상호작용을 통해 대기의 열</a:t>
            </a:r>
            <a:r>
              <a:rPr lang="en-US" altLang="ko-KR" sz="1800" dirty="0"/>
              <a:t>,</a:t>
            </a:r>
            <a:r>
              <a:rPr lang="ko-KR" altLang="en-US" sz="1800" dirty="0"/>
              <a:t> 수분</a:t>
            </a:r>
            <a:r>
              <a:rPr lang="en-US" altLang="ko-KR" sz="1800" dirty="0"/>
              <a:t>,</a:t>
            </a:r>
            <a:r>
              <a:rPr lang="ko-KR" altLang="en-US" sz="1800" dirty="0"/>
              <a:t> 에너지 수지를 조절하며</a:t>
            </a:r>
            <a:r>
              <a:rPr lang="en-US" altLang="ko-KR" sz="1800" dirty="0"/>
              <a:t>,</a:t>
            </a:r>
            <a:r>
              <a:rPr lang="ko-KR" altLang="en-US" sz="1800" dirty="0"/>
              <a:t> 대기 순환 원격상관을 통해 해양 기후와 </a:t>
            </a:r>
            <a:r>
              <a:rPr lang="ko-KR" altLang="en-US" sz="1800" dirty="0" err="1"/>
              <a:t>전지구</a:t>
            </a:r>
            <a:r>
              <a:rPr lang="ko-KR" altLang="en-US" sz="1800" dirty="0"/>
              <a:t> 기후시스템에 큰 영향을 줌</a:t>
            </a:r>
            <a:endParaRPr lang="en-US" altLang="ko-KR" sz="1800" dirty="0"/>
          </a:p>
          <a:p>
            <a:pPr lvl="1"/>
            <a:r>
              <a:rPr lang="ko-KR" altLang="en-US" sz="1800" dirty="0"/>
              <a:t>급격한 기후변화에 따른 지면의 변동</a:t>
            </a:r>
            <a:r>
              <a:rPr lang="en-US" altLang="ko-KR" sz="1800" dirty="0"/>
              <a:t>,</a:t>
            </a:r>
            <a:r>
              <a:rPr lang="ko-KR" altLang="en-US" sz="1800" dirty="0"/>
              <a:t> 유출량의 변동은 연안 해양의 염분 및 성층화에 큰 영향을 미침</a:t>
            </a:r>
            <a:endParaRPr lang="en-US" altLang="ko-KR" sz="1800" dirty="0"/>
          </a:p>
          <a:p>
            <a:r>
              <a:rPr lang="ko-KR" altLang="en-US" sz="2000" dirty="0"/>
              <a:t>연구의 필요성</a:t>
            </a:r>
            <a:endParaRPr lang="en-US" altLang="ko-KR" sz="2000" dirty="0"/>
          </a:p>
          <a:p>
            <a:pPr lvl="1"/>
            <a:r>
              <a:rPr lang="ko-KR" altLang="en-US" sz="1800" dirty="0"/>
              <a:t>지면</a:t>
            </a:r>
            <a:r>
              <a:rPr lang="en-US" altLang="ko-KR" sz="1800" dirty="0"/>
              <a:t>-</a:t>
            </a:r>
            <a:r>
              <a:rPr lang="ko-KR" altLang="en-US" sz="1800" dirty="0"/>
              <a:t>식생 모델의 구조적 오차</a:t>
            </a:r>
            <a:r>
              <a:rPr lang="en-US" altLang="ko-KR" sz="1800" dirty="0"/>
              <a:t>:</a:t>
            </a:r>
            <a:r>
              <a:rPr lang="ko-KR" altLang="en-US" sz="1800" dirty="0"/>
              <a:t> 기후 모델들은 열 및 수분 </a:t>
            </a:r>
            <a:r>
              <a:rPr lang="ko-KR" altLang="en-US" sz="1800" dirty="0" err="1"/>
              <a:t>플럭스</a:t>
            </a:r>
            <a:r>
              <a:rPr lang="ko-KR" altLang="en-US" sz="1800" dirty="0"/>
              <a:t> 모의에 구조적 오차를 내포하고 있음</a:t>
            </a:r>
            <a:r>
              <a:rPr lang="en-US" altLang="ko-KR" sz="1800" dirty="0"/>
              <a:t>.</a:t>
            </a:r>
            <a:r>
              <a:rPr lang="ko-KR" altLang="en-US" sz="1800" dirty="0"/>
              <a:t> 이는 수문 순환 및 유출량 모의의 불확실성을 가중시켜 해양 모델에 그대로 전이됨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lvl="1"/>
            <a:r>
              <a:rPr lang="ko-KR" altLang="en-US" sz="1800" dirty="0"/>
              <a:t>지면 모델의 진단 체계 구축 및 다중 모델 벤치마킹의 시급성</a:t>
            </a:r>
            <a:r>
              <a:rPr lang="en-US" altLang="ko-KR" sz="1800" dirty="0"/>
              <a:t>:</a:t>
            </a:r>
            <a:r>
              <a:rPr lang="ko-KR" altLang="en-US" sz="1800" dirty="0"/>
              <a:t> 차세대 해양모델의 성능을 최적화 하기 위해서 결합 모델에 탑재된 지면 모델의 한계를 객관적으로 진단할 필요가 있음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lvl="1"/>
            <a:r>
              <a:rPr lang="ko-KR" altLang="en-US" sz="1800" dirty="0"/>
              <a:t>차세대 해양기후 모델의 지면</a:t>
            </a:r>
            <a:r>
              <a:rPr lang="en-US" altLang="ko-KR" sz="1800" dirty="0"/>
              <a:t>-</a:t>
            </a:r>
            <a:r>
              <a:rPr lang="ko-KR" altLang="en-US" sz="1800" dirty="0"/>
              <a:t>식생 물리과정 고도화</a:t>
            </a:r>
            <a:r>
              <a:rPr lang="en-US" altLang="ko-KR" sz="1800" dirty="0"/>
              <a:t>:</a:t>
            </a:r>
            <a:r>
              <a:rPr lang="ko-KR" altLang="en-US" sz="1800" dirty="0"/>
              <a:t> 이러한 진단 결과를 바탕으로 모델의 수문 물리과정</a:t>
            </a:r>
            <a:r>
              <a:rPr lang="en-US" altLang="ko-KR" sz="1800" dirty="0"/>
              <a:t>,</a:t>
            </a:r>
            <a:r>
              <a:rPr lang="ko-KR" altLang="en-US" sz="1800" dirty="0"/>
              <a:t> 역학식생모델</a:t>
            </a:r>
            <a:r>
              <a:rPr lang="en-US" altLang="ko-KR" sz="1800" dirty="0"/>
              <a:t>,</a:t>
            </a:r>
            <a:r>
              <a:rPr lang="ko-KR" altLang="en-US" sz="1800" dirty="0"/>
              <a:t> 그리고 담수 유출 모델을 업데이트 하여</a:t>
            </a:r>
            <a:r>
              <a:rPr lang="en-US" altLang="ko-KR" sz="1800" dirty="0"/>
              <a:t>,</a:t>
            </a:r>
            <a:r>
              <a:rPr lang="ko-KR" altLang="en-US" sz="1800" dirty="0"/>
              <a:t> 우리나라 주변 기후모의 성능을 최적화 할 필요가 있음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A3A6F85-9146-BF10-1E83-12709D2573D1}"/>
              </a:ext>
            </a:extLst>
          </p:cNvPr>
          <p:cNvGrpSpPr/>
          <p:nvPr/>
        </p:nvGrpSpPr>
        <p:grpSpPr>
          <a:xfrm>
            <a:off x="7910470" y="2165254"/>
            <a:ext cx="4259306" cy="3634660"/>
            <a:chOff x="7700065" y="3051433"/>
            <a:chExt cx="4259306" cy="3634660"/>
          </a:xfrm>
        </p:grpSpPr>
        <p:sp>
          <p:nvSpPr>
            <p:cNvPr id="5" name="화살표: 왼쪽으로 구부러짐 7">
              <a:extLst>
                <a:ext uri="{FF2B5EF4-FFF2-40B4-BE49-F238E27FC236}">
                  <a16:creationId xmlns:a16="http://schemas.microsoft.com/office/drawing/2014/main" id="{6780A28A-D127-C1CD-C07A-313E3BE8385F}"/>
                </a:ext>
              </a:extLst>
            </p:cNvPr>
            <p:cNvSpPr/>
            <p:nvPr/>
          </p:nvSpPr>
          <p:spPr>
            <a:xfrm flipH="1" flipV="1">
              <a:off x="7700065" y="3144465"/>
              <a:ext cx="1248669" cy="3315612"/>
            </a:xfrm>
            <a:prstGeom prst="curvedLeftArrow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화살표: 왼쪽으로 구부러짐 8">
              <a:extLst>
                <a:ext uri="{FF2B5EF4-FFF2-40B4-BE49-F238E27FC236}">
                  <a16:creationId xmlns:a16="http://schemas.microsoft.com/office/drawing/2014/main" id="{CE1B7620-5D03-73F9-E746-93AB6B0FD673}"/>
                </a:ext>
              </a:extLst>
            </p:cNvPr>
            <p:cNvSpPr/>
            <p:nvPr/>
          </p:nvSpPr>
          <p:spPr>
            <a:xfrm>
              <a:off x="10406636" y="3216814"/>
              <a:ext cx="1071707" cy="3243263"/>
            </a:xfrm>
            <a:prstGeom prst="curvedLeftArrow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화살표: 위쪽/아래쪽 9">
              <a:extLst>
                <a:ext uri="{FF2B5EF4-FFF2-40B4-BE49-F238E27FC236}">
                  <a16:creationId xmlns:a16="http://schemas.microsoft.com/office/drawing/2014/main" id="{5E257260-C451-0B87-ADF7-6668FE6CCD50}"/>
                </a:ext>
              </a:extLst>
            </p:cNvPr>
            <p:cNvSpPr/>
            <p:nvPr/>
          </p:nvSpPr>
          <p:spPr>
            <a:xfrm>
              <a:off x="9294982" y="3662588"/>
              <a:ext cx="692488" cy="2288679"/>
            </a:xfrm>
            <a:prstGeom prst="upDownArrow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사각형: 둥근 모서리 10">
              <a:extLst>
                <a:ext uri="{FF2B5EF4-FFF2-40B4-BE49-F238E27FC236}">
                  <a16:creationId xmlns:a16="http://schemas.microsoft.com/office/drawing/2014/main" id="{F7D120C8-EDCC-B782-61F6-9F289AEB3015}"/>
                </a:ext>
              </a:extLst>
            </p:cNvPr>
            <p:cNvSpPr/>
            <p:nvPr/>
          </p:nvSpPr>
          <p:spPr>
            <a:xfrm>
              <a:off x="8541173" y="4454682"/>
              <a:ext cx="2130869" cy="611155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지면</a:t>
              </a:r>
              <a:r>
                <a:rPr lang="en-US" altLang="ko-KR" sz="16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</a:t>
              </a:r>
              <a:r>
                <a:rPr lang="ko-KR" altLang="en-US" sz="16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식생 기후변화</a:t>
              </a:r>
            </a:p>
          </p:txBody>
        </p:sp>
        <p:sp>
          <p:nvSpPr>
            <p:cNvPr id="9" name="사각형: 둥근 모서리 11">
              <a:extLst>
                <a:ext uri="{FF2B5EF4-FFF2-40B4-BE49-F238E27FC236}">
                  <a16:creationId xmlns:a16="http://schemas.microsoft.com/office/drawing/2014/main" id="{FF500173-DB7F-4030-51DA-77DACF78B508}"/>
                </a:ext>
              </a:extLst>
            </p:cNvPr>
            <p:cNvSpPr/>
            <p:nvPr/>
          </p:nvSpPr>
          <p:spPr>
            <a:xfrm>
              <a:off x="8900160" y="6074938"/>
              <a:ext cx="1506476" cy="61115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해양기후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68FFBC-6225-7814-8E3F-88460AC979BE}"/>
                </a:ext>
              </a:extLst>
            </p:cNvPr>
            <p:cNvSpPr txBox="1"/>
            <p:nvPr/>
          </p:nvSpPr>
          <p:spPr>
            <a:xfrm>
              <a:off x="9189610" y="5093024"/>
              <a:ext cx="107170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담수유출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연안 염분 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및 성층화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r>
                <a:rPr lang="en-US" altLang="ko-KR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endParaRPr lang="ko-KR" altLang="en-US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사각형: 둥근 모서리 14">
              <a:extLst>
                <a:ext uri="{FF2B5EF4-FFF2-40B4-BE49-F238E27FC236}">
                  <a16:creationId xmlns:a16="http://schemas.microsoft.com/office/drawing/2014/main" id="{7798FF60-9F9D-E2DB-E6FD-FE0EE6C5EE01}"/>
                </a:ext>
              </a:extLst>
            </p:cNvPr>
            <p:cNvSpPr/>
            <p:nvPr/>
          </p:nvSpPr>
          <p:spPr>
            <a:xfrm>
              <a:off x="8900160" y="3051433"/>
              <a:ext cx="1506476" cy="611155"/>
            </a:xfrm>
            <a:prstGeom prst="round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대기순환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E6FE6D-9AC8-6548-8CFC-428991364655}"/>
                </a:ext>
              </a:extLst>
            </p:cNvPr>
            <p:cNvSpPr txBox="1"/>
            <p:nvPr/>
          </p:nvSpPr>
          <p:spPr>
            <a:xfrm>
              <a:off x="10817361" y="4315179"/>
              <a:ext cx="114201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대기원격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상관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대륙성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r>
                <a:rPr lang="ko-KR" altLang="en-US" sz="1400" b="1" i="1" dirty="0">
                  <a:solidFill>
                    <a:schemeClr val="bg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이상기후</a:t>
              </a:r>
              <a:endPara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1C6E9A5-B229-8788-C33B-B1D7FA17D011}"/>
              </a:ext>
            </a:extLst>
          </p:cNvPr>
          <p:cNvSpPr txBox="1"/>
          <p:nvPr/>
        </p:nvSpPr>
        <p:spPr>
          <a:xfrm>
            <a:off x="8822656" y="3045002"/>
            <a:ext cx="213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열</a:t>
            </a:r>
            <a:r>
              <a: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수분</a:t>
            </a:r>
            <a:r>
              <a:rPr lang="en-US" altLang="ko-KR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에너지 수지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231A5D-C838-F810-16C2-26AEC39BBE11}"/>
              </a:ext>
            </a:extLst>
          </p:cNvPr>
          <p:cNvSpPr txBox="1"/>
          <p:nvPr/>
        </p:nvSpPr>
        <p:spPr>
          <a:xfrm>
            <a:off x="7430158" y="3691121"/>
            <a:ext cx="1239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해수면 온도</a:t>
            </a:r>
            <a:endParaRPr lang="en-US" altLang="ko-KR" sz="1400" b="1" i="1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ko-KR" altLang="en-US" sz="1400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수분 공급</a:t>
            </a:r>
            <a:endParaRPr lang="en-US" altLang="ko-KR" sz="1400" b="1" i="1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66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48A12-A6AF-AB08-DEC2-B32FFCD9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ko-KR" sz="3200" dirty="0"/>
              <a:t>1</a:t>
            </a:r>
            <a:r>
              <a:rPr lang="ko-KR" altLang="en-US" sz="3200" dirty="0"/>
              <a:t>단계 </a:t>
            </a:r>
            <a:r>
              <a:rPr lang="en-US" altLang="ko-KR" sz="3200" dirty="0"/>
              <a:t>(2026-2028): </a:t>
            </a:r>
            <a:r>
              <a:rPr lang="ko-KR" altLang="en-US" sz="3200" dirty="0"/>
              <a:t>차세대 해양기후모델 지면</a:t>
            </a:r>
            <a:r>
              <a:rPr lang="en-US" altLang="ko-KR" sz="3200" dirty="0"/>
              <a:t>-</a:t>
            </a:r>
            <a:r>
              <a:rPr lang="ko-KR" altLang="en-US" sz="3200" dirty="0"/>
              <a:t>식생 모델 성능진단 체계 구축 및 개선점 도출</a:t>
            </a:r>
            <a:endParaRPr lang="en-US" altLang="ko-KR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4CAF16-4F24-8CCE-A5A0-4E8D7A8BF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29" y="1618968"/>
            <a:ext cx="6870472" cy="5059737"/>
          </a:xfrm>
        </p:spPr>
        <p:txBody>
          <a:bodyPr>
            <a:normAutofit/>
          </a:bodyPr>
          <a:lstStyle/>
          <a:p>
            <a:pPr marL="0" lvl="0" indent="0" latinLnBrk="0">
              <a:buNone/>
            </a:pPr>
            <a:r>
              <a:rPr lang="en-US" altLang="ko-KR" sz="1600" dirty="0"/>
              <a:t>1</a:t>
            </a:r>
            <a:r>
              <a:rPr lang="ko-KR" altLang="en-US" sz="1600" dirty="0"/>
              <a:t>차년도</a:t>
            </a:r>
            <a:r>
              <a:rPr lang="en-US" altLang="ko-KR" sz="1600" dirty="0"/>
              <a:t>(2026)</a:t>
            </a:r>
          </a:p>
          <a:p>
            <a:pPr latinLnBrk="0"/>
            <a:r>
              <a:rPr lang="ko-KR" altLang="en-US" sz="1600" dirty="0"/>
              <a:t> 차세대 해양기후예측시스템 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식생모델 오프라인 테스트베드 구축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LM4+, Noah MP, JULES, CLM</a:t>
            </a:r>
            <a:r>
              <a:rPr lang="ko-KR" altLang="en-US" sz="1600" dirty="0"/>
              <a:t> 포함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offline </a:t>
            </a:r>
            <a:r>
              <a:rPr lang="ko-KR" altLang="en-US" sz="1600" dirty="0"/>
              <a:t>지면모델 시스템 구축</a:t>
            </a:r>
            <a:r>
              <a:rPr lang="en-US" altLang="ko-KR" sz="1600" dirty="0"/>
              <a:t>.</a:t>
            </a:r>
          </a:p>
          <a:p>
            <a:pPr latinLnBrk="0"/>
            <a:r>
              <a:rPr lang="ko-KR" altLang="en-US" sz="1600" dirty="0"/>
              <a:t>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식생모델 기본성능 진단 및 해양영향 진단체계 구축</a:t>
            </a:r>
            <a:r>
              <a:rPr lang="en-US" altLang="ko-KR" sz="1600" dirty="0"/>
              <a:t>:</a:t>
            </a:r>
            <a:r>
              <a:rPr lang="ko-KR" altLang="en-US" sz="1600" dirty="0"/>
              <a:t> 성능평가를 위한 관측</a:t>
            </a:r>
            <a:r>
              <a:rPr lang="en-US" altLang="ko-KR" sz="1600" dirty="0"/>
              <a:t>/</a:t>
            </a:r>
            <a:r>
              <a:rPr lang="ko-KR" altLang="en-US" sz="1600" dirty="0"/>
              <a:t>재분석 자료</a:t>
            </a:r>
            <a:r>
              <a:rPr lang="en-US" altLang="ko-KR" sz="1600" dirty="0"/>
              <a:t>DB</a:t>
            </a:r>
            <a:r>
              <a:rPr lang="ko-KR" altLang="en-US" sz="1600" dirty="0"/>
              <a:t> 구축</a:t>
            </a:r>
            <a:r>
              <a:rPr lang="en-US" altLang="ko-KR" sz="1600" dirty="0"/>
              <a:t>,</a:t>
            </a:r>
            <a:r>
              <a:rPr lang="ko-KR" altLang="en-US" sz="1600" dirty="0"/>
              <a:t> 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</a:t>
            </a:r>
            <a:r>
              <a:rPr lang="en-US" altLang="ko-KR" sz="1600" dirty="0"/>
              <a:t>-</a:t>
            </a:r>
            <a:r>
              <a:rPr lang="ko-KR" altLang="en-US" sz="1600" dirty="0"/>
              <a:t>대기 변화</a:t>
            </a:r>
            <a:r>
              <a:rPr lang="en-US" altLang="ko-KR" sz="1600" dirty="0"/>
              <a:t>,</a:t>
            </a:r>
            <a:r>
              <a:rPr lang="ko-KR" altLang="en-US" sz="1600" dirty="0"/>
              <a:t> 상호작용에 의한 해양영향 기초진단 도구 개발</a:t>
            </a:r>
          </a:p>
          <a:p>
            <a:pPr marL="0" lvl="0" indent="0" latinLnBrk="0">
              <a:buNone/>
            </a:pPr>
            <a:br>
              <a:rPr lang="en-US" altLang="ko-KR" sz="1600" dirty="0"/>
            </a:br>
            <a:r>
              <a:rPr lang="en-US" altLang="ko-KR" sz="1600" dirty="0"/>
              <a:t>2</a:t>
            </a:r>
            <a:r>
              <a:rPr lang="ko-KR" altLang="en-US" sz="1600" dirty="0"/>
              <a:t>차년도</a:t>
            </a:r>
            <a:r>
              <a:rPr lang="en-US" altLang="ko-KR" sz="1600" dirty="0"/>
              <a:t>(2027)</a:t>
            </a:r>
          </a:p>
          <a:p>
            <a:pPr lvl="0" latinLnBrk="0"/>
            <a:r>
              <a:rPr lang="ko-KR" altLang="en-US" sz="1600" dirty="0"/>
              <a:t>차세대 해양기후예측시스템 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식생모델 기후변화 민감도 실험</a:t>
            </a:r>
            <a:r>
              <a:rPr lang="en-US" altLang="ko-KR" sz="1600" dirty="0"/>
              <a:t>:</a:t>
            </a:r>
            <a:r>
              <a:rPr lang="ko-KR" altLang="en-US" sz="1600" dirty="0"/>
              <a:t> 차세대 해양기후예측 시스템의 장기 민감도 실험에서의 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 변화 평가</a:t>
            </a:r>
            <a:r>
              <a:rPr lang="en-US" altLang="ko-KR" sz="1600" dirty="0"/>
              <a:t>,</a:t>
            </a:r>
            <a:r>
              <a:rPr lang="ko-KR" altLang="en-US" sz="1600" dirty="0"/>
              <a:t> 구조적 오차 평가 및 개선사항 도출</a:t>
            </a:r>
            <a:endParaRPr lang="en-US" altLang="ko-KR" sz="1600" dirty="0"/>
          </a:p>
          <a:p>
            <a:pPr lvl="0" latinLnBrk="0"/>
            <a:r>
              <a:rPr lang="ko-KR" altLang="en-US" sz="1600" dirty="0"/>
              <a:t>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</a:t>
            </a:r>
            <a:r>
              <a:rPr lang="en-US" altLang="ko-KR" sz="1600" dirty="0"/>
              <a:t>-</a:t>
            </a:r>
            <a:r>
              <a:rPr lang="ko-KR" altLang="en-US" sz="1600" dirty="0"/>
              <a:t>대기 상호작용 및 해양영향 진단</a:t>
            </a:r>
            <a:r>
              <a:rPr lang="en-US" altLang="ko-KR" sz="1600" dirty="0"/>
              <a:t>:</a:t>
            </a:r>
            <a:r>
              <a:rPr lang="ko-KR" altLang="en-US" sz="1600" dirty="0"/>
              <a:t> 기후변화에 따른 해양영향</a:t>
            </a:r>
            <a:r>
              <a:rPr lang="en-US" altLang="ko-KR" sz="1600" dirty="0"/>
              <a:t>(</a:t>
            </a:r>
            <a:r>
              <a:rPr lang="ko-KR" altLang="en-US" sz="1600" dirty="0"/>
              <a:t>유출량</a:t>
            </a:r>
            <a:r>
              <a:rPr lang="en-US" altLang="ko-KR" sz="1600" dirty="0"/>
              <a:t>,</a:t>
            </a:r>
            <a:r>
              <a:rPr lang="ko-KR" altLang="en-US" sz="1600" dirty="0"/>
              <a:t> 원격 상관</a:t>
            </a:r>
            <a:r>
              <a:rPr lang="en-US" altLang="ko-KR" sz="1600" dirty="0"/>
              <a:t>)</a:t>
            </a:r>
            <a:r>
              <a:rPr lang="ko-KR" altLang="en-US" sz="1600" dirty="0"/>
              <a:t> 진단</a:t>
            </a:r>
          </a:p>
          <a:p>
            <a:pPr marL="0" lvl="0" indent="0" latinLnBrk="0">
              <a:buNone/>
            </a:pPr>
            <a:br>
              <a:rPr lang="en-US" altLang="ko-KR" sz="1600" dirty="0"/>
            </a:br>
            <a:r>
              <a:rPr lang="en-US" altLang="ko-KR" sz="1600" dirty="0"/>
              <a:t>3</a:t>
            </a:r>
            <a:r>
              <a:rPr lang="ko-KR" altLang="en-US" sz="1600" dirty="0"/>
              <a:t>차년도</a:t>
            </a:r>
            <a:r>
              <a:rPr lang="en-US" altLang="ko-KR" sz="1600" dirty="0"/>
              <a:t>(2028)</a:t>
            </a:r>
          </a:p>
          <a:p>
            <a:pPr lvl="0" latinLnBrk="0"/>
            <a:r>
              <a:rPr lang="ko-KR" altLang="en-US" sz="1600" dirty="0"/>
              <a:t>차세대 해양기후모델 </a:t>
            </a:r>
            <a:r>
              <a:rPr lang="en" altLang="ko-KR" sz="1600" dirty="0"/>
              <a:t>CMIP7 </a:t>
            </a:r>
            <a:r>
              <a:rPr lang="ko-KR" altLang="en-US" sz="1600" dirty="0"/>
              <a:t>시나리오의 지면</a:t>
            </a:r>
            <a:r>
              <a:rPr lang="en-US" altLang="ko-KR" sz="1600" dirty="0"/>
              <a:t>-</a:t>
            </a:r>
            <a:r>
              <a:rPr lang="ko-KR" altLang="en-US" sz="1600" dirty="0"/>
              <a:t>식생</a:t>
            </a:r>
            <a:r>
              <a:rPr lang="en-US" altLang="ko-KR" sz="1600" dirty="0"/>
              <a:t>-</a:t>
            </a:r>
            <a:r>
              <a:rPr lang="ko-KR" altLang="en-US" sz="1600" dirty="0"/>
              <a:t>대기 상호작용 진단 및 개선점 도출</a:t>
            </a:r>
            <a:endParaRPr lang="ko-KR" altLang="ko-KR" sz="1600" dirty="0"/>
          </a:p>
        </p:txBody>
      </p:sp>
      <p:pic>
        <p:nvPicPr>
          <p:cNvPr id="14" name="그림 13" descr="라인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C7CE20-AA4D-F64D-1D7D-138EFBD39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672" y="1618968"/>
            <a:ext cx="3960177" cy="24689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B5A3CF-EC4A-E8DD-6095-9DBAE94E1BFC}"/>
              </a:ext>
            </a:extLst>
          </p:cNvPr>
          <p:cNvSpPr txBox="1"/>
          <p:nvPr/>
        </p:nvSpPr>
        <p:spPr>
          <a:xfrm>
            <a:off x="7960660" y="4087906"/>
            <a:ext cx="38279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50" dirty="0">
                <a:solidFill>
                  <a:srgbClr val="0000FF"/>
                </a:solidFill>
              </a:rPr>
              <a:t>다양한 지면모델이 모의하는 동아시아 내륙의 토양수분 변화 </a:t>
            </a:r>
          </a:p>
        </p:txBody>
      </p:sp>
      <p:pic>
        <p:nvPicPr>
          <p:cNvPr id="17" name="그림 16" descr="텍스트, 스크린샷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2D5A6D-81DD-3F39-0C63-B4B4B44F6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154" y="4413098"/>
            <a:ext cx="3827930" cy="18573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298BE1-B0F8-237F-FFDD-DAA3E9C8E4E0}"/>
              </a:ext>
            </a:extLst>
          </p:cNvPr>
          <p:cNvSpPr txBox="1"/>
          <p:nvPr/>
        </p:nvSpPr>
        <p:spPr>
          <a:xfrm>
            <a:off x="7960659" y="6302928"/>
            <a:ext cx="38279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050" dirty="0">
                <a:solidFill>
                  <a:srgbClr val="0000FF"/>
                </a:solidFill>
              </a:rPr>
              <a:t>온난화에 따른 지면</a:t>
            </a:r>
            <a:r>
              <a:rPr kumimoji="1" lang="en-US" altLang="ko-KR" sz="1050" dirty="0">
                <a:solidFill>
                  <a:srgbClr val="0000FF"/>
                </a:solidFill>
              </a:rPr>
              <a:t>-</a:t>
            </a:r>
            <a:r>
              <a:rPr kumimoji="1" lang="ko-KR" altLang="en-US" sz="1050" dirty="0">
                <a:solidFill>
                  <a:srgbClr val="0000FF"/>
                </a:solidFill>
              </a:rPr>
              <a:t>대기 결합강도 변화</a:t>
            </a:r>
          </a:p>
        </p:txBody>
      </p:sp>
    </p:spTree>
    <p:extLst>
      <p:ext uri="{BB962C8B-B14F-4D97-AF65-F5344CB8AC3E}">
        <p14:creationId xmlns:p14="http://schemas.microsoft.com/office/powerpoint/2010/main" val="10749052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3BF3A-8537-47CC-7FC0-7F6538CD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2</a:t>
            </a:r>
            <a:r>
              <a:rPr kumimoji="1" lang="ko-KR" altLang="en-US" sz="3200" dirty="0"/>
              <a:t>단계</a:t>
            </a:r>
            <a:r>
              <a:rPr kumimoji="1" lang="en-US" altLang="ko-KR" sz="3200" dirty="0"/>
              <a:t>(2029-2030):</a:t>
            </a:r>
            <a:r>
              <a:rPr kumimoji="1" lang="ko-KR" altLang="en-US" sz="3200" dirty="0"/>
              <a:t> 지면</a:t>
            </a:r>
            <a:r>
              <a:rPr kumimoji="1" lang="en-US" altLang="ko-KR" sz="3200" dirty="0"/>
              <a:t>-</a:t>
            </a:r>
            <a:r>
              <a:rPr kumimoji="1" lang="ko-KR" altLang="en-US" sz="3200" dirty="0"/>
              <a:t>식생 물리과정 고도화 및 미래 해양기후 영향 예측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7C7D82-19E4-F218-3834-1BD33E5F0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5" y="1787917"/>
            <a:ext cx="5992906" cy="4781363"/>
          </a:xfrm>
        </p:spPr>
        <p:txBody>
          <a:bodyPr>
            <a:normAutofit/>
          </a:bodyPr>
          <a:lstStyle/>
          <a:p>
            <a:pPr marL="0" indent="0" latinLnBrk="0">
              <a:lnSpc>
                <a:spcPct val="100000"/>
              </a:lnSpc>
              <a:buNone/>
            </a:pPr>
            <a:r>
              <a:rPr kumimoji="1" lang="en-US" altLang="ko-KR" sz="2000" dirty="0"/>
              <a:t>4</a:t>
            </a:r>
            <a:r>
              <a:rPr kumimoji="1" lang="ko-KR" altLang="en-US" sz="2000" dirty="0"/>
              <a:t>차년도</a:t>
            </a:r>
            <a:r>
              <a:rPr kumimoji="1" lang="en-US" altLang="ko-KR" sz="2000" dirty="0"/>
              <a:t>(2029)</a:t>
            </a:r>
          </a:p>
          <a:p>
            <a:pPr latinLnBrk="0">
              <a:lnSpc>
                <a:spcPct val="100000"/>
              </a:lnSpc>
            </a:pPr>
            <a:r>
              <a:rPr lang="ko-KR" altLang="en-US" sz="1800" dirty="0"/>
              <a:t>차세대 해양기후모델 토양 및 수문 물리과정 업데이트</a:t>
            </a:r>
            <a:endParaRPr lang="en-US" altLang="ko-KR" sz="1800" dirty="0"/>
          </a:p>
          <a:p>
            <a:pPr latinLnBrk="0">
              <a:lnSpc>
                <a:spcPct val="100000"/>
              </a:lnSpc>
            </a:pPr>
            <a:r>
              <a:rPr lang="ko-KR" altLang="en-US" sz="1800" dirty="0"/>
              <a:t>담수 유출모델 업데이트</a:t>
            </a:r>
            <a:endParaRPr lang="en-US" altLang="ko-KR" sz="1800" dirty="0"/>
          </a:p>
          <a:p>
            <a:pPr latinLnBrk="0">
              <a:lnSpc>
                <a:spcPct val="100000"/>
              </a:lnSpc>
            </a:pPr>
            <a:r>
              <a:rPr lang="ko-KR" altLang="en-US" sz="1800" dirty="0"/>
              <a:t>물리과정 </a:t>
            </a:r>
            <a:r>
              <a:rPr lang="en-US" altLang="ko-KR" sz="1800" dirty="0"/>
              <a:t>AI </a:t>
            </a:r>
            <a:r>
              <a:rPr lang="ko-KR" altLang="en-US" sz="1800" dirty="0"/>
              <a:t>에뮬레이터 적용 시도</a:t>
            </a:r>
          </a:p>
          <a:p>
            <a:pPr marL="0" indent="0" latinLnBrk="0">
              <a:lnSpc>
                <a:spcPct val="100000"/>
              </a:lnSpc>
              <a:buNone/>
            </a:pPr>
            <a:endParaRPr kumimoji="1" lang="en-US" altLang="ko-KR" sz="2000" dirty="0"/>
          </a:p>
          <a:p>
            <a:pPr marL="0" indent="0" latinLnBrk="0">
              <a:lnSpc>
                <a:spcPct val="100000"/>
              </a:lnSpc>
              <a:buNone/>
            </a:pPr>
            <a:r>
              <a:rPr kumimoji="1" lang="en-US" altLang="ko-KR" sz="2000" dirty="0"/>
              <a:t>5</a:t>
            </a:r>
            <a:r>
              <a:rPr kumimoji="1" lang="ko-KR" altLang="en-US" sz="2000" dirty="0"/>
              <a:t>차년도</a:t>
            </a:r>
            <a:r>
              <a:rPr kumimoji="1" lang="en-US" altLang="ko-KR" sz="2000" dirty="0"/>
              <a:t>(2030)</a:t>
            </a:r>
          </a:p>
          <a:p>
            <a:pPr latinLnBrk="0">
              <a:lnSpc>
                <a:spcPct val="100000"/>
              </a:lnSpc>
            </a:pPr>
            <a:r>
              <a:rPr lang="ko-KR" altLang="en-US" sz="1800" dirty="0"/>
              <a:t>역학식생 모델 업데이트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en-US" altLang="ko-KR" sz="1800" dirty="0"/>
              <a:t>AI </a:t>
            </a:r>
            <a:r>
              <a:rPr lang="ko-KR" altLang="en-US" sz="1800" dirty="0"/>
              <a:t>에뮬레이터 적용시도</a:t>
            </a:r>
            <a:endParaRPr lang="en-US" altLang="ko-KR" sz="1800" dirty="0"/>
          </a:p>
          <a:p>
            <a:pPr latinLnBrk="0">
              <a:lnSpc>
                <a:spcPct val="100000"/>
              </a:lnSpc>
            </a:pPr>
            <a:r>
              <a:rPr lang="ko-KR" altLang="en-US" sz="1800" dirty="0"/>
              <a:t>미래 시나리오 기반 지면</a:t>
            </a:r>
            <a:r>
              <a:rPr lang="en-US" altLang="ko-KR" sz="1800" dirty="0"/>
              <a:t>-</a:t>
            </a:r>
            <a:r>
              <a:rPr lang="ko-KR" altLang="en-US" sz="1800" dirty="0"/>
              <a:t>해양 상호작용 전망</a:t>
            </a:r>
            <a:r>
              <a:rPr lang="en-US" altLang="ko-KR" sz="1800" dirty="0"/>
              <a:t>:</a:t>
            </a:r>
            <a:r>
              <a:rPr lang="ko-KR" altLang="en-US" sz="1800" dirty="0"/>
              <a:t> 미래 담수 유출 변화가 동아시아 연안 해양기후에 미치는 영향 평가 </a:t>
            </a:r>
            <a:endParaRPr lang="en-US" altLang="ko-KR" sz="1800" dirty="0"/>
          </a:p>
          <a:p>
            <a:pPr latinLnBrk="0">
              <a:lnSpc>
                <a:spcPct val="100000"/>
              </a:lnSpc>
            </a:pPr>
            <a:r>
              <a:rPr lang="ko-KR" altLang="en-US" sz="1800" dirty="0"/>
              <a:t>극한 기후 예측 성능 평가</a:t>
            </a:r>
            <a:r>
              <a:rPr lang="en-US" altLang="ko-KR" sz="1800" dirty="0"/>
              <a:t>:</a:t>
            </a:r>
            <a:r>
              <a:rPr lang="ko-KR" altLang="en-US" sz="1800" dirty="0"/>
              <a:t> 차세대 예측시스템의 지면기원 극한기후</a:t>
            </a:r>
            <a:r>
              <a:rPr lang="en-US" altLang="ko-KR" sz="1800" dirty="0"/>
              <a:t>(</a:t>
            </a:r>
            <a:r>
              <a:rPr lang="ko-KR" altLang="en-US" sz="1800" dirty="0"/>
              <a:t>폭염</a:t>
            </a:r>
            <a:r>
              <a:rPr lang="en-US" altLang="ko-KR" sz="1800" dirty="0"/>
              <a:t>-</a:t>
            </a:r>
            <a:r>
              <a:rPr lang="ko-KR" altLang="en-US" sz="1800" dirty="0"/>
              <a:t>가뭄</a:t>
            </a:r>
            <a:r>
              <a:rPr lang="en-US" altLang="ko-KR" sz="1800" dirty="0"/>
              <a:t>)</a:t>
            </a:r>
            <a:r>
              <a:rPr lang="ko-KR" altLang="en-US" sz="1800" dirty="0"/>
              <a:t> 예측성능 평가</a:t>
            </a:r>
            <a:endParaRPr kumimoji="1"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20F87-430D-3EA0-922F-92DF2B649B32}"/>
              </a:ext>
            </a:extLst>
          </p:cNvPr>
          <p:cNvSpPr txBox="1"/>
          <p:nvPr/>
        </p:nvSpPr>
        <p:spPr>
          <a:xfrm>
            <a:off x="7196668" y="3830696"/>
            <a:ext cx="45350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050" dirty="0">
                <a:solidFill>
                  <a:srgbClr val="0000FF"/>
                </a:solidFill>
              </a:rPr>
              <a:t>타모델에서 지면모델 업데이트에 따른 기온모의 차이</a:t>
            </a:r>
            <a:r>
              <a:rPr kumimoji="1" lang="en-US" altLang="ko-KR" sz="1050" dirty="0">
                <a:solidFill>
                  <a:srgbClr val="0000FF"/>
                </a:solidFill>
              </a:rPr>
              <a:t>,</a:t>
            </a:r>
            <a:r>
              <a:rPr kumimoji="1" lang="ko-KR" altLang="en-US" sz="1050" dirty="0">
                <a:solidFill>
                  <a:srgbClr val="0000FF"/>
                </a:solidFill>
              </a:rPr>
              <a:t> 아래는 관측자료에 대비한 고정오차</a:t>
            </a:r>
          </a:p>
        </p:txBody>
      </p:sp>
      <p:pic>
        <p:nvPicPr>
          <p:cNvPr id="7" name="그림 6" descr="텍스트, 폰트, 도표, 스크린샷이(가) 표시된 사진&#10;&#10;자동 생성된 설명">
            <a:extLst>
              <a:ext uri="{FF2B5EF4-FFF2-40B4-BE49-F238E27FC236}">
                <a16:creationId xmlns:a16="http://schemas.microsoft.com/office/drawing/2014/main" id="{F60AD878-B7BB-EEDA-EF8B-C1C784D1E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2" t="11589"/>
          <a:stretch>
            <a:fillRect/>
          </a:stretch>
        </p:blipFill>
        <p:spPr>
          <a:xfrm>
            <a:off x="6878894" y="1199815"/>
            <a:ext cx="4900602" cy="26308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7A2D3CA-574C-957B-74F2-08F5DEC84585}"/>
              </a:ext>
            </a:extLst>
          </p:cNvPr>
          <p:cNvSpPr/>
          <p:nvPr/>
        </p:nvSpPr>
        <p:spPr>
          <a:xfrm>
            <a:off x="6093293" y="3173062"/>
            <a:ext cx="1103376" cy="10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FB9D03-127E-A0F3-B7D7-5D449EC415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7042222" y="4476264"/>
            <a:ext cx="4573949" cy="17338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0BDAD2-FABD-8F7F-B911-579C2579587C}"/>
              </a:ext>
            </a:extLst>
          </p:cNvPr>
          <p:cNvSpPr txBox="1"/>
          <p:nvPr/>
        </p:nvSpPr>
        <p:spPr>
          <a:xfrm>
            <a:off x="7415231" y="6313183"/>
            <a:ext cx="38279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50" dirty="0">
                <a:solidFill>
                  <a:srgbClr val="0000FF"/>
                </a:solidFill>
              </a:rPr>
              <a:t>2009,</a:t>
            </a:r>
            <a:r>
              <a:rPr kumimoji="1" lang="ko-KR" altLang="en-US" sz="1050" dirty="0">
                <a:solidFill>
                  <a:srgbClr val="0000FF"/>
                </a:solidFill>
              </a:rPr>
              <a:t> </a:t>
            </a:r>
            <a:r>
              <a:rPr kumimoji="1" lang="en-US" altLang="ko-KR" sz="1050" dirty="0">
                <a:solidFill>
                  <a:srgbClr val="0000FF"/>
                </a:solidFill>
              </a:rPr>
              <a:t>2011</a:t>
            </a:r>
            <a:r>
              <a:rPr kumimoji="1" lang="ko-KR" altLang="en-US" sz="1050" dirty="0">
                <a:solidFill>
                  <a:srgbClr val="0000FF"/>
                </a:solidFill>
              </a:rPr>
              <a:t>년 </a:t>
            </a:r>
            <a:r>
              <a:rPr kumimoji="1" lang="ko-KR" altLang="en-US" sz="1050" dirty="0" err="1">
                <a:solidFill>
                  <a:srgbClr val="0000FF"/>
                </a:solidFill>
              </a:rPr>
              <a:t>주요지역에서나타난</a:t>
            </a:r>
            <a:r>
              <a:rPr kumimoji="1" lang="ko-KR" altLang="en-US" sz="1050" dirty="0">
                <a:solidFill>
                  <a:srgbClr val="0000FF"/>
                </a:solidFill>
              </a:rPr>
              <a:t> 가뭄현상</a:t>
            </a:r>
            <a:r>
              <a:rPr kumimoji="1" lang="en-US" altLang="ko-KR" sz="1050" dirty="0">
                <a:solidFill>
                  <a:srgbClr val="0000FF"/>
                </a:solidFill>
              </a:rPr>
              <a:t>(</a:t>
            </a:r>
            <a:r>
              <a:rPr kumimoji="1" lang="ko-KR" altLang="en-US" sz="1050" dirty="0">
                <a:solidFill>
                  <a:srgbClr val="0000FF"/>
                </a:solidFill>
              </a:rPr>
              <a:t>토양수분 어노말리</a:t>
            </a:r>
            <a:r>
              <a:rPr kumimoji="1" lang="en-US" altLang="ko-KR" sz="1050" dirty="0">
                <a:solidFill>
                  <a:srgbClr val="0000FF"/>
                </a:solidFill>
              </a:rPr>
              <a:t>,</a:t>
            </a:r>
            <a:r>
              <a:rPr kumimoji="1" lang="ko-KR" altLang="en-US" sz="1050" dirty="0">
                <a:solidFill>
                  <a:srgbClr val="0000FF"/>
                </a:solidFill>
              </a:rPr>
              <a:t> </a:t>
            </a:r>
            <a:r>
              <a:rPr kumimoji="1" lang="en-US" altLang="ko-KR" sz="1050" dirty="0">
                <a:solidFill>
                  <a:srgbClr val="0000FF"/>
                </a:solidFill>
              </a:rPr>
              <a:t>upper panels).</a:t>
            </a:r>
            <a:r>
              <a:rPr kumimoji="1" lang="ko-KR" altLang="en-US" sz="1050" dirty="0">
                <a:solidFill>
                  <a:srgbClr val="0000FF"/>
                </a:solidFill>
              </a:rPr>
              <a:t> </a:t>
            </a:r>
            <a:r>
              <a:rPr kumimoji="1" lang="ko-KR" altLang="en-US" sz="1050" dirty="0" err="1">
                <a:solidFill>
                  <a:srgbClr val="0000FF"/>
                </a:solidFill>
              </a:rPr>
              <a:t>타모델</a:t>
            </a:r>
            <a:r>
              <a:rPr kumimoji="1" lang="en-US" altLang="ko-KR" sz="1050" dirty="0">
                <a:solidFill>
                  <a:srgbClr val="0000FF"/>
                </a:solidFill>
              </a:rPr>
              <a:t>(J-CFS, J-MM)</a:t>
            </a:r>
            <a:r>
              <a:rPr kumimoji="1" lang="ko-KR" altLang="en-US" sz="1050" dirty="0">
                <a:solidFill>
                  <a:srgbClr val="0000FF"/>
                </a:solidFill>
              </a:rPr>
              <a:t>의</a:t>
            </a:r>
            <a:r>
              <a:rPr kumimoji="1" lang="en-US" altLang="ko-KR" sz="1050" dirty="0">
                <a:solidFill>
                  <a:srgbClr val="0000FF"/>
                </a:solidFill>
              </a:rPr>
              <a:t> 3</a:t>
            </a:r>
            <a:r>
              <a:rPr kumimoji="1" lang="ko-KR" altLang="en-US" sz="1050" dirty="0">
                <a:solidFill>
                  <a:srgbClr val="0000FF"/>
                </a:solidFill>
              </a:rPr>
              <a:t>개월 예측성능</a:t>
            </a:r>
          </a:p>
        </p:txBody>
      </p:sp>
    </p:spTree>
    <p:extLst>
      <p:ext uri="{BB962C8B-B14F-4D97-AF65-F5344CB8AC3E}">
        <p14:creationId xmlns:p14="http://schemas.microsoft.com/office/powerpoint/2010/main" val="30855567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629</Words>
  <Application>Microsoft Macintosh PowerPoint</Application>
  <PresentationFormat>와이드스크린</PresentationFormat>
  <Paragraphs>55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차세대 해양기후모델 지면-식생모델 진단 및 개선 </vt:lpstr>
      <vt:lpstr>1단계 (2026-2028): 차세대 해양기후모델 지면-식생 모델 성능진단 체계 구축 및 개선점 도출</vt:lpstr>
      <vt:lpstr>2단계(2029-2030): 지면-식생 물리과정 고도화 및 미래 해양기후 영향 예측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JeongJee-Hoon</dc:creator>
  <cp:lastModifiedBy>JeongJee-Hoon</cp:lastModifiedBy>
  <cp:revision>3</cp:revision>
  <dcterms:created xsi:type="dcterms:W3CDTF">2026-03-05T06:34:57Z</dcterms:created>
  <dcterms:modified xsi:type="dcterms:W3CDTF">2026-03-10T11:45:06Z</dcterms:modified>
</cp:coreProperties>
</file>