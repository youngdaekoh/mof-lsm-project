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64" r:id="rId3"/>
    <p:sldId id="263" r:id="rId4"/>
    <p:sldId id="265" r:id="rId5"/>
    <p:sldId id="266" r:id="rId6"/>
    <p:sldId id="267" r:id="rId7"/>
    <p:sldId id="268" r:id="rId8"/>
    <p:sldId id="261" r:id="rId9"/>
  </p:sldIdLst>
  <p:sldSz cx="24384000" cy="13716000"/>
  <p:notesSz cx="6858000" cy="9144000"/>
  <p:embeddedFontLst>
    <p:embeddedFont>
      <p:font typeface="Pretendard Bold" panose="020B0600000101010101" charset="-127"/>
      <p:bold r:id="rId11"/>
    </p:embeddedFont>
    <p:embeddedFont>
      <p:font typeface="Pretendard Medium" panose="020B0600000101010101" charset="-127"/>
      <p:bold r:id="rId12"/>
    </p:embeddedFont>
    <p:embeddedFont>
      <p:font typeface="Pretendard Regular" panose="020B0600000101010101" charset="-127"/>
      <p:regular r:id="rId13"/>
    </p:embeddedFont>
    <p:embeddedFont>
      <p:font typeface="Pretendard SemiBold" panose="020B0600000101010101" charset="-127"/>
      <p:bold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1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124" y="10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4" d="100"/>
          <a:sy n="104" d="100"/>
        </p:scale>
        <p:origin x="2644" y="8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A4FE8-E269-4D65-B9AC-FD65431267F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E27F8-2346-47CF-98DD-EF3B5AE18F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00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8F9E-23FD-40B9-A600-71739DF5AF69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C9FE-2349-4E12-865A-EBDF5CB393A4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D3E8-81D1-45FD-A2FD-4F546AFDAC73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DB2D-FE3F-49B9-A334-11D4F42D450B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2236-B1FF-4701-B40B-2A6BB8146569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7B2C-AD80-4878-951E-D46A5A0C51E7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13166725"/>
            <a:ext cx="2133600" cy="365125"/>
          </a:xfrm>
        </p:spPr>
        <p:txBody>
          <a:bodyPr/>
          <a:lstStyle/>
          <a:p>
            <a:fld id="{DFE2D41C-4341-4911-8362-FF0D5192E7EC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515600" y="13349287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1793200" y="12801600"/>
            <a:ext cx="2133600" cy="365125"/>
          </a:xfrm>
        </p:spPr>
        <p:txBody>
          <a:bodyPr/>
          <a:lstStyle>
            <a:lvl1pPr>
              <a:defRPr sz="3250">
                <a:solidFill>
                  <a:schemeClr val="bg1"/>
                </a:solidFill>
                <a:latin typeface="Pretendard SemiBold" panose="020B0600000101010101" charset="-127"/>
                <a:ea typeface="Pretendard SemiBold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A8E310C-6AC4-CAD5-0965-9A7F65EC39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72" t="29353" r="29889"/>
          <a:stretch/>
        </p:blipFill>
        <p:spPr>
          <a:xfrm rot="10800000">
            <a:off x="0" y="11912600"/>
            <a:ext cx="24384000" cy="1803400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CA9B7AD9-D0FB-DA8E-D941-2D9F3B4594F8}"/>
              </a:ext>
            </a:extLst>
          </p:cNvPr>
          <p:cNvSpPr txBox="1"/>
          <p:nvPr userDrawn="1"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21DAC-8FAE-A24E-FD2C-AC149177AC23}"/>
              </a:ext>
            </a:extLst>
          </p:cNvPr>
          <p:cNvSpPr txBox="1"/>
          <p:nvPr userDrawn="1"/>
        </p:nvSpPr>
        <p:spPr>
          <a:xfrm>
            <a:off x="1219200" y="698500"/>
            <a:ext cx="17500600" cy="1308100"/>
          </a:xfrm>
          <a:prstGeom prst="rect">
            <a:avLst/>
          </a:prstGeom>
        </p:spPr>
        <p:txBody>
          <a:bodyPr lIns="0" tIns="97790" rIns="0" bIns="0" rtlCol="0" anchor="t"/>
          <a:lstStyle/>
          <a:p>
            <a:pPr lvl="0" algn="l">
              <a:lnSpc>
                <a:spcPct val="98770"/>
              </a:lnSpc>
            </a:pPr>
            <a:endParaRPr lang="en-US" sz="7333" b="0" i="0" u="none" strike="noStrike" dirty="0">
              <a:solidFill>
                <a:srgbClr val="1031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01A0337-04D2-AA1C-B9E7-E532DF0C05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219200" y="2362200"/>
            <a:ext cx="22288500" cy="127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2042CC62-BBCA-6B2B-1848-39D4D13B61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5D52F87C-D639-3880-D4A4-073C6BCC74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961600" y="863600"/>
            <a:ext cx="546100" cy="546100"/>
          </a:xfrm>
          <a:prstGeom prst="rect">
            <a:avLst/>
          </a:prstGeom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FF853BC8-4A80-6B18-D5A9-D3B90FB3EE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51111"/>
          <a:stretch/>
        </p:blipFill>
        <p:spPr>
          <a:xfrm rot="5400000">
            <a:off x="-374650" y="1212850"/>
            <a:ext cx="1028700" cy="2794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1D95C27-2BD4-58A9-5C02-DAF18FE2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262" y="737937"/>
            <a:ext cx="18187737" cy="1143000"/>
          </a:xfrm>
        </p:spPr>
        <p:txBody>
          <a:bodyPr>
            <a:noAutofit/>
          </a:bodyPr>
          <a:lstStyle>
            <a:lvl1pPr algn="l">
              <a:defRPr sz="7330">
                <a:solidFill>
                  <a:srgbClr val="10314B"/>
                </a:solidFill>
                <a:latin typeface="Pretendard SemiBold" panose="020B0600000101010101" charset="-127"/>
                <a:ea typeface="Pretendard SemiBold" panose="020B0600000101010101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6287-BED8-4930-AD1B-0DC39311FD6C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62A6-1576-4182-87EA-8BFABDF502BD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05436-39B1-4604-AD57-CBB0875A0720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39A5D-E262-41E9-B374-8FBF8F8540D2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2EA2B-B3B4-DBEB-B9A6-2713B8E9A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03F94D-CAFF-E7DA-0C7E-25FB7EFE4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EF802D-E77B-FACF-1BDA-DF953928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57CF9C-17E2-F413-DFFA-0D0B7824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FEB07-33F6-1C5B-6841-0FE84469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244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A3420-6865-341C-99F0-EFA752BE0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E05C2F-F423-9FDB-82AD-37DBF85B3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3494C2-EF23-6FAC-0011-97A21746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4C74EF-3EB7-3BEF-3901-CD71ACDF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65B560-2F90-03CD-3759-83F9FEE45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758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B2C03-AF38-D009-7500-F81DDF7D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C4FF8C-E171-4F0C-3BDB-2C06CB1AC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E5B194-4F40-4268-3445-2661C805D1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58E1A6-1E65-055C-D9CD-1B8260304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179FA1-3AD8-C839-6A2C-CEE37716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930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D125C-F4CA-2736-738B-AB8E9C2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187D13-46D8-12DA-C8F8-DAFA21A59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C5F350-6779-A846-2A09-DAB7DB992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FF4429-EB60-C977-F7B4-0E3855D452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D7F90C-1EDE-DEB0-87BB-27825E3F5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89A882-63FE-9C02-C22F-624818AB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482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7372E-8DCC-8D72-1169-61AC56E6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CA6F54-A2EA-F5B9-1C3C-778866F76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9BBDB3-D98C-73C4-FC56-3C76DC9BA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3041D8-3186-9FB0-03FF-028B8E181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6F043D-06F3-B94C-3E65-0DE66CC50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3EA9EE-9D1F-B9D4-C52A-FE7332DB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A899B2-52E8-522F-E17E-EA470500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7DA480-C728-29F8-6729-AF4E6AA01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95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3BE1E-3BBC-66A4-5734-35452B87B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685909-5D72-7202-F23A-3805CDE5B2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F649FA-1340-3E6F-3B88-233D8868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4154CB-88BD-C611-CC1B-06E317D8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3592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B03823-8E37-884F-B851-1873EB14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B6C6BF-A1CE-4174-F293-26D45626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B1C48E-0A61-01F4-7BF0-0B278F356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048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63638-54A2-1518-FA23-2893ED1B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8FD37-D50A-2941-A815-82FD885B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6CA9DA-02E1-07E4-0B0B-F502801F7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8D1D34-6F3F-2DC7-21CC-6CA41502C8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683025-BB4D-3BAB-8054-7C8DC749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A49828-F31C-7D22-50E9-57910633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8523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303A-49CC-F7B8-7658-80CD157F5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B038992-512C-20F0-7F50-BBAA9D1A5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DE8EFD-173A-3E5E-ECD2-5D961ACDF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46432B-A0D6-816C-903F-1281E0F4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BB0DF2-68B5-2B3E-DA59-59F86D19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827AC7-B6BB-E83C-DFF2-2CB9E2B0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564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5B40A-34DD-0D85-26A6-D5D001DF3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C824E1-48E2-3039-6565-88586129B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2D445F-B3EA-593C-F331-53DF8712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78783F-519A-49DC-4B9A-3ED9AE61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0CD92B-0F99-F6A7-A90A-C3CCA638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1649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0BF520-2725-A22F-26F0-23835F8D5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56EBB6-DE1E-912F-FFD4-EE1BA3382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247238-217F-BB5D-5774-609179687A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CCCCC111-9206-4185-A1C8-3E23DA86FE0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4135C2-8F9C-A6A0-9BFE-6D1CCCE2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536EC9-56E4-C1BD-1B84-9D3EFD3C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99BE6747-C233-49C8-A678-1896B8726A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40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A383E-36C4-4E4C-918B-58AC8B192B57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933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100" y="12026900"/>
            <a:ext cx="1066800" cy="106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1772900"/>
            <a:ext cx="2349500" cy="152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768" y="292100"/>
            <a:ext cx="24434800" cy="1036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8900" y="10591800"/>
            <a:ext cx="245618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200" y="12153900"/>
            <a:ext cx="2489200" cy="114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0600" y="11798300"/>
            <a:ext cx="1536700" cy="1536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1200" y="11798300"/>
            <a:ext cx="1549400" cy="1536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9200" y="11785600"/>
            <a:ext cx="1625600" cy="1549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28600" y="11785600"/>
            <a:ext cx="1638300" cy="1549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92300" y="11760200"/>
            <a:ext cx="1574800" cy="1574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16400" y="11709400"/>
            <a:ext cx="1536700" cy="1638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16600" y="11785600"/>
            <a:ext cx="1511300" cy="1511300"/>
          </a:xfrm>
          <a:prstGeom prst="rect">
            <a:avLst/>
          </a:prstGeom>
        </p:spPr>
      </p:pic>
      <p:pic>
        <p:nvPicPr>
          <p:cNvPr id="22" name="Picture 5">
            <a:extLst>
              <a:ext uri="{FF2B5EF4-FFF2-40B4-BE49-F238E27FC236}">
                <a16:creationId xmlns:a16="http://schemas.microsoft.com/office/drawing/2014/main" id="{E67541E0-550D-D758-48E0-6BCAD676D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1600" y="191837"/>
            <a:ext cx="24561800" cy="152400"/>
          </a:xfrm>
          <a:prstGeom prst="rect">
            <a:avLst/>
          </a:prstGeom>
        </p:spPr>
      </p:pic>
      <p:pic>
        <p:nvPicPr>
          <p:cNvPr id="23" name="Picture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400" y="76200"/>
            <a:ext cx="10414000" cy="10744200"/>
          </a:xfrm>
          <a:prstGeom prst="rect">
            <a:avLst/>
          </a:prstGeom>
        </p:spPr>
      </p:pic>
      <p:sp>
        <p:nvSpPr>
          <p:cNvPr id="24" name="TextBox 7"/>
          <p:cNvSpPr txBox="1"/>
          <p:nvPr/>
        </p:nvSpPr>
        <p:spPr>
          <a:xfrm>
            <a:off x="2400300" y="2070100"/>
            <a:ext cx="8267700" cy="33401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105410"/>
              </a:lnSpc>
            </a:pP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차세대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해양·극지의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</a:t>
            </a:r>
          </a:p>
          <a:p>
            <a:pPr lvl="0" algn="l">
              <a:lnSpc>
                <a:spcPct val="105410"/>
              </a:lnSpc>
            </a:pP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환경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및 </a:t>
            </a: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생태계에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관한</a:t>
            </a:r>
            <a:endParaRPr lang="en-US" sz="6666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05410"/>
              </a:lnSpc>
            </a:pP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기후예측시스템</a:t>
            </a:r>
            <a:r>
              <a:rPr lang="en-US" sz="6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6666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개발</a:t>
            </a:r>
            <a:endParaRPr lang="en-US" sz="6666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5" name="TextBox 8"/>
          <p:cNvSpPr txBox="1"/>
          <p:nvPr/>
        </p:nvSpPr>
        <p:spPr>
          <a:xfrm>
            <a:off x="2400300" y="1079500"/>
            <a:ext cx="76835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7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1차년도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착수보고회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(2026.06.22-23)</a:t>
            </a:r>
          </a:p>
        </p:txBody>
      </p:sp>
      <p:sp>
        <p:nvSpPr>
          <p:cNvPr id="26" name="TextBox 18"/>
          <p:cNvSpPr txBox="1"/>
          <p:nvPr/>
        </p:nvSpPr>
        <p:spPr>
          <a:xfrm>
            <a:off x="5753100" y="9486900"/>
            <a:ext cx="5334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한국해양과학기술원</a:t>
            </a:r>
            <a:endParaRPr lang="en-US" sz="3466" b="0" i="0" u="none" strike="noStrike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7" name="TextBox 19"/>
          <p:cNvSpPr txBox="1"/>
          <p:nvPr/>
        </p:nvSpPr>
        <p:spPr>
          <a:xfrm>
            <a:off x="2692400" y="9334500"/>
            <a:ext cx="29210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박균도</a:t>
            </a:r>
            <a:endParaRPr lang="en-US" sz="4800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8" name="TextBox 20"/>
          <p:cNvSpPr txBox="1"/>
          <p:nvPr/>
        </p:nvSpPr>
        <p:spPr>
          <a:xfrm>
            <a:off x="2400300" y="6464300"/>
            <a:ext cx="72644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지역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상세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해양-대기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결합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모델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47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구축</a:t>
            </a:r>
            <a:r>
              <a:rPr 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및 역학적 상세화 시나리오 생산</a:t>
            </a:r>
            <a:r>
              <a:rPr lang="en-US" altLang="ko-KR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발표제목</a:t>
            </a:r>
            <a:r>
              <a:rPr lang="en-US" altLang="ko-KR" sz="347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endParaRPr lang="en-US" sz="3470" b="0" i="0" u="none" strike="noStrike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9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5245100" y="9766300"/>
            <a:ext cx="419100" cy="50800"/>
          </a:xfrm>
          <a:prstGeom prst="rect">
            <a:avLst/>
          </a:prstGeom>
        </p:spPr>
      </p:pic>
      <p:pic>
        <p:nvPicPr>
          <p:cNvPr id="30" name="그래픽 29">
            <a:extLst>
              <a:ext uri="{FF2B5EF4-FFF2-40B4-BE49-F238E27FC236}">
                <a16:creationId xmlns:a16="http://schemas.microsoft.com/office/drawing/2014/main" id="{1849D26C-D1B0-0694-9A1A-B62AB25F6B0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152896" y="11793209"/>
            <a:ext cx="1536700" cy="151772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5E33A7-76D3-0FAA-F529-6A0C2776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-914400" y="-596900"/>
            <a:ext cx="11684000" cy="16103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25500" y="977900"/>
            <a:ext cx="7137400" cy="1879600"/>
          </a:xfrm>
          <a:prstGeom prst="rect">
            <a:avLst/>
          </a:prstGeom>
        </p:spPr>
        <p:txBody>
          <a:bodyPr lIns="0" tIns="171450" rIns="0" bIns="0" rtlCol="0" anchor="t"/>
          <a:lstStyle/>
          <a:p>
            <a:pPr lvl="0" algn="l">
              <a:lnSpc>
                <a:spcPct val="93788"/>
              </a:lnSpc>
            </a:pPr>
            <a:r>
              <a:rPr lang="en-US" sz="10540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목차</a:t>
            </a:r>
            <a:endParaRPr lang="en-US" sz="10540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42600" y="5346700"/>
            <a:ext cx="64135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2. 1차년도 연구계획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42600" y="3276600"/>
            <a:ext cx="45847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1. </a:t>
            </a:r>
            <a:r>
              <a:rPr lang="en-US" sz="5333" b="0" i="0" u="none" strike="noStrike" dirty="0" err="1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전체계획</a:t>
            </a:r>
            <a:endParaRPr lang="en-US" sz="5333" b="0" i="0" u="none" strike="noStrike" dirty="0">
              <a:solidFill>
                <a:srgbClr val="0F30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642600" y="7416800"/>
            <a:ext cx="11722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3. 성과계획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2100" y="13512800"/>
            <a:ext cx="25031700" cy="266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642600" y="9486900"/>
            <a:ext cx="11722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4. </a:t>
            </a:r>
            <a:r>
              <a:rPr lang="en-US" sz="5333" b="0" i="0" u="none" strike="noStrike" dirty="0" err="1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건의</a:t>
            </a:r>
            <a:r>
              <a:rPr 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/</a:t>
            </a:r>
            <a:r>
              <a:rPr lang="ko-KR" altLang="en-US" sz="5333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토의 </a:t>
            </a:r>
            <a:r>
              <a:rPr lang="en-US" sz="5333" b="0" i="0" u="none" strike="noStrike" dirty="0" err="1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사항</a:t>
            </a:r>
            <a:endParaRPr lang="en-US" sz="5333" b="0" i="0" u="none" strike="noStrike" dirty="0">
              <a:solidFill>
                <a:srgbClr val="0F30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7500" y="6299200"/>
            <a:ext cx="10363200" cy="6680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04500" y="190500"/>
            <a:ext cx="914400" cy="1219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36200" y="863600"/>
            <a:ext cx="546100" cy="546100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B3C98AF-1FCE-848E-8A53-1C334214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F5E119-AF55-2506-3550-15EA2C82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01C7C30-0662-7D7F-DBB9-DFEFD0A6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전체계획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BD6F92B-F7E1-BDB7-69DB-7C21DCFD9345}"/>
              </a:ext>
            </a:extLst>
          </p:cNvPr>
          <p:cNvSpPr txBox="1"/>
          <p:nvPr/>
        </p:nvSpPr>
        <p:spPr>
          <a:xfrm>
            <a:off x="4775200" y="5676900"/>
            <a:ext cx="1483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4000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전체계획을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자유롭게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작성</a:t>
            </a:r>
            <a:endParaRPr lang="en-US" sz="4000" b="0" i="0" u="none" strike="noStrike" dirty="0">
              <a:solidFill>
                <a:srgbClr val="0F304B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851095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7D2EE62-D4F2-257C-EB68-D50A4BA9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F85C2F1-E0B8-ED89-BEC4-54DFFA92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차년도 연구계획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13F73366-C565-385F-3476-196CC22635E8}"/>
              </a:ext>
            </a:extLst>
          </p:cNvPr>
          <p:cNvSpPr txBox="1"/>
          <p:nvPr/>
        </p:nvSpPr>
        <p:spPr>
          <a:xfrm>
            <a:off x="4775200" y="5676900"/>
            <a:ext cx="1483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1차년도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연구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내용을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자유롭게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작성</a:t>
            </a:r>
            <a:endParaRPr lang="en-US" sz="4000" b="0" i="0" u="none" strike="noStrike" dirty="0">
              <a:solidFill>
                <a:srgbClr val="0F304B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498620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E5B486-F341-C87E-07A2-3789012C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5B8CD2-7C27-644F-225D-D408BCA95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성과계획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294CDF9-5B66-C456-AAE3-52D6EF8D2727}"/>
              </a:ext>
            </a:extLst>
          </p:cNvPr>
          <p:cNvSpPr txBox="1"/>
          <p:nvPr/>
        </p:nvSpPr>
        <p:spPr>
          <a:xfrm>
            <a:off x="4775200" y="5676900"/>
            <a:ext cx="1483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해당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년도에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달성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가능할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것으로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예상되는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정량적인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실적을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작성</a:t>
            </a:r>
            <a:endParaRPr lang="en-US" sz="4000" b="0" i="0" u="none" strike="noStrike" dirty="0">
              <a:solidFill>
                <a:srgbClr val="0F304B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8668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F02C2B-D3CC-84C4-1708-865AE85C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63AADF-C41E-7C34-02A9-756C3A37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건의</a:t>
            </a:r>
            <a:r>
              <a:rPr lang="en-US" altLang="ko-KR" dirty="0"/>
              <a:t>/</a:t>
            </a:r>
            <a:r>
              <a:rPr lang="ko-KR" altLang="en-US" dirty="0"/>
              <a:t>토의 사항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03A2F00-4CC5-C772-6662-D4C219DAC558}"/>
              </a:ext>
            </a:extLst>
          </p:cNvPr>
          <p:cNvSpPr txBox="1"/>
          <p:nvPr/>
        </p:nvSpPr>
        <p:spPr>
          <a:xfrm>
            <a:off x="4775200" y="5676900"/>
            <a:ext cx="1483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자유롭게</a:t>
            </a:r>
            <a:r>
              <a:rPr lang="en-US" sz="4000" b="0" i="0" u="none" strike="noStrike" dirty="0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000" b="0" i="0" u="none" strike="noStrike" dirty="0" err="1">
                <a:solidFill>
                  <a:srgbClr val="0F304B"/>
                </a:solidFill>
                <a:latin typeface="Pretendard Regular"/>
                <a:ea typeface="Pretendard Regular"/>
                <a:cs typeface="Pretendard Regular"/>
              </a:rPr>
              <a:t>작성</a:t>
            </a:r>
            <a:endParaRPr lang="en-US" sz="4000" b="0" i="0" u="none" strike="noStrike" dirty="0">
              <a:solidFill>
                <a:srgbClr val="0F304B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44841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66800" y="25400"/>
            <a:ext cx="2679700" cy="571500"/>
          </a:xfrm>
          <a:prstGeom prst="rect">
            <a:avLst/>
          </a:prstGeom>
        </p:spPr>
        <p:txBody>
          <a:bodyPr lIns="0" tIns="3511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247" b="0" i="0" u="none" strike="noStrike" cap="all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F283C0CF-A843-61E3-4F12-0D2C1DFE29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-206"/>
          <a:stretch/>
        </p:blipFill>
        <p:spPr>
          <a:xfrm>
            <a:off x="-88900" y="-177800"/>
            <a:ext cx="24625300" cy="2755900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AF2D695C-F839-B8CC-D461-3EE6F74CC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00" y="13512800"/>
            <a:ext cx="25031700" cy="266700"/>
          </a:xfrm>
          <a:prstGeom prst="rect">
            <a:avLst/>
          </a:prstGeom>
        </p:spPr>
      </p:pic>
      <p:sp>
        <p:nvSpPr>
          <p:cNvPr id="18" name="TextBox 5">
            <a:extLst>
              <a:ext uri="{FF2B5EF4-FFF2-40B4-BE49-F238E27FC236}">
                <a16:creationId xmlns:a16="http://schemas.microsoft.com/office/drawing/2014/main" id="{32AEC17E-F48B-A961-4972-88E5BDFC774E}"/>
              </a:ext>
            </a:extLst>
          </p:cNvPr>
          <p:cNvSpPr txBox="1"/>
          <p:nvPr/>
        </p:nvSpPr>
        <p:spPr>
          <a:xfrm>
            <a:off x="-127000" y="6267450"/>
            <a:ext cx="24638000" cy="1181100"/>
          </a:xfrm>
          <a:prstGeom prst="rect">
            <a:avLst/>
          </a:prstGeom>
        </p:spPr>
        <p:txBody>
          <a:bodyPr lIns="0" tIns="139700" rIns="0" bIns="0" rtlCol="0" anchor="t"/>
          <a:lstStyle/>
          <a:p>
            <a:pPr lvl="0" algn="ctr">
              <a:lnSpc>
                <a:spcPct val="88810"/>
              </a:lnSpc>
            </a:pPr>
            <a:r>
              <a:rPr lang="ko-KR" altLang="en-US" sz="6666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감사합니다</a:t>
            </a:r>
            <a:r>
              <a:rPr lang="en-US" altLang="ko-KR" sz="6666" b="0" i="0" u="none" strike="noStrike" dirty="0">
                <a:solidFill>
                  <a:srgbClr val="0F304B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endParaRPr lang="en-US" sz="6666" b="0" i="0" u="none" strike="noStrike" dirty="0">
              <a:solidFill>
                <a:srgbClr val="0F304B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FC442F4-F50F-961E-6C3E-64CD2468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82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91</Words>
  <Application>Microsoft Office PowerPoint</Application>
  <PresentationFormat>사용자 지정</PresentationFormat>
  <Paragraphs>29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Arial</vt:lpstr>
      <vt:lpstr>Calibri</vt:lpstr>
      <vt:lpstr>맑은 고딕</vt:lpstr>
      <vt:lpstr>Pretendard Regular</vt:lpstr>
      <vt:lpstr>Pretendard Bold</vt:lpstr>
      <vt:lpstr>Pretendard SemiBold</vt:lpstr>
      <vt:lpstr>Pretendard Medium</vt:lpstr>
      <vt:lpstr>Office Theme</vt:lpstr>
      <vt:lpstr>디자인 사용자 지정</vt:lpstr>
      <vt:lpstr>PowerPoint 프레젠테이션</vt:lpstr>
      <vt:lpstr>PowerPoint 프레젠테이션</vt:lpstr>
      <vt:lpstr>전체계획</vt:lpstr>
      <vt:lpstr>1차년도 연구계획</vt:lpstr>
      <vt:lpstr>성과계획</vt:lpstr>
      <vt:lpstr>건의/토의 사항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pandl</dc:creator>
  <cp:lastModifiedBy>Gyundo Pak</cp:lastModifiedBy>
  <cp:revision>15</cp:revision>
  <dcterms:created xsi:type="dcterms:W3CDTF">2006-08-16T00:00:00Z</dcterms:created>
  <dcterms:modified xsi:type="dcterms:W3CDTF">2026-06-16T00:19:23Z</dcterms:modified>
</cp:coreProperties>
</file>