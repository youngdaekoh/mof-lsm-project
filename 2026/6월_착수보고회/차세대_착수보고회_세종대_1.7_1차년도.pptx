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4" r:id="rId2"/>
    <p:sldId id="263" r:id="rId3"/>
    <p:sldId id="270" r:id="rId4"/>
    <p:sldId id="271" r:id="rId5"/>
    <p:sldId id="266" r:id="rId6"/>
    <p:sldId id="258" r:id="rId7"/>
    <p:sldId id="265" r:id="rId8"/>
    <p:sldId id="262" r:id="rId9"/>
    <p:sldId id="267" r:id="rId10"/>
    <p:sldId id="268" r:id="rId11"/>
    <p:sldId id="269" r:id="rId12"/>
    <p:sldId id="259" r:id="rId13"/>
    <p:sldId id="260" r:id="rId14"/>
    <p:sldId id="261" r:id="rId15"/>
  </p:sldIdLst>
  <p:sldSz cx="24384000" cy="13716000"/>
  <p:notesSz cx="6858000" cy="9144000"/>
  <p:embeddedFontLst>
    <p:embeddedFont>
      <p:font typeface="Pretendard Bold" panose="02000803000000020004"/>
      <p:bold r:id="rId16"/>
    </p:embeddedFont>
    <p:embeddedFont>
      <p:font typeface="Pretendard Medium" panose="02000603000000020004"/>
      <p:regular r:id="rId17"/>
      <p:bold r:id="rId18"/>
    </p:embeddedFont>
    <p:embeddedFont>
      <p:font typeface="Pretendard Regular" panose="02000503000000020004"/>
      <p:regular r:id="rId19"/>
    </p:embeddedFont>
    <p:embeddedFont>
      <p:font typeface="Pretendard SemiBold" panose="02000703000000020004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50" autoAdjust="0"/>
    <p:restoredTop sz="94637" autoAdjust="0"/>
  </p:normalViewPr>
  <p:slideViewPr>
    <p:cSldViewPr>
      <p:cViewPr varScale="1">
        <p:scale>
          <a:sx n="88" d="100"/>
          <a:sy n="88" d="100"/>
        </p:scale>
        <p:origin x="216" y="6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100" y="12026900"/>
            <a:ext cx="1066800" cy="1066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1772900"/>
            <a:ext cx="2349500" cy="152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768" y="292100"/>
            <a:ext cx="24434800" cy="1036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8900" y="10591800"/>
            <a:ext cx="245618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200" y="12153900"/>
            <a:ext cx="2489200" cy="114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0600" y="11798300"/>
            <a:ext cx="1536700" cy="1536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1200" y="11798300"/>
            <a:ext cx="1549400" cy="1536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9200" y="11785600"/>
            <a:ext cx="1625600" cy="1549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28600" y="11785600"/>
            <a:ext cx="1638300" cy="1549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92300" y="11760200"/>
            <a:ext cx="1574800" cy="1574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16400" y="11709400"/>
            <a:ext cx="1536700" cy="1638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16600" y="11785600"/>
            <a:ext cx="1511300" cy="1511300"/>
          </a:xfrm>
          <a:prstGeom prst="rect">
            <a:avLst/>
          </a:prstGeom>
        </p:spPr>
      </p:pic>
      <p:pic>
        <p:nvPicPr>
          <p:cNvPr id="22" name="Picture 5">
            <a:extLst>
              <a:ext uri="{FF2B5EF4-FFF2-40B4-BE49-F238E27FC236}">
                <a16:creationId xmlns:a16="http://schemas.microsoft.com/office/drawing/2014/main" id="{E67541E0-550D-D758-48E0-6BCAD676DF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1600" y="191837"/>
            <a:ext cx="24561800" cy="152400"/>
          </a:xfrm>
          <a:prstGeom prst="rect">
            <a:avLst/>
          </a:prstGeom>
        </p:spPr>
      </p:pic>
      <p:pic>
        <p:nvPicPr>
          <p:cNvPr id="23" name="Picture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400" y="76200"/>
            <a:ext cx="10414000" cy="10744200"/>
          </a:xfrm>
          <a:prstGeom prst="rect">
            <a:avLst/>
          </a:prstGeom>
        </p:spPr>
      </p:pic>
      <p:sp>
        <p:nvSpPr>
          <p:cNvPr id="24" name="TextBox 7"/>
          <p:cNvSpPr txBox="1"/>
          <p:nvPr/>
        </p:nvSpPr>
        <p:spPr>
          <a:xfrm>
            <a:off x="2400300" y="2070100"/>
            <a:ext cx="8267700" cy="33401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105410"/>
              </a:lnSpc>
            </a:pP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차세대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해양·극지의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</a:t>
            </a:r>
          </a:p>
          <a:p>
            <a:pPr lvl="0" algn="l">
              <a:lnSpc>
                <a:spcPct val="105410"/>
              </a:lnSpc>
            </a:pP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환경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및 </a:t>
            </a: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생태계에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관한</a:t>
            </a:r>
            <a:endParaRPr lang="en-US" sz="6666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05410"/>
              </a:lnSpc>
            </a:pP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기후예측시스템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개발</a:t>
            </a:r>
            <a:endParaRPr lang="en-US" sz="6666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5" name="TextBox 8"/>
          <p:cNvSpPr txBox="1"/>
          <p:nvPr/>
        </p:nvSpPr>
        <p:spPr>
          <a:xfrm>
            <a:off x="2400300" y="1079500"/>
            <a:ext cx="76835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7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1차년도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착수보고회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(2026.06.22-23)</a:t>
            </a:r>
          </a:p>
        </p:txBody>
      </p:sp>
      <p:sp>
        <p:nvSpPr>
          <p:cNvPr id="26" name="TextBox 18"/>
          <p:cNvSpPr txBox="1"/>
          <p:nvPr/>
        </p:nvSpPr>
        <p:spPr>
          <a:xfrm>
            <a:off x="5753100" y="9486900"/>
            <a:ext cx="53340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세종대학교</a:t>
            </a:r>
            <a:endParaRPr lang="en-US" sz="3466" b="0" i="0" u="none" strike="noStrike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7" name="TextBox 19"/>
          <p:cNvSpPr txBox="1"/>
          <p:nvPr/>
        </p:nvSpPr>
        <p:spPr>
          <a:xfrm>
            <a:off x="2692400" y="9334500"/>
            <a:ext cx="29210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정지훈</a:t>
            </a:r>
            <a:endParaRPr lang="en-US" sz="4800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8" name="TextBox 20"/>
          <p:cNvSpPr txBox="1"/>
          <p:nvPr/>
        </p:nvSpPr>
        <p:spPr>
          <a:xfrm>
            <a:off x="2400300" y="6464300"/>
            <a:ext cx="72644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지면-식생모델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성능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및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해양영향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진단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체계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구축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</a:p>
        </p:txBody>
      </p:sp>
      <p:pic>
        <p:nvPicPr>
          <p:cNvPr id="29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5245100" y="9766300"/>
            <a:ext cx="419100" cy="50800"/>
          </a:xfrm>
          <a:prstGeom prst="rect">
            <a:avLst/>
          </a:prstGeom>
        </p:spPr>
      </p:pic>
      <p:pic>
        <p:nvPicPr>
          <p:cNvPr id="30" name="그래픽 29">
            <a:extLst>
              <a:ext uri="{FF2B5EF4-FFF2-40B4-BE49-F238E27FC236}">
                <a16:creationId xmlns:a16="http://schemas.microsoft.com/office/drawing/2014/main" id="{1849D26C-D1B0-0694-9A1A-B62AB25F6B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152896" y="11793209"/>
            <a:ext cx="1536700" cy="15177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-914400" y="-596900"/>
            <a:ext cx="11684000" cy="16103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25500" y="977900"/>
            <a:ext cx="7137400" cy="1879600"/>
          </a:xfrm>
          <a:prstGeom prst="rect">
            <a:avLst/>
          </a:prstGeom>
        </p:spPr>
        <p:txBody>
          <a:bodyPr lIns="0" tIns="171450" rIns="0" bIns="0" rtlCol="0" anchor="t"/>
          <a:lstStyle/>
          <a:p>
            <a:pPr lvl="0" algn="l">
              <a:lnSpc>
                <a:spcPct val="93788"/>
              </a:lnSpc>
            </a:pPr>
            <a:r>
              <a:rPr lang="en-US" sz="10540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목차</a:t>
            </a:r>
            <a:endParaRPr lang="en-US" sz="10540" b="0" i="0" u="none" strike="noStrike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642600" y="5346700"/>
            <a:ext cx="64135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2. 1차년도 </a:t>
            </a:r>
            <a:r>
              <a:rPr lang="en-US" sz="5333" b="0" i="0" u="none" strike="noStrike" dirty="0" err="1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연구계획</a:t>
            </a:r>
            <a:endParaRPr lang="en-US" sz="5333" b="0" i="0" u="none" strike="noStrike" dirty="0">
              <a:solidFill>
                <a:srgbClr val="0F30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642600" y="3276600"/>
            <a:ext cx="45847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1. </a:t>
            </a:r>
            <a:r>
              <a:rPr lang="en-US" sz="5333" b="0" i="0" u="none" strike="noStrike" dirty="0" err="1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전체계획</a:t>
            </a:r>
            <a:endParaRPr lang="en-US" sz="5333" b="0" i="0" u="none" strike="noStrike" dirty="0">
              <a:solidFill>
                <a:srgbClr val="0F30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642600" y="7416800"/>
            <a:ext cx="117221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3. 성과계획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100" y="13512800"/>
            <a:ext cx="25031700" cy="266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642600" y="9486900"/>
            <a:ext cx="117221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4. </a:t>
            </a:r>
            <a:r>
              <a:rPr lang="en-US" sz="5333" b="0" i="0" u="none" strike="noStrike" dirty="0" err="1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건의</a:t>
            </a:r>
            <a:r>
              <a:rPr lang="en-US" sz="5333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/</a:t>
            </a:r>
            <a:r>
              <a:rPr lang="ko-KR" altLang="en-US" sz="5333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토의 </a:t>
            </a:r>
            <a:r>
              <a:rPr lang="en-US" sz="5333" b="0" i="0" u="none" strike="noStrike" dirty="0" err="1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사항</a:t>
            </a:r>
            <a:endParaRPr lang="en-US" sz="5333" b="0" i="0" u="none" strike="noStrike" dirty="0">
              <a:solidFill>
                <a:srgbClr val="0F30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87500" y="6299200"/>
            <a:ext cx="10363200" cy="6680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36200" y="863600"/>
            <a:ext cx="546100" cy="546100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5047F652-97C4-2474-0996-C685C7FD645C}"/>
              </a:ext>
            </a:extLst>
          </p:cNvPr>
          <p:cNvSpPr txBox="1"/>
          <p:nvPr/>
        </p:nvSpPr>
        <p:spPr>
          <a:xfrm>
            <a:off x="21170900" y="12674600"/>
            <a:ext cx="2679700" cy="571500"/>
          </a:xfrm>
          <a:prstGeom prst="rect">
            <a:avLst/>
          </a:prstGeom>
        </p:spPr>
        <p:txBody>
          <a:bodyPr lIns="0" tIns="43308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3247" b="0" i="0" u="none" strike="noStrike" cap="all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C9EC0384-6A89-010E-2491-33FDC5FF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" t="29353" r="29889"/>
          <a:stretch/>
        </p:blipFill>
        <p:spPr>
          <a:xfrm rot="10800000">
            <a:off x="0" y="11912600"/>
            <a:ext cx="24384000" cy="1803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698500"/>
            <a:ext cx="17500600" cy="1308100"/>
          </a:xfrm>
          <a:prstGeom prst="rect">
            <a:avLst/>
          </a:prstGeom>
        </p:spPr>
        <p:txBody>
          <a:bodyPr lIns="0" tIns="97790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7333" b="0" i="0" u="none" strike="noStrike" dirty="0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전체계획</a:t>
            </a:r>
            <a:endParaRPr lang="en-US" sz="7333" b="0" i="0" u="none" strike="noStrike" dirty="0">
              <a:solidFill>
                <a:srgbClr val="1031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1170900" y="12674600"/>
            <a:ext cx="2679700" cy="571500"/>
          </a:xfrm>
          <a:prstGeom prst="rect">
            <a:avLst/>
          </a:prstGeom>
        </p:spPr>
        <p:txBody>
          <a:bodyPr lIns="0" tIns="43308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3247" b="0" i="0" u="none" strike="noStrike" cap="all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219200" y="2362200"/>
            <a:ext cx="222885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61600" y="863600"/>
            <a:ext cx="546100" cy="546100"/>
          </a:xfrm>
          <a:prstGeom prst="rect">
            <a:avLst/>
          </a:prstGeom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D4F7C712-EF28-4ACD-B069-149B9A47E6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111"/>
          <a:stretch/>
        </p:blipFill>
        <p:spPr>
          <a:xfrm rot="5400000">
            <a:off x="-374650" y="1212850"/>
            <a:ext cx="1028700" cy="279400"/>
          </a:xfrm>
          <a:prstGeom prst="rect">
            <a:avLst/>
          </a:prstGeom>
        </p:spPr>
      </p:pic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16D58FCE-9EC9-A2B8-68AD-8B57BABD025A}"/>
              </a:ext>
            </a:extLst>
          </p:cNvPr>
          <p:cNvSpPr/>
          <p:nvPr/>
        </p:nvSpPr>
        <p:spPr>
          <a:xfrm>
            <a:off x="6248400" y="2730500"/>
            <a:ext cx="14270278" cy="1051560"/>
          </a:xfrm>
          <a:prstGeom prst="roundRect">
            <a:avLst>
              <a:gd name="adj" fmla="val 600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lang="en-US" sz="3200" b="1" dirty="0" err="1">
                <a:solidFill>
                  <a:schemeClr val="tx1"/>
                </a:solidFill>
                <a:latin typeface="Pretendard"/>
              </a:rPr>
              <a:t>차세대</a:t>
            </a:r>
            <a:r>
              <a:rPr lang="en-US" sz="3200" b="1" dirty="0">
                <a:solidFill>
                  <a:schemeClr val="tx1"/>
                </a:solidFill>
                <a:latin typeface="Pretendard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Pretendard"/>
              </a:rPr>
              <a:t>해양기후모델</a:t>
            </a:r>
            <a:r>
              <a:rPr lang="en-US" sz="3200" b="1" dirty="0">
                <a:solidFill>
                  <a:schemeClr val="tx1"/>
                </a:solidFill>
                <a:latin typeface="Pretendard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Pretendard"/>
              </a:rPr>
              <a:t>지면</a:t>
            </a:r>
            <a:r>
              <a:rPr lang="en-US" altLang="ko-KR" sz="3200" b="1" dirty="0">
                <a:solidFill>
                  <a:schemeClr val="tx1"/>
                </a:solidFill>
                <a:latin typeface="Pretendard"/>
              </a:rPr>
              <a:t>-</a:t>
            </a:r>
            <a:r>
              <a:rPr lang="ko-KR" altLang="en-US" sz="3200" b="1" dirty="0">
                <a:solidFill>
                  <a:schemeClr val="tx1"/>
                </a:solidFill>
                <a:latin typeface="Pretendard"/>
              </a:rPr>
              <a:t>식생모델 진단 및 개선</a:t>
            </a:r>
            <a:endParaRPr sz="3200" b="1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9D6F5-14D5-2FFD-4F59-F708F9DAE9D6}"/>
              </a:ext>
            </a:extLst>
          </p:cNvPr>
          <p:cNvSpPr txBox="1"/>
          <p:nvPr/>
        </p:nvSpPr>
        <p:spPr>
          <a:xfrm>
            <a:off x="3410712" y="4359400"/>
            <a:ext cx="405627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 dirty="0">
                <a:solidFill>
                  <a:srgbClr val="0F304B"/>
                </a:solidFill>
                <a:latin typeface="Pretendard"/>
              </a:rPr>
              <a:t>2026</a:t>
            </a:r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8CB90497-B971-BCAD-3D80-6243A04D59C3}"/>
              </a:ext>
            </a:extLst>
          </p:cNvPr>
          <p:cNvSpPr/>
          <p:nvPr/>
        </p:nvSpPr>
        <p:spPr>
          <a:xfrm>
            <a:off x="3931920" y="4752593"/>
            <a:ext cx="3141878" cy="105156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lang="ko-KR" altLang="en-US" b="1" dirty="0">
                <a:solidFill>
                  <a:schemeClr val="tx1"/>
                </a:solidFill>
                <a:latin typeface="Pretendard"/>
              </a:rPr>
              <a:t>지면</a:t>
            </a:r>
            <a:r>
              <a:rPr lang="en-US" altLang="ko-KR" b="1" dirty="0">
                <a:solidFill>
                  <a:schemeClr val="tx1"/>
                </a:solidFill>
                <a:latin typeface="Pretendard"/>
              </a:rPr>
              <a:t>-</a:t>
            </a:r>
            <a:r>
              <a:rPr lang="ko-KR" altLang="en-US" b="1" dirty="0">
                <a:solidFill>
                  <a:schemeClr val="tx1"/>
                </a:solidFill>
                <a:latin typeface="Pretendard"/>
              </a:rPr>
              <a:t>식생모델 성능</a:t>
            </a:r>
            <a:r>
              <a:rPr lang="en-US" altLang="ko-KR" b="1" dirty="0">
                <a:solidFill>
                  <a:schemeClr val="tx1"/>
                </a:solidFill>
                <a:latin typeface="Pretendard"/>
              </a:rPr>
              <a:t>,</a:t>
            </a:r>
            <a:br>
              <a:rPr lang="en-US" altLang="ko-KR" b="1" dirty="0">
                <a:solidFill>
                  <a:schemeClr val="tx1"/>
                </a:solidFill>
                <a:latin typeface="Pretendard"/>
              </a:rPr>
            </a:br>
            <a:r>
              <a:rPr lang="ko-KR" altLang="en-US" b="1" dirty="0">
                <a:solidFill>
                  <a:schemeClr val="tx1"/>
                </a:solidFill>
                <a:latin typeface="Pretendard"/>
              </a:rPr>
              <a:t>해양영향 진단 체계 구축</a:t>
            </a:r>
            <a:endParaRPr b="1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E8F8E5-66A6-D0EC-D941-96CABBEAA422}"/>
              </a:ext>
            </a:extLst>
          </p:cNvPr>
          <p:cNvSpPr txBox="1"/>
          <p:nvPr/>
        </p:nvSpPr>
        <p:spPr>
          <a:xfrm>
            <a:off x="7238390" y="4359400"/>
            <a:ext cx="405627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>
                <a:solidFill>
                  <a:srgbClr val="0F304B"/>
                </a:solidFill>
                <a:latin typeface="Pretendard"/>
              </a:rPr>
              <a:t>2027</a:t>
            </a: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C871F6DF-3191-B7E6-3D00-B93864865950}"/>
              </a:ext>
            </a:extLst>
          </p:cNvPr>
          <p:cNvSpPr/>
          <p:nvPr/>
        </p:nvSpPr>
        <p:spPr>
          <a:xfrm>
            <a:off x="7631581" y="4743448"/>
            <a:ext cx="3265901" cy="105156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lang="ko-KR" altLang="en-US" b="1" dirty="0">
                <a:solidFill>
                  <a:schemeClr val="tx1"/>
                </a:solidFill>
                <a:latin typeface="Pretendard"/>
              </a:rPr>
              <a:t>지면</a:t>
            </a:r>
            <a:r>
              <a:rPr lang="en-US" altLang="ko-KR" b="1" dirty="0">
                <a:solidFill>
                  <a:schemeClr val="tx1"/>
                </a:solidFill>
                <a:latin typeface="Pretendard"/>
              </a:rPr>
              <a:t>-</a:t>
            </a:r>
            <a:r>
              <a:rPr lang="ko-KR" altLang="en-US" b="1" dirty="0">
                <a:solidFill>
                  <a:schemeClr val="tx1"/>
                </a:solidFill>
                <a:latin typeface="Pretendard"/>
              </a:rPr>
              <a:t>식생모델 기후변화 민감도 실험 및 해양영향 진단</a:t>
            </a:r>
            <a:endParaRPr b="1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9F48CF-80D9-1322-F64F-7AE676717737}"/>
              </a:ext>
            </a:extLst>
          </p:cNvPr>
          <p:cNvSpPr txBox="1"/>
          <p:nvPr/>
        </p:nvSpPr>
        <p:spPr>
          <a:xfrm>
            <a:off x="11459260" y="4359400"/>
            <a:ext cx="405627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>
                <a:solidFill>
                  <a:srgbClr val="0F304B"/>
                </a:solidFill>
                <a:latin typeface="Pretendard"/>
              </a:rPr>
              <a:t>2028</a:t>
            </a:r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FEB29D63-A770-9A8A-E475-C599E4D0EB89}"/>
              </a:ext>
            </a:extLst>
          </p:cNvPr>
          <p:cNvSpPr/>
          <p:nvPr/>
        </p:nvSpPr>
        <p:spPr>
          <a:xfrm>
            <a:off x="11916459" y="4741887"/>
            <a:ext cx="3265901" cy="105156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lang="en-US" b="1" dirty="0">
                <a:solidFill>
                  <a:schemeClr val="tx1"/>
                </a:solidFill>
                <a:latin typeface="Pretendard"/>
              </a:rPr>
              <a:t>CMIP7 </a:t>
            </a:r>
            <a:r>
              <a:rPr lang="en-US" b="1" dirty="0" err="1">
                <a:solidFill>
                  <a:schemeClr val="tx1"/>
                </a:solidFill>
                <a:latin typeface="Pretendard"/>
              </a:rPr>
              <a:t>실험</a:t>
            </a:r>
            <a:r>
              <a:rPr lang="en-US" b="1" dirty="0">
                <a:solidFill>
                  <a:schemeClr val="tx1"/>
                </a:solidFill>
                <a:latin typeface="Pretendard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retendard"/>
              </a:rPr>
              <a:t>지면</a:t>
            </a:r>
            <a:r>
              <a:rPr lang="en-US" altLang="ko-KR" b="1" dirty="0">
                <a:solidFill>
                  <a:schemeClr val="tx1"/>
                </a:solidFill>
                <a:latin typeface="Pretendard"/>
              </a:rPr>
              <a:t>-</a:t>
            </a:r>
            <a:r>
              <a:rPr lang="ko-KR" altLang="en-US" b="1" dirty="0">
                <a:solidFill>
                  <a:schemeClr val="tx1"/>
                </a:solidFill>
                <a:latin typeface="Pretendard"/>
              </a:rPr>
              <a:t>식생</a:t>
            </a:r>
            <a:r>
              <a:rPr lang="en-US" altLang="ko-KR" b="1" dirty="0">
                <a:solidFill>
                  <a:schemeClr val="tx1"/>
                </a:solidFill>
                <a:latin typeface="Pretendard"/>
              </a:rPr>
              <a:t>-</a:t>
            </a:r>
            <a:r>
              <a:rPr lang="ko-KR" altLang="en-US" b="1" dirty="0">
                <a:solidFill>
                  <a:schemeClr val="tx1"/>
                </a:solidFill>
                <a:latin typeface="Pretendard"/>
              </a:rPr>
              <a:t>대기 상호작용 진단 및 개선점 도출</a:t>
            </a:r>
            <a:endParaRPr b="1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0F0D83-A0BE-8871-B8E3-F545EDEC163D}"/>
              </a:ext>
            </a:extLst>
          </p:cNvPr>
          <p:cNvSpPr txBox="1"/>
          <p:nvPr/>
        </p:nvSpPr>
        <p:spPr>
          <a:xfrm>
            <a:off x="15680131" y="4359400"/>
            <a:ext cx="405627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>
                <a:solidFill>
                  <a:srgbClr val="0F304B"/>
                </a:solidFill>
                <a:latin typeface="Pretendard"/>
              </a:rPr>
              <a:t>2029</a:t>
            </a:r>
          </a:p>
        </p:txBody>
      </p:sp>
      <p:sp>
        <p:nvSpPr>
          <p:cNvPr id="19" name="Rounded Rectangle 20">
            <a:extLst>
              <a:ext uri="{FF2B5EF4-FFF2-40B4-BE49-F238E27FC236}">
                <a16:creationId xmlns:a16="http://schemas.microsoft.com/office/drawing/2014/main" id="{64B42BD0-2C9D-2DBA-B875-2780CBF77A9A}"/>
              </a:ext>
            </a:extLst>
          </p:cNvPr>
          <p:cNvSpPr/>
          <p:nvPr/>
        </p:nvSpPr>
        <p:spPr>
          <a:xfrm>
            <a:off x="15513837" y="4743448"/>
            <a:ext cx="3705356" cy="105156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lang="ko-KR" altLang="en-US" b="1" dirty="0">
                <a:solidFill>
                  <a:schemeClr val="tx1"/>
                </a:solidFill>
                <a:latin typeface="Pretendard"/>
              </a:rPr>
              <a:t>해양기후 모델 지면</a:t>
            </a:r>
            <a:r>
              <a:rPr lang="en-US" altLang="ko-KR" b="1" dirty="0">
                <a:solidFill>
                  <a:schemeClr val="tx1"/>
                </a:solidFill>
                <a:latin typeface="Pretendard"/>
              </a:rPr>
              <a:t>-</a:t>
            </a:r>
            <a:r>
              <a:rPr lang="ko-KR" altLang="en-US" b="1" dirty="0">
                <a:solidFill>
                  <a:schemeClr val="tx1"/>
                </a:solidFill>
                <a:latin typeface="Pretendard"/>
              </a:rPr>
              <a:t>식생 물리과정</a:t>
            </a:r>
            <a:r>
              <a:rPr lang="en-US" altLang="ko-KR" b="1" dirty="0">
                <a:solidFill>
                  <a:schemeClr val="tx1"/>
                </a:solidFill>
                <a:latin typeface="Pretendard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latin typeface="Pretendard"/>
              </a:rPr>
              <a:t>유출모델 개선 및 고도화</a:t>
            </a:r>
            <a:endParaRPr b="1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68CB76-BBA3-14F2-D0C7-0D8D5E815481}"/>
              </a:ext>
            </a:extLst>
          </p:cNvPr>
          <p:cNvSpPr txBox="1"/>
          <p:nvPr/>
        </p:nvSpPr>
        <p:spPr>
          <a:xfrm>
            <a:off x="19901001" y="4359400"/>
            <a:ext cx="405627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>
                <a:solidFill>
                  <a:srgbClr val="0F304B"/>
                </a:solidFill>
                <a:latin typeface="Pretendard"/>
              </a:rPr>
              <a:t>2030</a:t>
            </a:r>
          </a:p>
        </p:txBody>
      </p:sp>
      <p:sp>
        <p:nvSpPr>
          <p:cNvPr id="21" name="Rounded Rectangle 22">
            <a:extLst>
              <a:ext uri="{FF2B5EF4-FFF2-40B4-BE49-F238E27FC236}">
                <a16:creationId xmlns:a16="http://schemas.microsoft.com/office/drawing/2014/main" id="{00E85A12-993B-050D-179F-5C9009D5B591}"/>
              </a:ext>
            </a:extLst>
          </p:cNvPr>
          <p:cNvSpPr/>
          <p:nvPr/>
        </p:nvSpPr>
        <p:spPr>
          <a:xfrm>
            <a:off x="19401529" y="4752593"/>
            <a:ext cx="3458471" cy="105156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lang="ko-KR" altLang="en-US" b="1" dirty="0">
                <a:solidFill>
                  <a:schemeClr val="tx1"/>
                </a:solidFill>
                <a:latin typeface="Pretendard"/>
              </a:rPr>
              <a:t>지면</a:t>
            </a:r>
            <a:r>
              <a:rPr lang="en-US" altLang="ko-KR" b="1" dirty="0">
                <a:solidFill>
                  <a:schemeClr val="tx1"/>
                </a:solidFill>
                <a:latin typeface="Pretendard"/>
              </a:rPr>
              <a:t>-</a:t>
            </a:r>
            <a:r>
              <a:rPr lang="ko-KR" altLang="en-US" b="1" dirty="0">
                <a:solidFill>
                  <a:schemeClr val="tx1"/>
                </a:solidFill>
                <a:latin typeface="Pretendard"/>
              </a:rPr>
              <a:t>해양 상호작용 전망 및 극한 기후 예측 성능 평가</a:t>
            </a:r>
            <a:endParaRPr b="1" dirty="0">
              <a:solidFill>
                <a:schemeClr val="tx1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7F908-2021-3976-6770-0D7B8D702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B9FCFAA0-4973-568A-67AD-4CDEAC5C1E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" t="29353" r="29889"/>
          <a:stretch/>
        </p:blipFill>
        <p:spPr>
          <a:xfrm rot="10800000">
            <a:off x="0" y="11912600"/>
            <a:ext cx="24384000" cy="18034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EC750FCF-B7CF-448F-3DAA-8C35A1F7D6DE}"/>
              </a:ext>
            </a:extLst>
          </p:cNvPr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975D8A3-18F7-F0AC-4CF5-13F00B59CFDC}"/>
              </a:ext>
            </a:extLst>
          </p:cNvPr>
          <p:cNvSpPr txBox="1"/>
          <p:nvPr/>
        </p:nvSpPr>
        <p:spPr>
          <a:xfrm>
            <a:off x="1219200" y="698500"/>
            <a:ext cx="17500600" cy="1308100"/>
          </a:xfrm>
          <a:prstGeom prst="rect">
            <a:avLst/>
          </a:prstGeom>
        </p:spPr>
        <p:txBody>
          <a:bodyPr lIns="0" tIns="97790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7333" b="0" i="0" u="none" strike="noStrike" dirty="0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전체계획</a:t>
            </a:r>
            <a:endParaRPr lang="en-US" sz="7333" b="0" i="0" u="none" strike="noStrike" dirty="0">
              <a:solidFill>
                <a:srgbClr val="1031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E6DB6A6-2A8B-DFC2-55BF-6DFCE0DEEAEC}"/>
              </a:ext>
            </a:extLst>
          </p:cNvPr>
          <p:cNvSpPr txBox="1"/>
          <p:nvPr/>
        </p:nvSpPr>
        <p:spPr>
          <a:xfrm>
            <a:off x="21170900" y="12674600"/>
            <a:ext cx="2679700" cy="571500"/>
          </a:xfrm>
          <a:prstGeom prst="rect">
            <a:avLst/>
          </a:prstGeom>
        </p:spPr>
        <p:txBody>
          <a:bodyPr lIns="0" tIns="43308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3247" b="0" i="0" u="none" strike="noStrike" cap="all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1C0B0D3F-CFA8-EF18-99E4-8BDB557C85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219200" y="2362200"/>
            <a:ext cx="22288500" cy="127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9904E6A8-1DF0-81AE-B29D-FE64BD281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2A8A6D2B-5FD7-E5B4-A31B-0120C3200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61600" y="863600"/>
            <a:ext cx="546100" cy="546100"/>
          </a:xfrm>
          <a:prstGeom prst="rect">
            <a:avLst/>
          </a:prstGeom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49417F93-686A-9C87-C4AB-73B852E5B0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111"/>
          <a:stretch/>
        </p:blipFill>
        <p:spPr>
          <a:xfrm rot="5400000">
            <a:off x="-374650" y="1212850"/>
            <a:ext cx="1028700" cy="279400"/>
          </a:xfrm>
          <a:prstGeom prst="rect">
            <a:avLst/>
          </a:prstGeom>
        </p:spPr>
      </p:pic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94E069FB-8039-8623-EEC7-C1C73BDEC399}"/>
              </a:ext>
            </a:extLst>
          </p:cNvPr>
          <p:cNvSpPr/>
          <p:nvPr/>
        </p:nvSpPr>
        <p:spPr>
          <a:xfrm>
            <a:off x="2819400" y="2797968"/>
            <a:ext cx="20188181" cy="1051560"/>
          </a:xfrm>
          <a:prstGeom prst="roundRect">
            <a:avLst>
              <a:gd name="adj" fmla="val 600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lang="en-US" sz="3200" b="1" dirty="0" err="1">
                <a:solidFill>
                  <a:schemeClr val="tx1"/>
                </a:solidFill>
                <a:latin typeface="Pretendard"/>
              </a:rPr>
              <a:t>차세대</a:t>
            </a:r>
            <a:r>
              <a:rPr lang="en-US" sz="3200" b="1" dirty="0">
                <a:solidFill>
                  <a:schemeClr val="tx1"/>
                </a:solidFill>
                <a:latin typeface="Pretendard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Pretendard"/>
              </a:rPr>
              <a:t>해양기후모델</a:t>
            </a:r>
            <a:r>
              <a:rPr lang="en-US" sz="3200" b="1" dirty="0">
                <a:solidFill>
                  <a:schemeClr val="tx1"/>
                </a:solidFill>
                <a:latin typeface="Pretendard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Pretendard"/>
              </a:rPr>
              <a:t>지면</a:t>
            </a:r>
            <a:r>
              <a:rPr lang="en-US" altLang="ko-KR" sz="3200" b="1" dirty="0">
                <a:solidFill>
                  <a:schemeClr val="tx1"/>
                </a:solidFill>
                <a:latin typeface="Pretendard"/>
              </a:rPr>
              <a:t>-</a:t>
            </a:r>
            <a:r>
              <a:rPr lang="ko-KR" altLang="en-US" sz="3200" b="1" dirty="0">
                <a:solidFill>
                  <a:schemeClr val="tx1"/>
                </a:solidFill>
                <a:latin typeface="Pretendard"/>
              </a:rPr>
              <a:t>식생모델 진단 및 개선</a:t>
            </a:r>
            <a:endParaRPr sz="3200" b="1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22" name="양쪽 모서리가 둥근 사각형 21">
            <a:extLst>
              <a:ext uri="{FF2B5EF4-FFF2-40B4-BE49-F238E27FC236}">
                <a16:creationId xmlns:a16="http://schemas.microsoft.com/office/drawing/2014/main" id="{01D5FAA0-84B4-9533-CD85-5748DF4F631F}"/>
              </a:ext>
            </a:extLst>
          </p:cNvPr>
          <p:cNvSpPr/>
          <p:nvPr/>
        </p:nvSpPr>
        <p:spPr>
          <a:xfrm>
            <a:off x="3713843" y="4603233"/>
            <a:ext cx="3673362" cy="892340"/>
          </a:xfrm>
          <a:prstGeom prst="round2SameRect">
            <a:avLst/>
          </a:prstGeom>
          <a:solidFill>
            <a:srgbClr val="5B9BD5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지면</a:t>
            </a:r>
            <a:r>
              <a:rPr kumimoji="1" lang="en-US" altLang="ko-KR" sz="1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-</a:t>
            </a:r>
            <a:r>
              <a:rPr kumimoji="1" lang="ko-KR" altLang="en-US" sz="1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식생모델 성능</a:t>
            </a:r>
            <a:r>
              <a:rPr kumimoji="1" lang="en-US" altLang="ko-KR" sz="1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,</a:t>
            </a:r>
            <a:br>
              <a:rPr kumimoji="1" lang="en-US" altLang="ko-KR" sz="1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</a:br>
            <a:r>
              <a:rPr kumimoji="1" lang="ko-KR" altLang="en-US" sz="1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해양영향 진단 체계 구축</a:t>
            </a:r>
          </a:p>
        </p:txBody>
      </p:sp>
      <p:sp>
        <p:nvSpPr>
          <p:cNvPr id="23" name="TextBox 43">
            <a:extLst>
              <a:ext uri="{FF2B5EF4-FFF2-40B4-BE49-F238E27FC236}">
                <a16:creationId xmlns:a16="http://schemas.microsoft.com/office/drawing/2014/main" id="{CD60BCBC-1CD6-66EE-C04B-AD86365E0567}"/>
              </a:ext>
            </a:extLst>
          </p:cNvPr>
          <p:cNvSpPr txBox="1"/>
          <p:nvPr/>
        </p:nvSpPr>
        <p:spPr>
          <a:xfrm>
            <a:off x="4660712" y="4073752"/>
            <a:ext cx="1779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400" b="1" i="1" dirty="0">
                <a:solidFill>
                  <a:prstClr val="black"/>
                </a:solidFill>
                <a:latin typeface="+mn-ea"/>
              </a:rPr>
              <a:t>2026</a:t>
            </a:r>
            <a:endParaRPr kumimoji="1" lang="ko-KR" altLang="en-US" sz="2400" b="1" i="1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25" name="직선 연결선 53">
            <a:extLst>
              <a:ext uri="{FF2B5EF4-FFF2-40B4-BE49-F238E27FC236}">
                <a16:creationId xmlns:a16="http://schemas.microsoft.com/office/drawing/2014/main" id="{257F941B-3DCA-5AB8-6A7A-DA8426B96B7E}"/>
              </a:ext>
            </a:extLst>
          </p:cNvPr>
          <p:cNvCxnSpPr>
            <a:cxnSpLocks/>
          </p:cNvCxnSpPr>
          <p:nvPr/>
        </p:nvCxnSpPr>
        <p:spPr>
          <a:xfrm>
            <a:off x="3746500" y="5791200"/>
            <a:ext cx="19524381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6" name="직선 연결선 54">
            <a:extLst>
              <a:ext uri="{FF2B5EF4-FFF2-40B4-BE49-F238E27FC236}">
                <a16:creationId xmlns:a16="http://schemas.microsoft.com/office/drawing/2014/main" id="{2BE6D448-FC66-E4AF-F0FC-E15B4D878084}"/>
              </a:ext>
            </a:extLst>
          </p:cNvPr>
          <p:cNvCxnSpPr>
            <a:cxnSpLocks/>
          </p:cNvCxnSpPr>
          <p:nvPr/>
        </p:nvCxnSpPr>
        <p:spPr>
          <a:xfrm>
            <a:off x="7387205" y="5556719"/>
            <a:ext cx="314581" cy="23448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BD29528-D200-F06B-42E7-61B00B67A05A}"/>
              </a:ext>
            </a:extLst>
          </p:cNvPr>
          <p:cNvSpPr/>
          <p:nvPr/>
        </p:nvSpPr>
        <p:spPr>
          <a:xfrm>
            <a:off x="3744012" y="7919314"/>
            <a:ext cx="3657704" cy="1571345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900" b="1" kern="0" dirty="0">
                <a:solidFill>
                  <a:sysClr val="windowText" lastClr="000000"/>
                </a:solidFill>
                <a:latin typeface="+mn-ea"/>
              </a:rPr>
              <a:t>1979-</a:t>
            </a: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현재 </a:t>
            </a:r>
            <a:r>
              <a:rPr kumimoji="1" lang="en-US" altLang="ko-KR" sz="1900" b="1" kern="0" dirty="0">
                <a:solidFill>
                  <a:sysClr val="windowText" lastClr="000000"/>
                </a:solidFill>
                <a:latin typeface="+mn-ea"/>
              </a:rPr>
              <a:t>offline </a:t>
            </a: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적분</a:t>
            </a:r>
            <a:r>
              <a:rPr kumimoji="1" lang="en-US" altLang="ko-KR" sz="1900" b="1" kern="0" dirty="0">
                <a:solidFill>
                  <a:sysClr val="windowText" lastClr="000000"/>
                </a:solidFill>
                <a:latin typeface="+mn-ea"/>
              </a:rPr>
              <a:t>,</a:t>
            </a:r>
            <a:br>
              <a:rPr kumimoji="1" lang="en-US" altLang="ko-KR" sz="1900" b="1" kern="0" dirty="0">
                <a:solidFill>
                  <a:sysClr val="windowText" lastClr="000000"/>
                </a:solidFill>
                <a:latin typeface="+mn-ea"/>
              </a:rPr>
            </a:b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토양수분</a:t>
            </a:r>
            <a:r>
              <a:rPr lang="en-US" altLang="ko-KR" sz="1900" b="1" dirty="0">
                <a:solidFill>
                  <a:prstClr val="black"/>
                </a:solidFill>
                <a:latin typeface="+mn-ea"/>
              </a:rPr>
              <a:t> · </a:t>
            </a: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온도 </a:t>
            </a:r>
            <a:r>
              <a:rPr lang="en-US" altLang="ko-KR" sz="1900" b="1" dirty="0">
                <a:solidFill>
                  <a:prstClr val="black"/>
                </a:solidFill>
                <a:latin typeface="+mn-ea"/>
              </a:rPr>
              <a:t>· </a:t>
            </a:r>
            <a:r>
              <a:rPr lang="ko-KR" altLang="en-US" sz="1900" b="1" dirty="0">
                <a:solidFill>
                  <a:prstClr val="black"/>
                </a:solidFill>
                <a:latin typeface="+mn-ea"/>
              </a:rPr>
              <a:t>식생</a:t>
            </a:r>
            <a:br>
              <a:rPr lang="en-US" altLang="ko-KR" sz="1900" b="1" dirty="0">
                <a:solidFill>
                  <a:prstClr val="black"/>
                </a:solidFill>
                <a:latin typeface="+mn-ea"/>
              </a:rPr>
            </a:br>
            <a:r>
              <a:rPr lang="ko-KR" altLang="en-US" sz="1900" b="1" dirty="0">
                <a:solidFill>
                  <a:prstClr val="black"/>
                </a:solidFill>
                <a:latin typeface="+mn-ea"/>
              </a:rPr>
              <a:t>기본 성능 진단</a:t>
            </a:r>
            <a:endParaRPr kumimoji="1" lang="en-US" altLang="ko-KR" sz="19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3" name="양쪽 모서리가 둥근 사각형 32">
            <a:extLst>
              <a:ext uri="{FF2B5EF4-FFF2-40B4-BE49-F238E27FC236}">
                <a16:creationId xmlns:a16="http://schemas.microsoft.com/office/drawing/2014/main" id="{11C134F3-63D4-8CE4-4F24-F7C1F79F1C24}"/>
              </a:ext>
            </a:extLst>
          </p:cNvPr>
          <p:cNvSpPr/>
          <p:nvPr/>
        </p:nvSpPr>
        <p:spPr>
          <a:xfrm>
            <a:off x="7618758" y="4594124"/>
            <a:ext cx="3673362" cy="892340"/>
          </a:xfrm>
          <a:prstGeom prst="round2SameRect">
            <a:avLst/>
          </a:prstGeom>
          <a:solidFill>
            <a:srgbClr val="5B9BD5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지면</a:t>
            </a:r>
            <a:r>
              <a:rPr kumimoji="0" lang="en-US" altLang="ko-KR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-</a:t>
            </a:r>
            <a:r>
              <a:rPr kumimoji="0" lang="ko-KR" altLang="en-US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식생모델 기후변화 민감도 실험 및 해양영향 진단</a:t>
            </a:r>
            <a:endParaRPr kumimoji="0" lang="en-US" altLang="ko-KR" sz="1900" b="1" i="0" u="none" strike="noStrike" kern="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4" name="양쪽 모서리가 둥근 사각형 33">
            <a:extLst>
              <a:ext uri="{FF2B5EF4-FFF2-40B4-BE49-F238E27FC236}">
                <a16:creationId xmlns:a16="http://schemas.microsoft.com/office/drawing/2014/main" id="{23B90B2B-1615-1A19-D300-79923B88E401}"/>
              </a:ext>
            </a:extLst>
          </p:cNvPr>
          <p:cNvSpPr/>
          <p:nvPr/>
        </p:nvSpPr>
        <p:spPr>
          <a:xfrm>
            <a:off x="11523673" y="4594124"/>
            <a:ext cx="3673362" cy="892340"/>
          </a:xfrm>
          <a:prstGeom prst="round2SameRect">
            <a:avLst/>
          </a:prstGeom>
          <a:solidFill>
            <a:srgbClr val="5B9BD5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CMIP7 </a:t>
            </a:r>
            <a:r>
              <a:rPr kumimoji="0" lang="ko-KR" altLang="en-US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실험 지면</a:t>
            </a:r>
            <a:r>
              <a:rPr kumimoji="0" lang="en-US" altLang="ko-KR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-</a:t>
            </a:r>
            <a:r>
              <a:rPr kumimoji="0" lang="ko-KR" altLang="en-US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식생</a:t>
            </a:r>
            <a:r>
              <a:rPr kumimoji="0" lang="en-US" altLang="ko-KR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-</a:t>
            </a:r>
            <a:r>
              <a:rPr kumimoji="0" lang="ko-KR" altLang="en-US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대기 상호작용 진단 및 개선점 도출</a:t>
            </a:r>
            <a:endParaRPr kumimoji="0" lang="en-US" altLang="ko-KR" sz="1900" b="1" i="0" u="none" strike="noStrike" kern="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5" name="TextBox 52">
            <a:extLst>
              <a:ext uri="{FF2B5EF4-FFF2-40B4-BE49-F238E27FC236}">
                <a16:creationId xmlns:a16="http://schemas.microsoft.com/office/drawing/2014/main" id="{867B2584-BE94-A4F5-2AAD-286764B513F1}"/>
              </a:ext>
            </a:extLst>
          </p:cNvPr>
          <p:cNvSpPr txBox="1"/>
          <p:nvPr/>
        </p:nvSpPr>
        <p:spPr>
          <a:xfrm>
            <a:off x="8565627" y="4075910"/>
            <a:ext cx="1779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400" b="1" i="1" dirty="0">
                <a:solidFill>
                  <a:prstClr val="black"/>
                </a:solidFill>
                <a:latin typeface="+mn-ea"/>
              </a:rPr>
              <a:t>2027</a:t>
            </a:r>
            <a:endParaRPr kumimoji="1" lang="ko-KR" altLang="en-US" sz="2400" b="1" i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6" name="TextBox 56">
            <a:extLst>
              <a:ext uri="{FF2B5EF4-FFF2-40B4-BE49-F238E27FC236}">
                <a16:creationId xmlns:a16="http://schemas.microsoft.com/office/drawing/2014/main" id="{44B0AE18-93AA-561E-2CDD-C41BE088D3F6}"/>
              </a:ext>
            </a:extLst>
          </p:cNvPr>
          <p:cNvSpPr txBox="1"/>
          <p:nvPr/>
        </p:nvSpPr>
        <p:spPr>
          <a:xfrm>
            <a:off x="12469777" y="4042482"/>
            <a:ext cx="1779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400" b="1" i="1" dirty="0">
                <a:solidFill>
                  <a:prstClr val="black"/>
                </a:solidFill>
                <a:latin typeface="+mn-ea"/>
              </a:rPr>
              <a:t>2028</a:t>
            </a:r>
            <a:endParaRPr kumimoji="1" lang="ko-KR" altLang="en-US" sz="2400" b="1" i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7FD86E5-7F12-6E2D-6F39-8D8FB38F653A}"/>
              </a:ext>
            </a:extLst>
          </p:cNvPr>
          <p:cNvSpPr/>
          <p:nvPr/>
        </p:nvSpPr>
        <p:spPr>
          <a:xfrm>
            <a:off x="3713843" y="5985809"/>
            <a:ext cx="3673359" cy="724760"/>
          </a:xfrm>
          <a:prstGeom prst="rect">
            <a:avLst/>
          </a:prstGeom>
          <a:solidFill>
            <a:srgbClr val="ED7D31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lnSpc>
                <a:spcPct val="102000"/>
              </a:lnSpc>
            </a:pPr>
            <a:r>
              <a:rPr lang="en" altLang="ko-KR" sz="1900" b="1" dirty="0">
                <a:solidFill>
                  <a:srgbClr val="3A2A12"/>
                </a:solidFill>
                <a:latin typeface="Pretendard"/>
              </a:rPr>
              <a:t>LSM (JULES·CLM5·Noah-MP·LM4+)</a:t>
            </a:r>
          </a:p>
          <a:p>
            <a:pPr algn="ctr">
              <a:lnSpc>
                <a:spcPct val="102000"/>
              </a:lnSpc>
            </a:pPr>
            <a:r>
              <a:rPr lang="ko-KR" altLang="en-US" sz="1900" b="1" dirty="0">
                <a:solidFill>
                  <a:srgbClr val="3A2A12"/>
                </a:solidFill>
                <a:latin typeface="Pretendard"/>
              </a:rPr>
              <a:t>오프라인 테스트베드 구축</a:t>
            </a:r>
          </a:p>
        </p:txBody>
      </p:sp>
      <p:sp>
        <p:nvSpPr>
          <p:cNvPr id="40" name="TextBox 59">
            <a:extLst>
              <a:ext uri="{FF2B5EF4-FFF2-40B4-BE49-F238E27FC236}">
                <a16:creationId xmlns:a16="http://schemas.microsoft.com/office/drawing/2014/main" id="{E8874B51-240D-FFB6-F072-587C67082183}"/>
              </a:ext>
            </a:extLst>
          </p:cNvPr>
          <p:cNvSpPr txBox="1"/>
          <p:nvPr/>
        </p:nvSpPr>
        <p:spPr>
          <a:xfrm>
            <a:off x="1320493" y="6448696"/>
            <a:ext cx="19567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2200" b="1" dirty="0">
                <a:solidFill>
                  <a:prstClr val="black"/>
                </a:solidFill>
                <a:latin typeface="+mn-ea"/>
              </a:rPr>
              <a:t>자료구축 및</a:t>
            </a:r>
            <a:br>
              <a:rPr lang="en-US" altLang="ko-KR" sz="2200" b="1" dirty="0">
                <a:solidFill>
                  <a:prstClr val="black"/>
                </a:solidFill>
                <a:latin typeface="+mn-ea"/>
              </a:rPr>
            </a:br>
            <a:r>
              <a:rPr lang="ko-KR" altLang="en-US" sz="2200" b="1" dirty="0">
                <a:solidFill>
                  <a:prstClr val="black"/>
                </a:solidFill>
                <a:latin typeface="+mn-ea"/>
              </a:rPr>
              <a:t>테스트베드</a:t>
            </a:r>
          </a:p>
        </p:txBody>
      </p:sp>
      <p:cxnSp>
        <p:nvCxnSpPr>
          <p:cNvPr id="41" name="직선 연결선 7">
            <a:extLst>
              <a:ext uri="{FF2B5EF4-FFF2-40B4-BE49-F238E27FC236}">
                <a16:creationId xmlns:a16="http://schemas.microsoft.com/office/drawing/2014/main" id="{6DF89116-8AAE-A593-CDC4-5EC504402AC1}"/>
              </a:ext>
            </a:extLst>
          </p:cNvPr>
          <p:cNvCxnSpPr>
            <a:cxnSpLocks/>
          </p:cNvCxnSpPr>
          <p:nvPr/>
        </p:nvCxnSpPr>
        <p:spPr>
          <a:xfrm>
            <a:off x="3505200" y="5981291"/>
            <a:ext cx="0" cy="1576886"/>
          </a:xfrm>
          <a:prstGeom prst="line">
            <a:avLst/>
          </a:prstGeom>
          <a:noFill/>
          <a:ln w="38100" cap="flat" cmpd="sng" algn="ctr">
            <a:solidFill>
              <a:srgbClr val="ED7D31">
                <a:lumMod val="60000"/>
                <a:lumOff val="40000"/>
              </a:srgbClr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cxnSp>
        <p:nvCxnSpPr>
          <p:cNvPr id="42" name="직선 연결선 61">
            <a:extLst>
              <a:ext uri="{FF2B5EF4-FFF2-40B4-BE49-F238E27FC236}">
                <a16:creationId xmlns:a16="http://schemas.microsoft.com/office/drawing/2014/main" id="{77BB58B6-964F-4A31-37B9-9430864215F9}"/>
              </a:ext>
            </a:extLst>
          </p:cNvPr>
          <p:cNvCxnSpPr>
            <a:cxnSpLocks/>
          </p:cNvCxnSpPr>
          <p:nvPr/>
        </p:nvCxnSpPr>
        <p:spPr>
          <a:xfrm>
            <a:off x="3505200" y="7933338"/>
            <a:ext cx="0" cy="1571345"/>
          </a:xfrm>
          <a:prstGeom prst="line">
            <a:avLst/>
          </a:prstGeom>
          <a:noFill/>
          <a:ln w="381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cxnSp>
        <p:nvCxnSpPr>
          <p:cNvPr id="43" name="직선 연결선 62">
            <a:extLst>
              <a:ext uri="{FF2B5EF4-FFF2-40B4-BE49-F238E27FC236}">
                <a16:creationId xmlns:a16="http://schemas.microsoft.com/office/drawing/2014/main" id="{66923D97-6398-97AE-2FA1-79D63FCAEA9A}"/>
              </a:ext>
            </a:extLst>
          </p:cNvPr>
          <p:cNvCxnSpPr>
            <a:cxnSpLocks/>
          </p:cNvCxnSpPr>
          <p:nvPr/>
        </p:nvCxnSpPr>
        <p:spPr>
          <a:xfrm>
            <a:off x="3505200" y="9963738"/>
            <a:ext cx="0" cy="1571345"/>
          </a:xfrm>
          <a:prstGeom prst="line">
            <a:avLst/>
          </a:prstGeom>
          <a:noFill/>
          <a:ln w="38100" cap="flat" cmpd="sng" algn="ctr">
            <a:solidFill>
              <a:srgbClr val="70AD47">
                <a:lumMod val="60000"/>
                <a:lumOff val="40000"/>
              </a:srgbClr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8F1920C-572C-72E6-1428-A3EF77ADE1C9}"/>
              </a:ext>
            </a:extLst>
          </p:cNvPr>
          <p:cNvSpPr/>
          <p:nvPr/>
        </p:nvSpPr>
        <p:spPr>
          <a:xfrm>
            <a:off x="11523673" y="5981288"/>
            <a:ext cx="3673362" cy="1576887"/>
          </a:xfrm>
          <a:prstGeom prst="rect">
            <a:avLst/>
          </a:prstGeom>
          <a:solidFill>
            <a:srgbClr val="ED7D31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900" b="1" kern="0" dirty="0">
                <a:solidFill>
                  <a:prstClr val="black"/>
                </a:solidFill>
                <a:latin typeface="+mn-ea"/>
              </a:rPr>
              <a:t>CMIP7 </a:t>
            </a:r>
            <a:r>
              <a:rPr kumimoji="1" lang="ko-KR" altLang="en-US" sz="1900" b="1" kern="0" dirty="0">
                <a:solidFill>
                  <a:prstClr val="black"/>
                </a:solidFill>
                <a:latin typeface="+mn-ea"/>
              </a:rPr>
              <a:t>시나리오 자료 </a:t>
            </a:r>
            <a:br>
              <a:rPr kumimoji="1" lang="en-US" altLang="ko-KR" sz="1900" b="1" kern="0" dirty="0">
                <a:solidFill>
                  <a:prstClr val="black"/>
                </a:solidFill>
                <a:latin typeface="+mn-ea"/>
              </a:rPr>
            </a:br>
            <a:r>
              <a:rPr kumimoji="1" lang="ko-KR" altLang="en-US" sz="1900" b="1" kern="0" dirty="0">
                <a:solidFill>
                  <a:prstClr val="black"/>
                </a:solidFill>
                <a:latin typeface="+mn-ea"/>
              </a:rPr>
              <a:t>확보</a:t>
            </a:r>
            <a:r>
              <a:rPr lang="en-US" altLang="ko-KR" sz="1900" b="1" dirty="0">
                <a:solidFill>
                  <a:prstClr val="black"/>
                </a:solidFill>
                <a:latin typeface="+mn-ea"/>
              </a:rPr>
              <a:t> ·</a:t>
            </a:r>
            <a:r>
              <a:rPr kumimoji="1" lang="ko-KR" altLang="en-US" sz="1900" b="1" kern="0" dirty="0">
                <a:solidFill>
                  <a:prstClr val="black"/>
                </a:solidFill>
                <a:latin typeface="+mn-ea"/>
              </a:rPr>
              <a:t> </a:t>
            </a:r>
            <a:r>
              <a:rPr kumimoji="1" lang="ko-KR" altLang="en-US" sz="1900" b="1" kern="0" dirty="0" err="1">
                <a:solidFill>
                  <a:prstClr val="black"/>
                </a:solidFill>
                <a:latin typeface="+mn-ea"/>
              </a:rPr>
              <a:t>전처리</a:t>
            </a:r>
            <a:r>
              <a:rPr kumimoji="1" lang="en-US" altLang="ko-KR" sz="1900" b="1" kern="0" dirty="0">
                <a:solidFill>
                  <a:prstClr val="black"/>
                </a:solidFill>
                <a:latin typeface="+mn-ea"/>
              </a:rPr>
              <a:t> </a:t>
            </a:r>
            <a:endParaRPr kumimoji="1" lang="ko-KR" altLang="en-US" sz="1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8" name="양쪽 모서리가 둥근 사각형 47">
            <a:extLst>
              <a:ext uri="{FF2B5EF4-FFF2-40B4-BE49-F238E27FC236}">
                <a16:creationId xmlns:a16="http://schemas.microsoft.com/office/drawing/2014/main" id="{22C0D614-36B9-D04E-092D-907290712E4F}"/>
              </a:ext>
            </a:extLst>
          </p:cNvPr>
          <p:cNvSpPr/>
          <p:nvPr/>
        </p:nvSpPr>
        <p:spPr>
          <a:xfrm>
            <a:off x="15428588" y="4586909"/>
            <a:ext cx="3673362" cy="892340"/>
          </a:xfrm>
          <a:prstGeom prst="round2SameRect">
            <a:avLst/>
          </a:prstGeom>
          <a:solidFill>
            <a:srgbClr val="5B9BD5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해양기후 모델 지면</a:t>
            </a:r>
            <a:r>
              <a:rPr kumimoji="0" lang="en-US" altLang="ko-KR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-</a:t>
            </a:r>
            <a:r>
              <a:rPr kumimoji="0" lang="ko-KR" altLang="en-US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식생 물리과정</a:t>
            </a:r>
            <a:r>
              <a:rPr kumimoji="0" lang="en-US" altLang="ko-KR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,</a:t>
            </a:r>
            <a:br>
              <a:rPr kumimoji="0" lang="en-US" altLang="ko-KR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</a:br>
            <a:r>
              <a:rPr kumimoji="0" lang="ko-KR" altLang="en-US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유출모델 개선 및 고도화</a:t>
            </a:r>
            <a:endParaRPr kumimoji="0" lang="en-US" altLang="ko-KR" sz="1900" b="1" i="0" u="none" strike="noStrike" kern="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9" name="양쪽 모서리가 둥근 사각형 48">
            <a:extLst>
              <a:ext uri="{FF2B5EF4-FFF2-40B4-BE49-F238E27FC236}">
                <a16:creationId xmlns:a16="http://schemas.microsoft.com/office/drawing/2014/main" id="{B6ACBD2D-A947-AD88-85FD-688699B8DF6F}"/>
              </a:ext>
            </a:extLst>
          </p:cNvPr>
          <p:cNvSpPr/>
          <p:nvPr/>
        </p:nvSpPr>
        <p:spPr>
          <a:xfrm>
            <a:off x="19334219" y="4583946"/>
            <a:ext cx="3673362" cy="892340"/>
          </a:xfrm>
          <a:prstGeom prst="round2SameRect">
            <a:avLst/>
          </a:prstGeom>
          <a:solidFill>
            <a:srgbClr val="5B9BD5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지면</a:t>
            </a:r>
            <a:r>
              <a:rPr kumimoji="0" lang="en-US" altLang="ko-KR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-</a:t>
            </a:r>
            <a:r>
              <a:rPr kumimoji="0" lang="ko-KR" altLang="en-US" sz="19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해양 상호작용 전망 및 극한 기후 예측 성능 평가</a:t>
            </a:r>
            <a:endParaRPr kumimoji="0" lang="en-US" altLang="ko-KR" sz="1900" b="1" i="0" u="none" strike="noStrike" kern="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0" name="TextBox 52">
            <a:extLst>
              <a:ext uri="{FF2B5EF4-FFF2-40B4-BE49-F238E27FC236}">
                <a16:creationId xmlns:a16="http://schemas.microsoft.com/office/drawing/2014/main" id="{D447FDE0-3955-D74E-D1C0-36452B6A94B1}"/>
              </a:ext>
            </a:extLst>
          </p:cNvPr>
          <p:cNvSpPr txBox="1"/>
          <p:nvPr/>
        </p:nvSpPr>
        <p:spPr>
          <a:xfrm>
            <a:off x="16373927" y="4068206"/>
            <a:ext cx="1779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400" b="1" i="1" dirty="0">
                <a:solidFill>
                  <a:prstClr val="black"/>
                </a:solidFill>
                <a:latin typeface="+mn-ea"/>
              </a:rPr>
              <a:t>2029</a:t>
            </a:r>
            <a:endParaRPr kumimoji="1" lang="ko-KR" altLang="en-US" sz="2400" b="1" i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1" name="TextBox 56">
            <a:extLst>
              <a:ext uri="{FF2B5EF4-FFF2-40B4-BE49-F238E27FC236}">
                <a16:creationId xmlns:a16="http://schemas.microsoft.com/office/drawing/2014/main" id="{7B5AE2BE-BC5C-1241-A914-DE8F4B31ACA9}"/>
              </a:ext>
            </a:extLst>
          </p:cNvPr>
          <p:cNvSpPr txBox="1"/>
          <p:nvPr/>
        </p:nvSpPr>
        <p:spPr>
          <a:xfrm>
            <a:off x="20278077" y="4047811"/>
            <a:ext cx="1779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400" b="1" i="1" dirty="0">
                <a:solidFill>
                  <a:prstClr val="black"/>
                </a:solidFill>
                <a:latin typeface="+mn-ea"/>
              </a:rPr>
              <a:t>2030</a:t>
            </a:r>
            <a:endParaRPr kumimoji="1" lang="ko-KR" altLang="en-US" sz="2400" b="1" i="1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67" name="직선 연결선 54">
            <a:extLst>
              <a:ext uri="{FF2B5EF4-FFF2-40B4-BE49-F238E27FC236}">
                <a16:creationId xmlns:a16="http://schemas.microsoft.com/office/drawing/2014/main" id="{3F83DEBD-C668-283B-29CC-B8E39AC069B7}"/>
              </a:ext>
            </a:extLst>
          </p:cNvPr>
          <p:cNvCxnSpPr>
            <a:cxnSpLocks/>
          </p:cNvCxnSpPr>
          <p:nvPr/>
        </p:nvCxnSpPr>
        <p:spPr>
          <a:xfrm>
            <a:off x="11292120" y="5563934"/>
            <a:ext cx="314581" cy="23448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</p:cxnSp>
      <p:cxnSp>
        <p:nvCxnSpPr>
          <p:cNvPr id="68" name="직선 연결선 54">
            <a:extLst>
              <a:ext uri="{FF2B5EF4-FFF2-40B4-BE49-F238E27FC236}">
                <a16:creationId xmlns:a16="http://schemas.microsoft.com/office/drawing/2014/main" id="{371D9E29-5E2D-E33D-9FB9-7DF186A93508}"/>
              </a:ext>
            </a:extLst>
          </p:cNvPr>
          <p:cNvCxnSpPr>
            <a:cxnSpLocks/>
          </p:cNvCxnSpPr>
          <p:nvPr/>
        </p:nvCxnSpPr>
        <p:spPr>
          <a:xfrm>
            <a:off x="15197035" y="5563934"/>
            <a:ext cx="314581" cy="23448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</p:cxnSp>
      <p:cxnSp>
        <p:nvCxnSpPr>
          <p:cNvPr id="69" name="직선 연결선 54">
            <a:extLst>
              <a:ext uri="{FF2B5EF4-FFF2-40B4-BE49-F238E27FC236}">
                <a16:creationId xmlns:a16="http://schemas.microsoft.com/office/drawing/2014/main" id="{F9BA61B4-CA18-3213-D47C-168FCE049836}"/>
              </a:ext>
            </a:extLst>
          </p:cNvPr>
          <p:cNvCxnSpPr>
            <a:cxnSpLocks/>
          </p:cNvCxnSpPr>
          <p:nvPr/>
        </p:nvCxnSpPr>
        <p:spPr>
          <a:xfrm>
            <a:off x="19101950" y="5563934"/>
            <a:ext cx="314581" cy="23448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</p:cxnSp>
      <p:cxnSp>
        <p:nvCxnSpPr>
          <p:cNvPr id="70" name="직선 연결선 54">
            <a:extLst>
              <a:ext uri="{FF2B5EF4-FFF2-40B4-BE49-F238E27FC236}">
                <a16:creationId xmlns:a16="http://schemas.microsoft.com/office/drawing/2014/main" id="{EED8AFA0-5A6B-99BD-C615-AA6AEDD6F992}"/>
              </a:ext>
            </a:extLst>
          </p:cNvPr>
          <p:cNvCxnSpPr>
            <a:cxnSpLocks/>
          </p:cNvCxnSpPr>
          <p:nvPr/>
        </p:nvCxnSpPr>
        <p:spPr>
          <a:xfrm>
            <a:off x="22956300" y="5563934"/>
            <a:ext cx="314581" cy="23448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90" name="TextBox 59">
            <a:extLst>
              <a:ext uri="{FF2B5EF4-FFF2-40B4-BE49-F238E27FC236}">
                <a16:creationId xmlns:a16="http://schemas.microsoft.com/office/drawing/2014/main" id="{0096DA11-C53E-28E9-9F82-194B68B05B9B}"/>
              </a:ext>
            </a:extLst>
          </p:cNvPr>
          <p:cNvSpPr txBox="1"/>
          <p:nvPr/>
        </p:nvSpPr>
        <p:spPr>
          <a:xfrm>
            <a:off x="1301208" y="8631624"/>
            <a:ext cx="19567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ko-KR" altLang="en-US" sz="2200" b="1" dirty="0">
                <a:solidFill>
                  <a:prstClr val="black"/>
                </a:solidFill>
                <a:latin typeface="+mn-ea"/>
              </a:rPr>
              <a:t>진단</a:t>
            </a:r>
            <a:r>
              <a:rPr lang="en-US" altLang="ko-KR" sz="2200" b="1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2200" b="1" dirty="0">
                <a:solidFill>
                  <a:prstClr val="black"/>
                </a:solidFill>
                <a:latin typeface="+mn-ea"/>
              </a:rPr>
              <a:t>민감도</a:t>
            </a:r>
          </a:p>
        </p:txBody>
      </p:sp>
      <p:sp>
        <p:nvSpPr>
          <p:cNvPr id="91" name="TextBox 59">
            <a:extLst>
              <a:ext uri="{FF2B5EF4-FFF2-40B4-BE49-F238E27FC236}">
                <a16:creationId xmlns:a16="http://schemas.microsoft.com/office/drawing/2014/main" id="{FB4B76E7-1A83-BE67-37C7-FBAB12E46551}"/>
              </a:ext>
            </a:extLst>
          </p:cNvPr>
          <p:cNvSpPr txBox="1"/>
          <p:nvPr/>
        </p:nvSpPr>
        <p:spPr>
          <a:xfrm>
            <a:off x="1048428" y="10533966"/>
            <a:ext cx="22288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ko-KR" altLang="en-US" sz="2200" b="1" dirty="0">
                <a:solidFill>
                  <a:prstClr val="black"/>
                </a:solidFill>
                <a:latin typeface="+mn-ea"/>
              </a:rPr>
              <a:t>모델개선</a:t>
            </a:r>
            <a:r>
              <a:rPr lang="en-US" altLang="ko-KR" sz="2200" b="1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2200" b="1" dirty="0">
                <a:solidFill>
                  <a:prstClr val="black"/>
                </a:solidFill>
                <a:latin typeface="+mn-ea"/>
              </a:rPr>
              <a:t>고도화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C51030B-CAAD-ADBA-77C8-C322AD0EE338}"/>
              </a:ext>
            </a:extLst>
          </p:cNvPr>
          <p:cNvSpPr/>
          <p:nvPr/>
        </p:nvSpPr>
        <p:spPr>
          <a:xfrm>
            <a:off x="3729498" y="6833417"/>
            <a:ext cx="3673359" cy="724760"/>
          </a:xfrm>
          <a:prstGeom prst="rect">
            <a:avLst/>
          </a:prstGeom>
          <a:solidFill>
            <a:srgbClr val="ED7D31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lnSpc>
                <a:spcPct val="102000"/>
              </a:lnSpc>
            </a:pPr>
            <a:r>
              <a:rPr lang="ko-KR" altLang="en-US" sz="1900" b="1" dirty="0">
                <a:solidFill>
                  <a:srgbClr val="3A2A12"/>
                </a:solidFill>
                <a:latin typeface="Pretendard"/>
              </a:rPr>
              <a:t>관측</a:t>
            </a:r>
            <a:r>
              <a:rPr lang="en-US" altLang="ko-KR" sz="1900" b="1" dirty="0">
                <a:solidFill>
                  <a:srgbClr val="3A2A12"/>
                </a:solidFill>
                <a:latin typeface="Pretendard"/>
              </a:rPr>
              <a:t>, </a:t>
            </a:r>
            <a:r>
              <a:rPr lang="ko-KR" altLang="en-US" sz="1900" b="1" dirty="0">
                <a:solidFill>
                  <a:srgbClr val="3A2A12"/>
                </a:solidFill>
                <a:latin typeface="Pretendard"/>
              </a:rPr>
              <a:t>재분석</a:t>
            </a:r>
            <a:r>
              <a:rPr lang="en-US" altLang="ko-KR" sz="1900" b="1" dirty="0">
                <a:solidFill>
                  <a:srgbClr val="3A2A12"/>
                </a:solidFill>
                <a:latin typeface="Pretendard"/>
              </a:rPr>
              <a:t>, </a:t>
            </a:r>
            <a:r>
              <a:rPr lang="ko-KR" altLang="en-US" sz="1900" b="1" dirty="0" err="1">
                <a:solidFill>
                  <a:srgbClr val="3A2A12"/>
                </a:solidFill>
                <a:latin typeface="Pretendard"/>
              </a:rPr>
              <a:t>기후프록시</a:t>
            </a:r>
            <a:r>
              <a:rPr lang="ko-KR" altLang="en-US" sz="1900" b="1" dirty="0">
                <a:solidFill>
                  <a:srgbClr val="3A2A12"/>
                </a:solidFill>
                <a:latin typeface="Pretendard"/>
              </a:rPr>
              <a:t> 자료</a:t>
            </a:r>
            <a:br>
              <a:rPr lang="en-US" altLang="ko-KR" sz="1900" b="1" dirty="0">
                <a:solidFill>
                  <a:srgbClr val="3A2A12"/>
                </a:solidFill>
                <a:latin typeface="Pretendard"/>
              </a:rPr>
            </a:br>
            <a:r>
              <a:rPr lang="ko-KR" altLang="en-US" sz="1900" b="1" dirty="0">
                <a:solidFill>
                  <a:srgbClr val="3A2A12"/>
                </a:solidFill>
                <a:latin typeface="Pretendard"/>
              </a:rPr>
              <a:t> </a:t>
            </a:r>
            <a:r>
              <a:rPr lang="en-US" altLang="ko-KR" sz="1900" b="1" dirty="0">
                <a:solidFill>
                  <a:srgbClr val="3A2A12"/>
                </a:solidFill>
                <a:latin typeface="Pretendard"/>
              </a:rPr>
              <a:t>DB </a:t>
            </a:r>
            <a:r>
              <a:rPr lang="ko-KR" altLang="en-US" sz="1900" b="1" dirty="0">
                <a:solidFill>
                  <a:srgbClr val="3A2A12"/>
                </a:solidFill>
                <a:latin typeface="Pretendard"/>
              </a:rPr>
              <a:t>구축 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F59BE174-E354-450F-ED46-CD9A71B349F8}"/>
              </a:ext>
            </a:extLst>
          </p:cNvPr>
          <p:cNvSpPr/>
          <p:nvPr/>
        </p:nvSpPr>
        <p:spPr>
          <a:xfrm>
            <a:off x="7618758" y="7940881"/>
            <a:ext cx="3657704" cy="724760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지면 식생 모델의 산업화이후 장기 민감도 실험</a:t>
            </a:r>
            <a:endParaRPr kumimoji="1" lang="en-US" altLang="ko-KR" sz="19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4F0451C-A2D7-D50C-A8FC-7CE84C88103D}"/>
              </a:ext>
            </a:extLst>
          </p:cNvPr>
          <p:cNvSpPr/>
          <p:nvPr/>
        </p:nvSpPr>
        <p:spPr>
          <a:xfrm>
            <a:off x="7618758" y="8770584"/>
            <a:ext cx="3657704" cy="74718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결합강도</a:t>
            </a:r>
            <a:r>
              <a:rPr lang="en-US" altLang="ko-KR" sz="1900" b="1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900" b="1" dirty="0">
                <a:solidFill>
                  <a:prstClr val="black"/>
                </a:solidFill>
                <a:latin typeface="+mn-ea"/>
              </a:rPr>
              <a:t>수문</a:t>
            </a:r>
            <a:r>
              <a:rPr lang="en-US" altLang="ko-KR" sz="1900" b="1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900" b="1" dirty="0">
                <a:solidFill>
                  <a:prstClr val="black"/>
                </a:solidFill>
                <a:latin typeface="+mn-ea"/>
              </a:rPr>
              <a:t>유출 민감도</a:t>
            </a:r>
            <a:r>
              <a:rPr lang="en-US" altLang="ko-KR" sz="1900" b="1" dirty="0">
                <a:solidFill>
                  <a:prstClr val="black"/>
                </a:solidFill>
                <a:latin typeface="+mn-ea"/>
              </a:rPr>
              <a:t> /</a:t>
            </a:r>
            <a:br>
              <a:rPr lang="en-US" altLang="ko-KR" sz="1900" b="1" dirty="0">
                <a:solidFill>
                  <a:prstClr val="black"/>
                </a:solidFill>
                <a:latin typeface="+mn-ea"/>
              </a:rPr>
            </a:br>
            <a:r>
              <a:rPr lang="ko-KR" altLang="en-US" sz="1900" b="1" dirty="0">
                <a:solidFill>
                  <a:prstClr val="black"/>
                </a:solidFill>
                <a:latin typeface="+mn-ea"/>
              </a:rPr>
              <a:t>관측대비 구조오차 진단</a:t>
            </a:r>
            <a:endParaRPr kumimoji="1" lang="en-US" altLang="ko-KR" sz="19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D2A3779-20FC-78AD-CEF9-829B7B270691}"/>
              </a:ext>
            </a:extLst>
          </p:cNvPr>
          <p:cNvSpPr/>
          <p:nvPr/>
        </p:nvSpPr>
        <p:spPr>
          <a:xfrm>
            <a:off x="11523673" y="7920456"/>
            <a:ext cx="3657704" cy="1570203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900" b="1" kern="0" dirty="0">
                <a:solidFill>
                  <a:sysClr val="windowText" lastClr="000000"/>
                </a:solidFill>
                <a:latin typeface="+mn-ea"/>
              </a:rPr>
              <a:t>CMIP7 </a:t>
            </a: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지면</a:t>
            </a:r>
            <a:r>
              <a:rPr lang="en-US" altLang="ko-KR" sz="1900" b="1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900" b="1" dirty="0">
                <a:solidFill>
                  <a:prstClr val="black"/>
                </a:solidFill>
                <a:latin typeface="+mn-ea"/>
              </a:rPr>
              <a:t>대기 상호작용 및 </a:t>
            </a:r>
            <a:endParaRPr lang="en-US" altLang="ko-KR" sz="1900" b="1" dirty="0">
              <a:solidFill>
                <a:prstClr val="black"/>
              </a:solidFill>
              <a:latin typeface="+mn-ea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900" b="1" dirty="0">
                <a:solidFill>
                  <a:prstClr val="black"/>
                </a:solidFill>
                <a:latin typeface="+mn-ea"/>
              </a:rPr>
              <a:t> 해양영향 진단</a:t>
            </a:r>
            <a:endParaRPr kumimoji="1" lang="en-US" altLang="ko-KR" sz="19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AFCA5864-063F-87F5-A7F8-689D7C5861E5}"/>
              </a:ext>
            </a:extLst>
          </p:cNvPr>
          <p:cNvSpPr/>
          <p:nvPr/>
        </p:nvSpPr>
        <p:spPr>
          <a:xfrm>
            <a:off x="15428588" y="9940899"/>
            <a:ext cx="3635935" cy="732737"/>
          </a:xfrm>
          <a:prstGeom prst="rect">
            <a:avLst/>
          </a:prstGeom>
          <a:solidFill>
            <a:srgbClr val="70AD47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해양기후시스템</a:t>
            </a:r>
            <a:br>
              <a:rPr kumimoji="1" lang="en-US" altLang="ko-KR" sz="1900" b="1" kern="0" dirty="0">
                <a:solidFill>
                  <a:sysClr val="windowText" lastClr="000000"/>
                </a:solidFill>
                <a:latin typeface="+mn-ea"/>
              </a:rPr>
            </a:b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토양</a:t>
            </a:r>
            <a:r>
              <a:rPr lang="en-US" altLang="ko-KR" sz="1900" b="1" dirty="0"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수문 물리과정 업데이트</a:t>
            </a:r>
            <a:endParaRPr kumimoji="1" lang="ko-KR" altLang="en-US" sz="19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B1084363-1697-8C2C-CC90-460279F6F3A7}"/>
              </a:ext>
            </a:extLst>
          </p:cNvPr>
          <p:cNvSpPr/>
          <p:nvPr/>
        </p:nvSpPr>
        <p:spPr>
          <a:xfrm>
            <a:off x="15428588" y="10775882"/>
            <a:ext cx="7541566" cy="732737"/>
          </a:xfrm>
          <a:prstGeom prst="rect">
            <a:avLst/>
          </a:prstGeom>
          <a:solidFill>
            <a:srgbClr val="70AD47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rPr>
              <a:t>물리과정 </a:t>
            </a:r>
            <a:r>
              <a:rPr kumimoji="1" lang="en-US" altLang="ko-KR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rPr>
              <a:t>AI </a:t>
            </a:r>
            <a:r>
              <a:rPr kumimoji="1" lang="ko-KR" altLang="en-US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rPr>
              <a:t>에뮬레이터 적용 시도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622F5B08-C7B7-6F31-0C71-279EBFAC8D53}"/>
              </a:ext>
            </a:extLst>
          </p:cNvPr>
          <p:cNvSpPr/>
          <p:nvPr/>
        </p:nvSpPr>
        <p:spPr>
          <a:xfrm>
            <a:off x="19334219" y="9940899"/>
            <a:ext cx="3635935" cy="732737"/>
          </a:xfrm>
          <a:prstGeom prst="rect">
            <a:avLst/>
          </a:prstGeom>
          <a:solidFill>
            <a:srgbClr val="70AD47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rPr>
              <a:t>역학식생 모델 업데이트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B594410B-CB06-5BAE-B060-9C8994EC8DB5}"/>
              </a:ext>
            </a:extLst>
          </p:cNvPr>
          <p:cNvSpPr/>
          <p:nvPr/>
        </p:nvSpPr>
        <p:spPr>
          <a:xfrm>
            <a:off x="19334217" y="7948095"/>
            <a:ext cx="3635935" cy="717545"/>
          </a:xfrm>
          <a:prstGeom prst="rect">
            <a:avLst/>
          </a:prstGeom>
          <a:solidFill>
            <a:srgbClr val="FFE699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극한 기후</a:t>
            </a:r>
            <a:r>
              <a:rPr kumimoji="1" lang="en-US" altLang="ko-KR" sz="1900" b="1" kern="0" dirty="0">
                <a:solidFill>
                  <a:sysClr val="windowText" lastClr="000000"/>
                </a:solidFill>
                <a:latin typeface="+mn-ea"/>
              </a:rPr>
              <a:t> </a:t>
            </a: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예측 성능 평가</a:t>
            </a:r>
            <a:br>
              <a:rPr kumimoji="1" lang="en-US" altLang="ko-KR" sz="1900" b="1" kern="0" dirty="0">
                <a:solidFill>
                  <a:sysClr val="windowText" lastClr="000000"/>
                </a:solidFill>
                <a:latin typeface="+mn-ea"/>
              </a:rPr>
            </a:br>
            <a:r>
              <a:rPr kumimoji="1" lang="en-US" altLang="ko-KR" sz="1900" b="1" kern="0" dirty="0">
                <a:solidFill>
                  <a:sysClr val="windowText" lastClr="000000"/>
                </a:solidFill>
                <a:latin typeface="+mn-ea"/>
              </a:rPr>
              <a:t>(</a:t>
            </a: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지면 기원 극한기후</a:t>
            </a:r>
            <a:r>
              <a:rPr kumimoji="1" lang="en-US" altLang="ko-KR" sz="1900" b="1" kern="0" dirty="0">
                <a:solidFill>
                  <a:sysClr val="windowText" lastClr="000000"/>
                </a:solidFill>
                <a:latin typeface="+mn-ea"/>
              </a:rPr>
              <a:t>)</a:t>
            </a:r>
            <a:endParaRPr kumimoji="1" lang="en-US" altLang="ko-KR" sz="19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4C75D08C-CB1A-AB96-370C-74A07A45B17D}"/>
              </a:ext>
            </a:extLst>
          </p:cNvPr>
          <p:cNvSpPr/>
          <p:nvPr/>
        </p:nvSpPr>
        <p:spPr>
          <a:xfrm>
            <a:off x="11534557" y="9908295"/>
            <a:ext cx="3635935" cy="1636005"/>
          </a:xfrm>
          <a:prstGeom prst="rect">
            <a:avLst/>
          </a:prstGeom>
          <a:solidFill>
            <a:srgbClr val="70AD47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해양기후시스템 지면</a:t>
            </a:r>
            <a:r>
              <a:rPr kumimoji="1" lang="en-US" altLang="ko-KR" sz="1900" b="1" kern="0" dirty="0">
                <a:solidFill>
                  <a:sysClr val="windowText" lastClr="000000"/>
                </a:solidFill>
                <a:latin typeface="+mn-ea"/>
              </a:rPr>
              <a:t>-</a:t>
            </a:r>
            <a:r>
              <a:rPr kumimoji="1" lang="ko-KR" altLang="en-US" sz="1900" b="1" kern="0" dirty="0">
                <a:solidFill>
                  <a:sysClr val="windowText" lastClr="000000"/>
                </a:solidFill>
                <a:latin typeface="+mn-ea"/>
              </a:rPr>
              <a:t>식생 모델 및 담수 유출 개선점 도출</a:t>
            </a:r>
            <a:endParaRPr kumimoji="1" lang="en-US" altLang="ko-KR" sz="19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77C0E93E-E23D-B0DF-300F-9E097683F6A7}"/>
              </a:ext>
            </a:extLst>
          </p:cNvPr>
          <p:cNvSpPr/>
          <p:nvPr/>
        </p:nvSpPr>
        <p:spPr>
          <a:xfrm>
            <a:off x="15428591" y="5985808"/>
            <a:ext cx="3673359" cy="1572365"/>
          </a:xfrm>
          <a:prstGeom prst="rect">
            <a:avLst/>
          </a:prstGeom>
          <a:solidFill>
            <a:srgbClr val="ED7D31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lnSpc>
                <a:spcPct val="102000"/>
              </a:lnSpc>
            </a:pPr>
            <a:r>
              <a:rPr lang="ko-KR" altLang="en-US" sz="1900" b="1" dirty="0">
                <a:solidFill>
                  <a:srgbClr val="3A2A12"/>
                </a:solidFill>
                <a:latin typeface="Pretendard"/>
              </a:rPr>
              <a:t>물리과정 </a:t>
            </a:r>
            <a:r>
              <a:rPr lang="en-US" altLang="ko-KR" sz="1900" b="1" dirty="0">
                <a:solidFill>
                  <a:srgbClr val="3A2A12"/>
                </a:solidFill>
                <a:latin typeface="Pretendard"/>
              </a:rPr>
              <a:t>AI </a:t>
            </a:r>
            <a:r>
              <a:rPr lang="ko-KR" altLang="en-US" sz="1900" b="1" dirty="0">
                <a:solidFill>
                  <a:srgbClr val="3A2A12"/>
                </a:solidFill>
                <a:latin typeface="Pretendard"/>
              </a:rPr>
              <a:t>에뮬레이터 구축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A598F77D-F6C0-9143-FFA7-4EC58D7272E8}"/>
              </a:ext>
            </a:extLst>
          </p:cNvPr>
          <p:cNvSpPr/>
          <p:nvPr/>
        </p:nvSpPr>
        <p:spPr>
          <a:xfrm>
            <a:off x="19334218" y="8766080"/>
            <a:ext cx="3635935" cy="747183"/>
          </a:xfrm>
          <a:prstGeom prst="rect">
            <a:avLst/>
          </a:prstGeom>
          <a:solidFill>
            <a:srgbClr val="FFE699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rPr>
              <a:t>미래 시나리오 기반 지면</a:t>
            </a:r>
            <a:r>
              <a:rPr kumimoji="1" lang="en-US" altLang="ko-KR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rPr>
              <a:t>-</a:t>
            </a:r>
            <a:r>
              <a:rPr kumimoji="1" lang="ko-KR" altLang="en-US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rPr>
              <a:t>해양 상호작용 영향 평가</a:t>
            </a:r>
            <a:endParaRPr kumimoji="1" lang="en-US" altLang="ko-KR" sz="19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774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C9EC0384-6A89-010E-2491-33FDC5FF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" t="29353" r="29889"/>
          <a:stretch/>
        </p:blipFill>
        <p:spPr>
          <a:xfrm rot="10800000">
            <a:off x="0" y="11912600"/>
            <a:ext cx="24384000" cy="1803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698500"/>
            <a:ext cx="17500600" cy="1308100"/>
          </a:xfrm>
          <a:prstGeom prst="rect">
            <a:avLst/>
          </a:prstGeom>
        </p:spPr>
        <p:txBody>
          <a:bodyPr lIns="0" tIns="97790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800" b="0" i="0" u="none" strike="noStrike" dirty="0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연차별 상세 연구 내용 (5개년 로드맵)</a:t>
            </a:r>
            <a:endParaRPr lang="en-US" sz="7333" b="0" i="0" u="none" strike="noStrike" dirty="0">
              <a:solidFill>
                <a:srgbClr val="1031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1170900" y="12674600"/>
            <a:ext cx="2679700" cy="571500"/>
          </a:xfrm>
          <a:prstGeom prst="rect">
            <a:avLst/>
          </a:prstGeom>
        </p:spPr>
        <p:txBody>
          <a:bodyPr lIns="0" tIns="43308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3247" b="0" i="0" u="none" strike="noStrike" cap="all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219200" y="2362200"/>
            <a:ext cx="222885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61600" y="863600"/>
            <a:ext cx="546100" cy="546100"/>
          </a:xfrm>
          <a:prstGeom prst="rect">
            <a:avLst/>
          </a:prstGeom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D4F7C712-EF28-4ACD-B069-149B9A47E6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111"/>
          <a:stretch/>
        </p:blipFill>
        <p:spPr>
          <a:xfrm rot="5400000">
            <a:off x="-374650" y="1212850"/>
            <a:ext cx="1028700" cy="279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200045" y="2466340"/>
            <a:ext cx="16326810" cy="1051560"/>
          </a:xfrm>
          <a:prstGeom prst="roundRect">
            <a:avLst>
              <a:gd name="adj" fmla="val 600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2200" b="1" dirty="0" err="1">
                <a:solidFill>
                  <a:schemeClr val="tx1"/>
                </a:solidFill>
                <a:latin typeface="Pretendard"/>
              </a:rPr>
              <a:t>지면-식생-대기-해양</a:t>
            </a:r>
            <a:r>
              <a:rPr sz="2200" b="1" dirty="0">
                <a:solidFill>
                  <a:schemeClr val="tx1"/>
                </a:solidFill>
                <a:latin typeface="Pretendard"/>
              </a:rPr>
              <a:t> </a:t>
            </a:r>
            <a:r>
              <a:rPr sz="2200" b="1" dirty="0" err="1">
                <a:solidFill>
                  <a:schemeClr val="tx1"/>
                </a:solidFill>
                <a:latin typeface="Pretendard"/>
              </a:rPr>
              <a:t>상호작용을</a:t>
            </a:r>
            <a:r>
              <a:rPr sz="2200" b="1" dirty="0">
                <a:solidFill>
                  <a:schemeClr val="tx1"/>
                </a:solidFill>
                <a:latin typeface="Pretendard"/>
              </a:rPr>
              <a:t> </a:t>
            </a:r>
            <a:r>
              <a:rPr sz="2200" b="1" dirty="0" err="1">
                <a:solidFill>
                  <a:schemeClr val="tx1"/>
                </a:solidFill>
                <a:latin typeface="Pretendard"/>
              </a:rPr>
              <a:t>진단·개선하여</a:t>
            </a:r>
            <a:endParaRPr sz="2200" b="1" dirty="0">
              <a:solidFill>
                <a:schemeClr val="tx1"/>
              </a:solidFill>
              <a:latin typeface="Pretendard"/>
            </a:endParaRPr>
          </a:p>
          <a:p>
            <a:pPr algn="ctr">
              <a:lnSpc>
                <a:spcPct val="102000"/>
              </a:lnSpc>
            </a:pPr>
            <a:r>
              <a:rPr sz="2200" b="1" dirty="0" err="1">
                <a:solidFill>
                  <a:schemeClr val="tx1"/>
                </a:solidFill>
                <a:latin typeface="Pretendard"/>
              </a:rPr>
              <a:t>차세대</a:t>
            </a:r>
            <a:r>
              <a:rPr sz="2200" b="1" dirty="0">
                <a:solidFill>
                  <a:schemeClr val="tx1"/>
                </a:solidFill>
                <a:latin typeface="Pretendard"/>
              </a:rPr>
              <a:t> </a:t>
            </a:r>
            <a:r>
              <a:rPr sz="2200" b="1" dirty="0" err="1">
                <a:solidFill>
                  <a:schemeClr val="tx1"/>
                </a:solidFill>
                <a:latin typeface="Pretendard"/>
              </a:rPr>
              <a:t>해양기후모델의</a:t>
            </a:r>
            <a:r>
              <a:rPr sz="2200" b="1" dirty="0">
                <a:solidFill>
                  <a:schemeClr val="tx1"/>
                </a:solidFill>
                <a:latin typeface="Pretendard"/>
              </a:rPr>
              <a:t> </a:t>
            </a:r>
            <a:r>
              <a:rPr sz="2200" b="1" dirty="0" err="1">
                <a:solidFill>
                  <a:schemeClr val="tx1"/>
                </a:solidFill>
                <a:latin typeface="Pretendard"/>
              </a:rPr>
              <a:t>한반도</a:t>
            </a:r>
            <a:r>
              <a:rPr sz="2200" b="1" dirty="0">
                <a:solidFill>
                  <a:schemeClr val="tx1"/>
                </a:solidFill>
                <a:latin typeface="Pretendard"/>
              </a:rPr>
              <a:t> </a:t>
            </a:r>
            <a:r>
              <a:rPr sz="2200" b="1" dirty="0" err="1">
                <a:solidFill>
                  <a:schemeClr val="tx1"/>
                </a:solidFill>
                <a:latin typeface="Pretendard"/>
              </a:rPr>
              <a:t>주변</a:t>
            </a:r>
            <a:r>
              <a:rPr sz="2200" b="1" dirty="0">
                <a:solidFill>
                  <a:schemeClr val="tx1"/>
                </a:solidFill>
                <a:latin typeface="Pretendard"/>
              </a:rPr>
              <a:t> </a:t>
            </a:r>
            <a:r>
              <a:rPr sz="2200" b="1" dirty="0" err="1">
                <a:solidFill>
                  <a:schemeClr val="tx1"/>
                </a:solidFill>
                <a:latin typeface="Pretendard"/>
              </a:rPr>
              <a:t>기후모의</a:t>
            </a:r>
            <a:r>
              <a:rPr sz="2200" b="1" dirty="0">
                <a:solidFill>
                  <a:schemeClr val="tx1"/>
                </a:solidFill>
                <a:latin typeface="Pretendard"/>
              </a:rPr>
              <a:t> </a:t>
            </a:r>
            <a:r>
              <a:rPr sz="2200" b="1" dirty="0" err="1">
                <a:solidFill>
                  <a:schemeClr val="tx1"/>
                </a:solidFill>
                <a:latin typeface="Pretendard"/>
              </a:rPr>
              <a:t>성능</a:t>
            </a:r>
            <a:r>
              <a:rPr sz="2200" b="1" dirty="0">
                <a:solidFill>
                  <a:schemeClr val="tx1"/>
                </a:solidFill>
                <a:latin typeface="Pretendard"/>
              </a:rPr>
              <a:t> </a:t>
            </a:r>
            <a:r>
              <a:rPr sz="2200" b="1" dirty="0" err="1">
                <a:solidFill>
                  <a:schemeClr val="tx1"/>
                </a:solidFill>
                <a:latin typeface="Pretendard"/>
              </a:rPr>
              <a:t>향상</a:t>
            </a:r>
            <a:endParaRPr sz="2200" b="1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17520" y="3675887"/>
            <a:ext cx="405627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>
                <a:solidFill>
                  <a:srgbClr val="0F304B"/>
                </a:solidFill>
                <a:latin typeface="Pretendard"/>
              </a:rPr>
              <a:t>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069080"/>
            <a:ext cx="4056278" cy="1051560"/>
          </a:xfrm>
          <a:prstGeom prst="roundRect">
            <a:avLst>
              <a:gd name="adj" fmla="val 1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600" b="1" dirty="0" err="1">
                <a:solidFill>
                  <a:srgbClr val="FFFFFF"/>
                </a:solidFill>
                <a:latin typeface="Pretendard"/>
              </a:rPr>
              <a:t>진단</a:t>
            </a:r>
            <a:r>
              <a:rPr sz="16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Pretendard"/>
              </a:rPr>
              <a:t>체계</a:t>
            </a:r>
            <a:r>
              <a:rPr sz="16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Pretendard"/>
              </a:rPr>
              <a:t>구축</a:t>
            </a:r>
            <a:endParaRPr sz="16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38390" y="3675887"/>
            <a:ext cx="405627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>
                <a:solidFill>
                  <a:srgbClr val="0F304B"/>
                </a:solidFill>
                <a:latin typeface="Pretendard"/>
              </a:rPr>
              <a:t>2027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8390" y="4069080"/>
            <a:ext cx="4056278" cy="1051560"/>
          </a:xfrm>
          <a:prstGeom prst="roundRect">
            <a:avLst>
              <a:gd name="adj" fmla="val 1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600" b="1">
                <a:solidFill>
                  <a:srgbClr val="FFFFFF"/>
                </a:solidFill>
                <a:latin typeface="Pretendard"/>
              </a:rPr>
              <a:t>기후변화 민감도</a:t>
            </a:r>
          </a:p>
          <a:p>
            <a:pPr algn="ctr">
              <a:lnSpc>
                <a:spcPct val="102000"/>
              </a:lnSpc>
            </a:pPr>
            <a:r>
              <a:rPr sz="1600" b="1">
                <a:solidFill>
                  <a:srgbClr val="FFFFFF"/>
                </a:solidFill>
                <a:latin typeface="Pretendard"/>
              </a:rPr>
              <a:t>· 구조오차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9260" y="3675887"/>
            <a:ext cx="405627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>
                <a:solidFill>
                  <a:srgbClr val="0F304B"/>
                </a:solidFill>
                <a:latin typeface="Pretendard"/>
              </a:rPr>
              <a:t>2028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59260" y="4069080"/>
            <a:ext cx="4056278" cy="1051560"/>
          </a:xfrm>
          <a:prstGeom prst="roundRect">
            <a:avLst>
              <a:gd name="adj" fmla="val 1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600" b="1">
                <a:solidFill>
                  <a:srgbClr val="FFFFFF"/>
                </a:solidFill>
                <a:latin typeface="Pretendard"/>
              </a:rPr>
              <a:t>CMIP7 상호작용</a:t>
            </a:r>
          </a:p>
          <a:p>
            <a:pPr algn="ctr">
              <a:lnSpc>
                <a:spcPct val="102000"/>
              </a:lnSpc>
            </a:pPr>
            <a:r>
              <a:rPr sz="1600" b="1">
                <a:solidFill>
                  <a:srgbClr val="FFFFFF"/>
                </a:solidFill>
                <a:latin typeface="Pretendard"/>
              </a:rPr>
              <a:t>진단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80131" y="3675887"/>
            <a:ext cx="405627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>
                <a:solidFill>
                  <a:srgbClr val="0F304B"/>
                </a:solidFill>
                <a:latin typeface="Pretendard"/>
              </a:rPr>
              <a:t>2029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680131" y="4069080"/>
            <a:ext cx="4056278" cy="1051560"/>
          </a:xfrm>
          <a:prstGeom prst="roundRect">
            <a:avLst>
              <a:gd name="adj" fmla="val 1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600" b="1">
                <a:solidFill>
                  <a:srgbClr val="FFFFFF"/>
                </a:solidFill>
                <a:latin typeface="Pretendard"/>
              </a:rPr>
              <a:t>물리과정·유출</a:t>
            </a:r>
          </a:p>
          <a:p>
            <a:pPr algn="ctr">
              <a:lnSpc>
                <a:spcPct val="102000"/>
              </a:lnSpc>
            </a:pPr>
            <a:r>
              <a:rPr sz="1600" b="1">
                <a:solidFill>
                  <a:srgbClr val="FFFFFF"/>
                </a:solidFill>
                <a:latin typeface="Pretendard"/>
              </a:rPr>
              <a:t>고도화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01001" y="3675887"/>
            <a:ext cx="405627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>
                <a:solidFill>
                  <a:srgbClr val="0F304B"/>
                </a:solidFill>
                <a:latin typeface="Pretendard"/>
              </a:rPr>
              <a:t>2030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901001" y="4069080"/>
            <a:ext cx="4056278" cy="1051560"/>
          </a:xfrm>
          <a:prstGeom prst="roundRect">
            <a:avLst>
              <a:gd name="adj" fmla="val 1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600" b="1">
                <a:solidFill>
                  <a:srgbClr val="FFFFFF"/>
                </a:solidFill>
                <a:latin typeface="Pretendard"/>
              </a:rPr>
              <a:t>전망·예측성능</a:t>
            </a:r>
          </a:p>
          <a:p>
            <a:pPr algn="ctr">
              <a:lnSpc>
                <a:spcPct val="102000"/>
              </a:lnSpc>
            </a:pPr>
            <a:r>
              <a:rPr sz="1600" b="1">
                <a:solidFill>
                  <a:srgbClr val="FFFFFF"/>
                </a:solidFill>
                <a:latin typeface="Pretendard"/>
              </a:rPr>
              <a:t>평가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440680"/>
            <a:ext cx="182880" cy="2103120"/>
          </a:xfrm>
          <a:prstGeom prst="roundRect">
            <a:avLst>
              <a:gd name="adj" fmla="val 2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5440680"/>
            <a:ext cx="242316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 err="1">
                <a:solidFill>
                  <a:srgbClr val="0F304B"/>
                </a:solidFill>
                <a:latin typeface="Pretendard"/>
              </a:rPr>
              <a:t>자료구축</a:t>
            </a:r>
            <a:endParaRPr sz="1800" b="1" dirty="0">
              <a:solidFill>
                <a:srgbClr val="0F304B"/>
              </a:solidFill>
              <a:latin typeface="Pretendard"/>
            </a:endParaRPr>
          </a:p>
          <a:p>
            <a:pPr algn="l"/>
            <a:r>
              <a:rPr sz="1800" b="1" dirty="0">
                <a:solidFill>
                  <a:srgbClr val="0F304B"/>
                </a:solidFill>
                <a:latin typeface="Pretendard"/>
              </a:rPr>
              <a:t>· </a:t>
            </a:r>
            <a:r>
              <a:rPr sz="1800" b="1" dirty="0" err="1">
                <a:solidFill>
                  <a:srgbClr val="0F304B"/>
                </a:solidFill>
                <a:latin typeface="Pretendard"/>
              </a:rPr>
              <a:t>테스트베드</a:t>
            </a:r>
            <a:endParaRPr sz="1800" b="1" dirty="0">
              <a:solidFill>
                <a:srgbClr val="0F304B"/>
              </a:solidFill>
              <a:latin typeface="Pretendard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65760" y="7680960"/>
            <a:ext cx="182880" cy="246888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7680960"/>
            <a:ext cx="242316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304B"/>
                </a:solidFill>
                <a:latin typeface="Pretendard"/>
              </a:rPr>
              <a:t>진단</a:t>
            </a:r>
          </a:p>
          <a:p>
            <a:pPr algn="l"/>
            <a:r>
              <a:rPr sz="1800" b="1">
                <a:solidFill>
                  <a:srgbClr val="0F304B"/>
                </a:solidFill>
                <a:latin typeface="Pretendard"/>
              </a:rPr>
              <a:t>· 민감도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10241280"/>
            <a:ext cx="182880" cy="1600200"/>
          </a:xfrm>
          <a:prstGeom prst="roundRect">
            <a:avLst>
              <a:gd name="adj" fmla="val 2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10241280"/>
            <a:ext cx="242316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304B"/>
                </a:solidFill>
                <a:latin typeface="Pretendard"/>
              </a:rPr>
              <a:t>모델 개선</a:t>
            </a:r>
          </a:p>
          <a:p>
            <a:pPr algn="l"/>
            <a:r>
              <a:rPr sz="1800" b="1">
                <a:solidFill>
                  <a:srgbClr val="0F304B"/>
                </a:solidFill>
                <a:latin typeface="Pretendard"/>
              </a:rPr>
              <a:t>· 고도화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935224" y="4069080"/>
            <a:ext cx="0" cy="7772400"/>
          </a:xfrm>
          <a:prstGeom prst="line">
            <a:avLst/>
          </a:prstGeom>
          <a:ln w="12700">
            <a:solidFill>
              <a:srgbClr val="C9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156094" y="4069080"/>
            <a:ext cx="0" cy="7772400"/>
          </a:xfrm>
          <a:prstGeom prst="line">
            <a:avLst/>
          </a:prstGeom>
          <a:ln w="12700">
            <a:solidFill>
              <a:srgbClr val="C9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376964" y="4069080"/>
            <a:ext cx="0" cy="7772400"/>
          </a:xfrm>
          <a:prstGeom prst="line">
            <a:avLst/>
          </a:prstGeom>
          <a:ln w="12700">
            <a:solidFill>
              <a:srgbClr val="C9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5597835" y="4069080"/>
            <a:ext cx="0" cy="7772400"/>
          </a:xfrm>
          <a:prstGeom prst="line">
            <a:avLst/>
          </a:prstGeom>
          <a:ln w="12700">
            <a:solidFill>
              <a:srgbClr val="C9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818705" y="4069080"/>
            <a:ext cx="0" cy="7772400"/>
          </a:xfrm>
          <a:prstGeom prst="line">
            <a:avLst/>
          </a:prstGeom>
          <a:ln w="12700">
            <a:solidFill>
              <a:srgbClr val="C9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4039576" y="4069080"/>
            <a:ext cx="0" cy="7772400"/>
          </a:xfrm>
          <a:prstGeom prst="line">
            <a:avLst/>
          </a:prstGeom>
          <a:ln w="12700">
            <a:solidFill>
              <a:srgbClr val="C9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054096" y="5532120"/>
            <a:ext cx="3983126" cy="905255"/>
          </a:xfrm>
          <a:prstGeom prst="roundRect">
            <a:avLst>
              <a:gd name="adj" fmla="val 10000"/>
            </a:avLst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350" b="0" dirty="0">
                <a:solidFill>
                  <a:srgbClr val="3A2A12"/>
                </a:solidFill>
                <a:latin typeface="Pretendard"/>
              </a:rPr>
              <a:t>4종 LSM(JULES·CLM5·Noah-MP·LM4+)</a:t>
            </a:r>
          </a:p>
          <a:p>
            <a:pPr algn="ctr">
              <a:lnSpc>
                <a:spcPct val="102000"/>
              </a:lnSpc>
            </a:pPr>
            <a:r>
              <a:rPr sz="1350" b="0" dirty="0" err="1">
                <a:solidFill>
                  <a:srgbClr val="3A2A12"/>
                </a:solidFill>
                <a:latin typeface="Pretendard"/>
              </a:rPr>
              <a:t>오프라인</a:t>
            </a:r>
            <a:r>
              <a:rPr sz="1350" b="0" dirty="0">
                <a:solidFill>
                  <a:srgbClr val="3A2A12"/>
                </a:solidFill>
                <a:latin typeface="Pretendard"/>
              </a:rPr>
              <a:t> </a:t>
            </a:r>
            <a:r>
              <a:rPr sz="1350" b="0" dirty="0" err="1">
                <a:solidFill>
                  <a:srgbClr val="3A2A12"/>
                </a:solidFill>
                <a:latin typeface="Pretendard"/>
              </a:rPr>
              <a:t>테스트베드</a:t>
            </a:r>
            <a:r>
              <a:rPr sz="1350" b="0" dirty="0">
                <a:solidFill>
                  <a:srgbClr val="3A2A12"/>
                </a:solidFill>
                <a:latin typeface="Pretendard"/>
              </a:rPr>
              <a:t> </a:t>
            </a:r>
            <a:r>
              <a:rPr sz="1350" b="0" dirty="0" err="1">
                <a:solidFill>
                  <a:srgbClr val="3A2A12"/>
                </a:solidFill>
                <a:latin typeface="Pretendard"/>
              </a:rPr>
              <a:t>구축</a:t>
            </a:r>
            <a:endParaRPr sz="1350" b="0" dirty="0">
              <a:solidFill>
                <a:srgbClr val="3A2A12"/>
              </a:solidFill>
              <a:latin typeface="Pretendard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054096" y="6547104"/>
            <a:ext cx="3983126" cy="905255"/>
          </a:xfrm>
          <a:prstGeom prst="roundRect">
            <a:avLst>
              <a:gd name="adj" fmla="val 10000"/>
            </a:avLst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350" b="0" dirty="0" err="1">
                <a:solidFill>
                  <a:srgbClr val="3A2A12"/>
                </a:solidFill>
                <a:latin typeface="Pretendard"/>
              </a:rPr>
              <a:t>관측·재분석·기후프록시</a:t>
            </a:r>
            <a:r>
              <a:rPr sz="1350" b="0" dirty="0">
                <a:solidFill>
                  <a:srgbClr val="3A2A12"/>
                </a:solidFill>
                <a:latin typeface="Pretendard"/>
              </a:rPr>
              <a:t> </a:t>
            </a:r>
            <a:r>
              <a:rPr sz="1350" b="0" dirty="0" err="1">
                <a:solidFill>
                  <a:srgbClr val="3A2A12"/>
                </a:solidFill>
                <a:latin typeface="Pretendard"/>
              </a:rPr>
              <a:t>자료</a:t>
            </a:r>
            <a:r>
              <a:rPr sz="1350" b="0" dirty="0">
                <a:solidFill>
                  <a:srgbClr val="3A2A12"/>
                </a:solidFill>
                <a:latin typeface="Pretendard"/>
              </a:rPr>
              <a:t> DB </a:t>
            </a:r>
            <a:r>
              <a:rPr sz="1350" b="0" dirty="0" err="1">
                <a:solidFill>
                  <a:srgbClr val="3A2A12"/>
                </a:solidFill>
                <a:latin typeface="Pretendard"/>
              </a:rPr>
              <a:t>구축</a:t>
            </a:r>
            <a:endParaRPr sz="1350" b="0" dirty="0">
              <a:solidFill>
                <a:srgbClr val="3A2A12"/>
              </a:solidFill>
              <a:latin typeface="Pretendard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1495836" y="5532120"/>
            <a:ext cx="3983126" cy="1920239"/>
          </a:xfrm>
          <a:prstGeom prst="roundRect">
            <a:avLst>
              <a:gd name="adj" fmla="val 10000"/>
            </a:avLst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CMIP7 시나리오</a:t>
            </a:r>
          </a:p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자료 확보·전처리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54096" y="7772400"/>
            <a:ext cx="3983126" cy="2286000"/>
          </a:xfrm>
          <a:prstGeom prst="roundRect">
            <a:avLst>
              <a:gd name="adj" fmla="val 10000"/>
            </a:avLst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1979–현재 offline 적분,</a:t>
            </a:r>
          </a:p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토양수분/온도·식생 기본성능 진단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74966" y="7772400"/>
            <a:ext cx="3983126" cy="1088136"/>
          </a:xfrm>
          <a:prstGeom prst="roundRect">
            <a:avLst>
              <a:gd name="adj" fmla="val 10000"/>
            </a:avLst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산업화이후 장기 민감도 실험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74966" y="8970264"/>
            <a:ext cx="3983126" cy="1088136"/>
          </a:xfrm>
          <a:prstGeom prst="roundRect">
            <a:avLst>
              <a:gd name="adj" fmla="val 10000"/>
            </a:avLst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결합강도·수문·유출 민감도 /</a:t>
            </a:r>
          </a:p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관측대비 구조오차 진단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95836" y="7772400"/>
            <a:ext cx="3983126" cy="2286000"/>
          </a:xfrm>
          <a:prstGeom prst="roundRect">
            <a:avLst>
              <a:gd name="adj" fmla="val 10000"/>
            </a:avLst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CMIP7 지면-대기 결합강도·</a:t>
            </a:r>
          </a:p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해양영향 진단, 개선점 도출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937577" y="7772400"/>
            <a:ext cx="3983126" cy="2286000"/>
          </a:xfrm>
          <a:prstGeom prst="roundRect">
            <a:avLst>
              <a:gd name="adj" fmla="val 10000"/>
            </a:avLst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극한기후(폭염-가뭄)·</a:t>
            </a:r>
          </a:p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북서태평양 해양열파</a:t>
            </a:r>
          </a:p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예측성능 평가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716707" y="10332719"/>
            <a:ext cx="3983126" cy="653796"/>
          </a:xfrm>
          <a:prstGeom prst="roundRect">
            <a:avLst>
              <a:gd name="adj" fmla="val 10000"/>
            </a:avLst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수문 물리과정·담수</a:t>
            </a:r>
          </a:p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유출모델 업데이트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716707" y="11096244"/>
            <a:ext cx="3983126" cy="653796"/>
          </a:xfrm>
          <a:prstGeom prst="roundRect">
            <a:avLst>
              <a:gd name="adj" fmla="val 10000"/>
            </a:avLst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물리과정 AI 에뮬레이터</a:t>
            </a:r>
          </a:p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적용 시도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937577" y="10332719"/>
            <a:ext cx="3983126" cy="653796"/>
          </a:xfrm>
          <a:prstGeom prst="roundRect">
            <a:avLst>
              <a:gd name="adj" fmla="val 10000"/>
            </a:avLst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350" b="0">
                <a:solidFill>
                  <a:srgbClr val="3A2A12"/>
                </a:solidFill>
                <a:latin typeface="Pretendard"/>
              </a:rPr>
              <a:t>역학식생 모델 업데이트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937577" y="11096244"/>
            <a:ext cx="3983126" cy="653796"/>
          </a:xfrm>
          <a:prstGeom prst="roundRect">
            <a:avLst>
              <a:gd name="adj" fmla="val 10000"/>
            </a:avLst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2000"/>
              </a:lnSpc>
            </a:pPr>
            <a:r>
              <a:rPr sz="1350" b="0" dirty="0" err="1">
                <a:solidFill>
                  <a:srgbClr val="3A2A12"/>
                </a:solidFill>
                <a:latin typeface="Pretendard"/>
              </a:rPr>
              <a:t>미래</a:t>
            </a:r>
            <a:r>
              <a:rPr sz="1350" b="0" dirty="0">
                <a:solidFill>
                  <a:srgbClr val="3A2A12"/>
                </a:solidFill>
                <a:latin typeface="Pretendard"/>
              </a:rPr>
              <a:t> </a:t>
            </a:r>
            <a:r>
              <a:rPr sz="1350" b="0" dirty="0" err="1">
                <a:solidFill>
                  <a:srgbClr val="3A2A12"/>
                </a:solidFill>
                <a:latin typeface="Pretendard"/>
              </a:rPr>
              <a:t>담수유출→동아시아</a:t>
            </a:r>
            <a:endParaRPr sz="1350" b="0" dirty="0">
              <a:solidFill>
                <a:srgbClr val="3A2A12"/>
              </a:solidFill>
              <a:latin typeface="Pretendard"/>
            </a:endParaRPr>
          </a:p>
          <a:p>
            <a:pPr algn="ctr">
              <a:lnSpc>
                <a:spcPct val="102000"/>
              </a:lnSpc>
            </a:pPr>
            <a:r>
              <a:rPr sz="1350" b="0" dirty="0" err="1">
                <a:solidFill>
                  <a:srgbClr val="3A2A12"/>
                </a:solidFill>
                <a:latin typeface="Pretendard"/>
              </a:rPr>
              <a:t>연안</a:t>
            </a:r>
            <a:r>
              <a:rPr sz="1350" b="0" dirty="0">
                <a:solidFill>
                  <a:srgbClr val="3A2A12"/>
                </a:solidFill>
                <a:latin typeface="Pretendard"/>
              </a:rPr>
              <a:t> </a:t>
            </a:r>
            <a:r>
              <a:rPr sz="1350" b="0" dirty="0" err="1">
                <a:solidFill>
                  <a:srgbClr val="3A2A12"/>
                </a:solidFill>
                <a:latin typeface="Pretendard"/>
              </a:rPr>
              <a:t>영향</a:t>
            </a:r>
            <a:r>
              <a:rPr sz="1350" b="0" dirty="0">
                <a:solidFill>
                  <a:srgbClr val="3A2A12"/>
                </a:solidFill>
                <a:latin typeface="Pretendard"/>
              </a:rPr>
              <a:t> </a:t>
            </a:r>
            <a:r>
              <a:rPr sz="1350" b="0" dirty="0" err="1">
                <a:solidFill>
                  <a:srgbClr val="3A2A12"/>
                </a:solidFill>
                <a:latin typeface="Pretendard"/>
              </a:rPr>
              <a:t>전망</a:t>
            </a:r>
            <a:endParaRPr sz="1350" b="0" dirty="0">
              <a:solidFill>
                <a:srgbClr val="3A2A12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C9EC0384-6A89-010E-2491-33FDC5FF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" t="29353" r="29889"/>
          <a:stretch/>
        </p:blipFill>
        <p:spPr>
          <a:xfrm rot="10800000">
            <a:off x="0" y="11912600"/>
            <a:ext cx="24384000" cy="1803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698500"/>
            <a:ext cx="17500600" cy="1308100"/>
          </a:xfrm>
          <a:prstGeom prst="rect">
            <a:avLst/>
          </a:prstGeom>
        </p:spPr>
        <p:txBody>
          <a:bodyPr lIns="0" tIns="97790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800" b="0" i="0" u="none" strike="noStrike" dirty="0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연구 배경 및 필요성</a:t>
            </a:r>
            <a:endParaRPr lang="en-US" sz="7333" b="0" i="0" u="none" strike="noStrike" dirty="0">
              <a:solidFill>
                <a:srgbClr val="1031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1170900" y="12674600"/>
            <a:ext cx="2679700" cy="571500"/>
          </a:xfrm>
          <a:prstGeom prst="rect">
            <a:avLst/>
          </a:prstGeom>
        </p:spPr>
        <p:txBody>
          <a:bodyPr lIns="0" tIns="43308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3247" b="0" i="0" u="none" strike="noStrike" cap="all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219200" y="2362200"/>
            <a:ext cx="222885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61600" y="863600"/>
            <a:ext cx="546100" cy="546100"/>
          </a:xfrm>
          <a:prstGeom prst="rect">
            <a:avLst/>
          </a:prstGeom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D4F7C712-EF28-4ACD-B069-149B9A47E6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111"/>
          <a:stretch/>
        </p:blipFill>
        <p:spPr>
          <a:xfrm rot="5400000">
            <a:off x="-374650" y="1212850"/>
            <a:ext cx="1028700" cy="27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17320" y="2331720"/>
            <a:ext cx="21579840" cy="1069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연구 배경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지면-식생모델은 육상 물·에너지 순환 모의의 핵심 → 기후모델 정확도 좌우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지면-식생 변화가 지면-대기 상호작용으로 열·수분·에너지 수지 조절,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2100" b="0">
                <a:solidFill>
                  <a:srgbClr val="5A6B7A"/>
                </a:solidFill>
                <a:latin typeface="Pretendard"/>
              </a:rPr>
              <a:t>      –  대기순환 원격상관을 통해 해양·전지구 기후시스템에 영향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급격한 기후변화에 따른 지면·유출량 변동 → 연안 해양의 염분·성층화에 직접 영향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endParaRPr sz="2500" b="0">
              <a:solidFill>
                <a:srgbClr val="0F304B"/>
              </a:solidFill>
              <a:latin typeface="Pretendard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연구 필요성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구조적 오차: 열·수분 플럭스 모의 오차가 수문·유출 불확실성을 가중 → 해양모델로 전이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다중 모델 벤치마킹 시급: 결합모델에 탑재된 지면모델 한계의 객관적 진단 필요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물리과정 고도화: 진단 기반 수문·역학식생·담수유출 모델 개선 → 한반도 주변 기후모의 최적화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C9EC0384-6A89-010E-2491-33FDC5FF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" t="29353" r="29889"/>
          <a:stretch/>
        </p:blipFill>
        <p:spPr>
          <a:xfrm rot="10800000">
            <a:off x="0" y="11912600"/>
            <a:ext cx="24384000" cy="1803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698500"/>
            <a:ext cx="17500600" cy="1308100"/>
          </a:xfrm>
          <a:prstGeom prst="rect">
            <a:avLst/>
          </a:prstGeom>
        </p:spPr>
        <p:txBody>
          <a:bodyPr lIns="0" tIns="97790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800" b="0" i="0" u="none" strike="noStrike" dirty="0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연구 목표 및 추진 전략</a:t>
            </a:r>
            <a:endParaRPr lang="en-US" sz="7333" b="0" i="0" u="none" strike="noStrike" dirty="0">
              <a:solidFill>
                <a:srgbClr val="1031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1170900" y="12674600"/>
            <a:ext cx="2679700" cy="571500"/>
          </a:xfrm>
          <a:prstGeom prst="rect">
            <a:avLst/>
          </a:prstGeom>
        </p:spPr>
        <p:txBody>
          <a:bodyPr lIns="0" tIns="43308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3247" b="0" i="0" u="none" strike="noStrike" cap="all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219200" y="2362200"/>
            <a:ext cx="222885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61600" y="863600"/>
            <a:ext cx="546100" cy="546100"/>
          </a:xfrm>
          <a:prstGeom prst="rect">
            <a:avLst/>
          </a:prstGeom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D4F7C712-EF28-4ACD-B069-149B9A47E6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111"/>
          <a:stretch/>
        </p:blipFill>
        <p:spPr>
          <a:xfrm rot="5400000">
            <a:off x="-374650" y="1212850"/>
            <a:ext cx="1028700" cy="27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17320" y="2331720"/>
            <a:ext cx="21579840" cy="1069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최종 목표 (2026–2030)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차세대 해양기후모델용 지면-식생모델 진단·개선 체계 구축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세부 1.7 역할: 지면→대기→해양 상호작용 진단 (담수 유출이 지면-해양 결합 매개)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endParaRPr sz="2500" b="0">
              <a:solidFill>
                <a:srgbClr val="0F304B"/>
              </a:solidFill>
              <a:latin typeface="Pretendard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추진 전략 (4단계)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① 다중 LSM 오프라인 테스트베드 구축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② 관측·재분석 기반 기본성능 진단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③ 구조오차·기후변화 민감도 분석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④ 물리과정 개선 및 지면-해양 결합 고도화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endParaRPr sz="2500" b="0">
              <a:solidFill>
                <a:srgbClr val="0F304B"/>
              </a:solidFill>
              <a:latin typeface="Pretendard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단계 구성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Phase 1 (2026–2028): 진단 체계 구축 및 개선점 도출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Phase 2 (2029–2030): 물리과정 고도화 및 미래 해양기후 영향 예측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C9EC0384-6A89-010E-2491-33FDC5FF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" t="29353" r="29889"/>
          <a:stretch/>
        </p:blipFill>
        <p:spPr>
          <a:xfrm rot="10800000">
            <a:off x="0" y="11912600"/>
            <a:ext cx="24384000" cy="1803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698500"/>
            <a:ext cx="17500600" cy="1308100"/>
          </a:xfrm>
          <a:prstGeom prst="rect">
            <a:avLst/>
          </a:prstGeom>
        </p:spPr>
        <p:txBody>
          <a:bodyPr lIns="0" tIns="9779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800" b="0" i="0" u="none" strike="noStrike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1차년도(2026) 추진 개요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170900" y="12674600"/>
            <a:ext cx="2679700" cy="571500"/>
          </a:xfrm>
          <a:prstGeom prst="rect">
            <a:avLst/>
          </a:prstGeom>
        </p:spPr>
        <p:txBody>
          <a:bodyPr lIns="0" tIns="43308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3247" b="0" i="0" u="none" strike="noStrike" cap="all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219200" y="2362200"/>
            <a:ext cx="222885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61600" y="863600"/>
            <a:ext cx="546100" cy="546100"/>
          </a:xfrm>
          <a:prstGeom prst="rect">
            <a:avLst/>
          </a:prstGeom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D4F7C712-EF28-4ACD-B069-149B9A47E6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111"/>
          <a:stretch/>
        </p:blipFill>
        <p:spPr>
          <a:xfrm rot="5400000">
            <a:off x="-374650" y="1212850"/>
            <a:ext cx="1028700" cy="27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17320" y="2331720"/>
            <a:ext cx="21579840" cy="1069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1차년도 목표: 지면-식생모델 성능·해양영향 진단 체계 구축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endParaRPr sz="3000" b="1">
              <a:solidFill>
                <a:srgbClr val="0F304B"/>
              </a:solidFill>
              <a:latin typeface="Pretendard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3대 추진 과제 (점검항목)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① 테스트베드  —  오프라인 지면-식생모델(벤치마크) 구축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② 자료구축  —  평가용 토양수분/온도·식생 관측·재분석 DB 구축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③ 성능진단  —  1979–현재 offline simulation, 모델-관측 비교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endParaRPr sz="2500" b="0">
              <a:solidFill>
                <a:srgbClr val="0F304B"/>
              </a:solidFill>
              <a:latin typeface="Pretendard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추진 흐름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ERA5 forcing → ① 다중 LSM 장기적분 → ② 관측 DB 대비 검증 →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2100" b="0">
                <a:solidFill>
                  <a:srgbClr val="5A6B7A"/>
                </a:solidFill>
                <a:latin typeface="Pretendard"/>
              </a:rPr>
              <a:t>      –  ③ 토양수분/온도·식생 기본성능 진단 + 지면-대기·해양영향 기초 진단도구</a:t>
            </a:r>
          </a:p>
        </p:txBody>
      </p:sp>
    </p:spTree>
    <p:extLst>
      <p:ext uri="{BB962C8B-B14F-4D97-AF65-F5344CB8AC3E}">
        <p14:creationId xmlns:p14="http://schemas.microsoft.com/office/powerpoint/2010/main" val="173759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C9EC0384-6A89-010E-2491-33FDC5FF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" t="29353" r="29889"/>
          <a:stretch/>
        </p:blipFill>
        <p:spPr>
          <a:xfrm rot="10800000">
            <a:off x="0" y="11912600"/>
            <a:ext cx="24384000" cy="1803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698500"/>
            <a:ext cx="17500600" cy="1308100"/>
          </a:xfrm>
          <a:prstGeom prst="rect">
            <a:avLst/>
          </a:prstGeom>
        </p:spPr>
        <p:txBody>
          <a:bodyPr lIns="0" tIns="9779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800" b="0" i="0" u="none" strike="noStrike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① 오프라인 지면-식생모델 테스트베드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170900" y="12674600"/>
            <a:ext cx="2679700" cy="571500"/>
          </a:xfrm>
          <a:prstGeom prst="rect">
            <a:avLst/>
          </a:prstGeom>
        </p:spPr>
        <p:txBody>
          <a:bodyPr lIns="0" tIns="43308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3247" b="0" i="0" u="none" strike="noStrike" cap="all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07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219200" y="2362200"/>
            <a:ext cx="222885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61600" y="863600"/>
            <a:ext cx="546100" cy="546100"/>
          </a:xfrm>
          <a:prstGeom prst="rect">
            <a:avLst/>
          </a:prstGeom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D4F7C712-EF28-4ACD-B069-149B9A47E6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111"/>
          <a:stretch/>
        </p:blipFill>
        <p:spPr>
          <a:xfrm rot="5400000">
            <a:off x="-374650" y="1212850"/>
            <a:ext cx="1028700" cy="27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17320" y="2331720"/>
            <a:ext cx="21579840" cy="1069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다중 LSM 벤치마크 체계 (4종)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JULES vn7.4 · CESM2-CLM5 · Noah-MP · LM4+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공통 forcing·격자·진단 프로토콜로 모델 간 객관적 비교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endParaRPr sz="2500" b="0">
              <a:solidFill>
                <a:srgbClr val="0F304B"/>
              </a:solidFill>
              <a:latin typeface="Pretendard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구축 현황 (2026.06 기준)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JULES vn7.4: 빌드·테스트런 완료, spin-up 설정 진행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CESM2-CLM5: 빌드 완료, offline(I2000Clm50Sp) 설정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Noah-MP · LM4+: 구축 예정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endParaRPr sz="2500" b="0">
              <a:solidFill>
                <a:srgbClr val="0F304B"/>
              </a:solidFill>
              <a:latin typeface="Pretendard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실행 환경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climate00 HPC (48 cores, Intel oneAPI, NetCDF/HDF5/PnetCDF)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C9EC0384-6A89-010E-2491-33FDC5FF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" t="29353" r="29889"/>
          <a:stretch/>
        </p:blipFill>
        <p:spPr>
          <a:xfrm rot="10800000">
            <a:off x="0" y="11912600"/>
            <a:ext cx="24384000" cy="1803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698500"/>
            <a:ext cx="17500600" cy="1308100"/>
          </a:xfrm>
          <a:prstGeom prst="rect">
            <a:avLst/>
          </a:prstGeom>
        </p:spPr>
        <p:txBody>
          <a:bodyPr lIns="0" tIns="9779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800" b="0" i="0" u="none" strike="noStrike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② 평가용 관측·재분석 자료 DB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170900" y="12674600"/>
            <a:ext cx="2679700" cy="571500"/>
          </a:xfrm>
          <a:prstGeom prst="rect">
            <a:avLst/>
          </a:prstGeom>
        </p:spPr>
        <p:txBody>
          <a:bodyPr lIns="0" tIns="43308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3247" b="0" i="0" u="none" strike="noStrike" cap="all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08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219200" y="2362200"/>
            <a:ext cx="222885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61600" y="863600"/>
            <a:ext cx="546100" cy="546100"/>
          </a:xfrm>
          <a:prstGeom prst="rect">
            <a:avLst/>
          </a:prstGeom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D4F7C712-EF28-4ACD-B069-149B9A47E6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111"/>
          <a:stretch/>
        </p:blipFill>
        <p:spPr>
          <a:xfrm rot="5400000">
            <a:off x="-374650" y="1212850"/>
            <a:ext cx="1028700" cy="27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17320" y="2331720"/>
            <a:ext cx="21579840" cy="1069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모델 입력 (Forcing)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ERA5 재분석 (1979–현재) → 모델별 forcing 변환기 구축 (JULES/CLM5/Noah-MP)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endParaRPr sz="2500" b="0">
              <a:solidFill>
                <a:srgbClr val="0F304B"/>
              </a:solidFill>
              <a:latin typeface="Pretendard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검증용 관측·재분석 변수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토양수분: GLEAM · ESA CCI · ERA5-Land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토양온도: ERA5-Land · FLUXNET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식생(LAI/GPP): MODIS · FLUXNET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유출/물저장: GRDC · GRACE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endParaRPr sz="2500" b="0">
              <a:solidFill>
                <a:srgbClr val="0F304B"/>
              </a:solidFill>
              <a:latin typeface="Pretendard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벤치마킹 도구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ILAMB · PLUMBER2 기반 정량 성능평가 체계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C9EC0384-6A89-010E-2491-33FDC5FF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" t="29353" r="29889"/>
          <a:stretch/>
        </p:blipFill>
        <p:spPr>
          <a:xfrm rot="10800000">
            <a:off x="0" y="11912600"/>
            <a:ext cx="24384000" cy="1803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698500"/>
            <a:ext cx="17500600" cy="1308100"/>
          </a:xfrm>
          <a:prstGeom prst="rect">
            <a:avLst/>
          </a:prstGeom>
        </p:spPr>
        <p:txBody>
          <a:bodyPr lIns="0" tIns="9779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800" b="0" i="0" u="none" strike="noStrike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③ Offline Simulation 및 기본성능 진단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170900" y="12674600"/>
            <a:ext cx="2679700" cy="571500"/>
          </a:xfrm>
          <a:prstGeom prst="rect">
            <a:avLst/>
          </a:prstGeom>
        </p:spPr>
        <p:txBody>
          <a:bodyPr lIns="0" tIns="43308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3247" b="0" i="0" u="none" strike="noStrike" cap="all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09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219200" y="2362200"/>
            <a:ext cx="222885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61600" y="863600"/>
            <a:ext cx="546100" cy="546100"/>
          </a:xfrm>
          <a:prstGeom prst="rect">
            <a:avLst/>
          </a:prstGeom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D4F7C712-EF28-4ACD-B069-149B9A47E6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111"/>
          <a:stretch/>
        </p:blipFill>
        <p:spPr>
          <a:xfrm rot="5400000">
            <a:off x="-374650" y="1212850"/>
            <a:ext cx="1028700" cy="27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17320" y="2331720"/>
            <a:ext cx="21579840" cy="1069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장기 Offline Simulation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1979–현재 장기 적분 (4종 LSM, ERA5 forcing)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spin-up 수렴 확인(토양수분 smcl, 토양온도 t_soil) → production run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endParaRPr sz="2500" b="0">
              <a:solidFill>
                <a:srgbClr val="0F304B"/>
              </a:solidFill>
              <a:latin typeface="Pretendard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모델-관측 비교 진단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토양수분/온도·식생(LAI/GPP) 기본성능 진단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지면-대기 결합강도(Mi, λ)·유출량 기반 해양영향 기초 진단도구 개발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endParaRPr sz="2500" b="0">
              <a:solidFill>
                <a:srgbClr val="0F304B"/>
              </a:solidFill>
              <a:latin typeface="Pretendard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진행 현황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ERA5 1979년 변환 완료, JULES 테스트런 수행 → 전 기간 확장 예정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972" t="29353" r="29889"/>
          <a:stretch/>
        </p:blipFill>
        <p:spPr>
          <a:xfrm rot="10800000">
            <a:off x="0" y="11912600"/>
            <a:ext cx="24384000" cy="1803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b="51111"/>
          <a:stretch/>
        </p:blipFill>
        <p:spPr>
          <a:xfrm rot="5400000">
            <a:off x="-374650" y="1212850"/>
            <a:ext cx="1028700" cy="279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19200" y="698500"/>
            <a:ext cx="17500600" cy="1308100"/>
          </a:xfrm>
          <a:prstGeom prst="rect">
            <a:avLst/>
          </a:prstGeom>
        </p:spPr>
        <p:txBody>
          <a:bodyPr lIns="0" tIns="9779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7333" b="0" i="0" u="none" strike="noStrike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성과계획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170900" y="12674600"/>
            <a:ext cx="2679700" cy="571500"/>
          </a:xfrm>
          <a:prstGeom prst="rect">
            <a:avLst/>
          </a:prstGeom>
        </p:spPr>
        <p:txBody>
          <a:bodyPr lIns="0" tIns="43308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3247" b="0" i="0" u="none" strike="noStrike" cap="all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10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>
            <a:off x="1219200" y="2362200"/>
            <a:ext cx="222885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61600" y="863600"/>
            <a:ext cx="546100" cy="5461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645920" y="2651760"/>
          <a:ext cx="21031200" cy="786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marL="109728" marR="109728" anchor="ctr">
                    <a:solidFill>
                      <a:srgbClr val="0F30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Pretendard"/>
                        </a:rPr>
                        <a:t>1차년도(2026) 정량 목표</a:t>
                      </a:r>
                    </a:p>
                  </a:txBody>
                  <a:tcPr marL="109728" marR="109728" anchor="ctr">
                    <a:solidFill>
                      <a:srgbClr val="0F30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000" b="1">
                          <a:solidFill>
                            <a:srgbClr val="0F304B"/>
                          </a:solidFill>
                          <a:latin typeface="Pretendard"/>
                        </a:rPr>
                        <a:t>오프라인 테스트베드</a:t>
                      </a:r>
                    </a:p>
                  </a:txBody>
                  <a:tcPr marL="109728" marR="10972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000" b="0">
                          <a:solidFill>
                            <a:srgbClr val="0F304B"/>
                          </a:solidFill>
                          <a:latin typeface="Pretendard"/>
                        </a:rPr>
                        <a:t>지면-식생모델 4종 (JULES · CLM5 · Noah-MP · LM4+)</a:t>
                      </a:r>
                    </a:p>
                  </a:txBody>
                  <a:tcPr marL="109728" marR="109728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000" b="1">
                          <a:solidFill>
                            <a:srgbClr val="0F304B"/>
                          </a:solidFill>
                          <a:latin typeface="Pretendard"/>
                        </a:rPr>
                        <a:t>평가용 자료 DB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000" b="0">
                          <a:solidFill>
                            <a:srgbClr val="0F304B"/>
                          </a:solidFill>
                          <a:latin typeface="Pretendard"/>
                        </a:rPr>
                        <a:t>토양수분·토양온도·식생·유출 4부문 (관측/재분석 6종 이상)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000" b="1">
                          <a:solidFill>
                            <a:srgbClr val="0F304B"/>
                          </a:solidFill>
                          <a:latin typeface="Pretendard"/>
                        </a:rPr>
                        <a:t>Offline simulation</a:t>
                      </a:r>
                    </a:p>
                  </a:txBody>
                  <a:tcPr marL="109728" marR="10972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000" b="0">
                          <a:solidFill>
                            <a:srgbClr val="0F304B"/>
                          </a:solidFill>
                          <a:latin typeface="Pretendard"/>
                        </a:rPr>
                        <a:t>1979–현재 장기적분 (약 40여 년)</a:t>
                      </a:r>
                    </a:p>
                  </a:txBody>
                  <a:tcPr marL="109728" marR="109728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000" b="1">
                          <a:solidFill>
                            <a:srgbClr val="0F304B"/>
                          </a:solidFill>
                          <a:latin typeface="Pretendard"/>
                        </a:rPr>
                        <a:t>진단 도구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000" b="0">
                          <a:solidFill>
                            <a:srgbClr val="0F304B"/>
                          </a:solidFill>
                          <a:latin typeface="Pretendard"/>
                        </a:rPr>
                        <a:t>지면-대기 결합·해양영향 기초 진단도구 1식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000" b="1">
                          <a:solidFill>
                            <a:srgbClr val="0F304B"/>
                          </a:solidFill>
                          <a:latin typeface="Pretendard"/>
                        </a:rPr>
                        <a:t>학술 성과</a:t>
                      </a:r>
                    </a:p>
                  </a:txBody>
                  <a:tcPr marL="109728" marR="10972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000" b="0">
                          <a:solidFill>
                            <a:srgbClr val="0F304B"/>
                          </a:solidFill>
                          <a:latin typeface="Pretendard"/>
                        </a:rPr>
                        <a:t>국내외 학회 발표 1건 이상</a:t>
                      </a:r>
                    </a:p>
                  </a:txBody>
                  <a:tcPr marL="109728" marR="109728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645920" y="10881360"/>
            <a:ext cx="2011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700" b="0">
                <a:solidFill>
                  <a:srgbClr val="5A6B7A"/>
                </a:solidFill>
                <a:latin typeface="Pretendard"/>
              </a:rPr>
              <a:t>※ 정량 목표 수치는 협약서 기준에 맞추어 최종 확정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972" t="29353" r="29889"/>
          <a:stretch/>
        </p:blipFill>
        <p:spPr>
          <a:xfrm rot="10800000">
            <a:off x="0" y="11912600"/>
            <a:ext cx="24384000" cy="1803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b="51111"/>
          <a:stretch/>
        </p:blipFill>
        <p:spPr>
          <a:xfrm rot="5400000">
            <a:off x="-374650" y="1212850"/>
            <a:ext cx="1028700" cy="279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19200" y="698500"/>
            <a:ext cx="17500600" cy="1308100"/>
          </a:xfrm>
          <a:prstGeom prst="rect">
            <a:avLst/>
          </a:prstGeom>
        </p:spPr>
        <p:txBody>
          <a:bodyPr lIns="0" tIns="9779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7333" b="0" i="0" u="none" strike="noStrike" dirty="0" err="1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건의</a:t>
            </a:r>
            <a:r>
              <a:rPr lang="en-US" sz="7333" b="0" i="0" u="none" strike="noStrike" dirty="0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/</a:t>
            </a:r>
            <a:r>
              <a:rPr lang="ko-KR" altLang="en-US" sz="7333" b="0" i="0" u="none" strike="noStrike" dirty="0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토의 </a:t>
            </a:r>
            <a:r>
              <a:rPr lang="en-US" sz="7333" b="0" i="0" u="none" strike="noStrike" dirty="0" err="1">
                <a:solidFill>
                  <a:srgbClr val="10314B"/>
                </a:solidFill>
                <a:latin typeface="Pretendard SemiBold"/>
                <a:ea typeface="Pretendard SemiBold"/>
                <a:cs typeface="Pretendard SemiBold"/>
              </a:rPr>
              <a:t>사항</a:t>
            </a:r>
            <a:endParaRPr lang="en-US" sz="7333" b="0" i="0" u="none" strike="noStrike" dirty="0">
              <a:solidFill>
                <a:srgbClr val="1031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1170900" y="12674600"/>
            <a:ext cx="2679700" cy="571500"/>
          </a:xfrm>
          <a:prstGeom prst="rect">
            <a:avLst/>
          </a:prstGeom>
        </p:spPr>
        <p:txBody>
          <a:bodyPr lIns="0" tIns="43308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3247" b="0" i="0" u="none" strike="noStrike" cap="all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11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>
            <a:off x="1219200" y="2362200"/>
            <a:ext cx="222885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61600" y="863600"/>
            <a:ext cx="546100" cy="546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2331720"/>
            <a:ext cx="21579840" cy="1069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기술 현안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JULES MPI 빌드 실패 → 현재 serial 운용, 병렬화 해결 필요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ERA5 forcing time coordinate 불일치 → 표준화/재생성 필요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endParaRPr sz="2500" b="0">
              <a:solidFill>
                <a:srgbClr val="0F304B"/>
              </a:solidFill>
              <a:latin typeface="Pretendard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자료 확보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검증용 관측 DB(FLUXNET, GRDC, GLEAM 등) 접근·라이선스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endParaRPr sz="2500" b="0">
              <a:solidFill>
                <a:srgbClr val="0F304B"/>
              </a:solidFill>
              <a:latin typeface="Pretendard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3000" b="1">
                <a:solidFill>
                  <a:srgbClr val="0F304B"/>
                </a:solidFill>
                <a:latin typeface="Pretendard"/>
              </a:rPr>
              <a:t>■ 협업 / 자원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해양모델팀과 담수 유출 인터페이스(결합 변수·격자) 규격 협의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2500" b="0">
                <a:solidFill>
                  <a:srgbClr val="0F304B"/>
                </a:solidFill>
                <a:latin typeface="Pretendard"/>
              </a:rPr>
              <a:t>•  다중 LSM 장기적분을 위한 계산자원·연구인력 확보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F283C0CF-A843-61E3-4F12-0D2C1DFE29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-206"/>
          <a:stretch/>
        </p:blipFill>
        <p:spPr>
          <a:xfrm>
            <a:off x="-88900" y="-177800"/>
            <a:ext cx="24625300" cy="2755900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AF2D695C-F839-B8CC-D461-3EE6F74CC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00" y="13512800"/>
            <a:ext cx="25031700" cy="266700"/>
          </a:xfrm>
          <a:prstGeom prst="rect">
            <a:avLst/>
          </a:prstGeom>
        </p:spPr>
      </p:pic>
      <p:sp>
        <p:nvSpPr>
          <p:cNvPr id="18" name="TextBox 5">
            <a:extLst>
              <a:ext uri="{FF2B5EF4-FFF2-40B4-BE49-F238E27FC236}">
                <a16:creationId xmlns:a16="http://schemas.microsoft.com/office/drawing/2014/main" id="{32AEC17E-F48B-A961-4972-88E5BDFC774E}"/>
              </a:ext>
            </a:extLst>
          </p:cNvPr>
          <p:cNvSpPr txBox="1"/>
          <p:nvPr/>
        </p:nvSpPr>
        <p:spPr>
          <a:xfrm>
            <a:off x="-127000" y="6267450"/>
            <a:ext cx="24638000" cy="1181100"/>
          </a:xfrm>
          <a:prstGeom prst="rect">
            <a:avLst/>
          </a:prstGeom>
        </p:spPr>
        <p:txBody>
          <a:bodyPr lIns="0" tIns="139700" rIns="0" bIns="0" rtlCol="0" anchor="t"/>
          <a:lstStyle/>
          <a:p>
            <a:pPr lvl="0" algn="ctr">
              <a:lnSpc>
                <a:spcPct val="88810"/>
              </a:lnSpc>
            </a:pPr>
            <a:r>
              <a:rPr lang="ko-KR" altLang="en-US" sz="6666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감사합니다</a:t>
            </a:r>
            <a:r>
              <a:rPr lang="en-US" altLang="ko-KR" sz="6666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endParaRPr lang="en-US" sz="6666" b="0" i="0" u="none" strike="noStrike" dirty="0">
              <a:solidFill>
                <a:srgbClr val="0F30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163BA19C-53D9-F011-91E1-D5EE17FF1495}"/>
              </a:ext>
            </a:extLst>
          </p:cNvPr>
          <p:cNvSpPr txBox="1"/>
          <p:nvPr/>
        </p:nvSpPr>
        <p:spPr>
          <a:xfrm>
            <a:off x="21170900" y="12674600"/>
            <a:ext cx="2679700" cy="571500"/>
          </a:xfrm>
          <a:prstGeom prst="rect">
            <a:avLst/>
          </a:prstGeom>
        </p:spPr>
        <p:txBody>
          <a:bodyPr lIns="0" tIns="43308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3247" b="0" i="0" u="none" strike="noStrike" cap="all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2782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1259</Words>
  <Application>Microsoft Macintosh PowerPoint</Application>
  <PresentationFormat>사용자 지정</PresentationFormat>
  <Paragraphs>222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Arial</vt:lpstr>
      <vt:lpstr>Pretendard SemiBold</vt:lpstr>
      <vt:lpstr>Calibri</vt:lpstr>
      <vt:lpstr>Pretendard Medium</vt:lpstr>
      <vt:lpstr>Pretendard Regular</vt:lpstr>
      <vt:lpstr>Pretendard</vt:lpstr>
      <vt:lpstr>Pretendard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pandl</dc:creator>
  <cp:lastModifiedBy>고영대</cp:lastModifiedBy>
  <cp:revision>14</cp:revision>
  <dcterms:created xsi:type="dcterms:W3CDTF">2006-08-16T00:00:00Z</dcterms:created>
  <dcterms:modified xsi:type="dcterms:W3CDTF">2026-06-15T08:58:21Z</dcterms:modified>
</cp:coreProperties>
</file>