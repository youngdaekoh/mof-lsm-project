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64" r:id="rId3"/>
    <p:sldId id="263" r:id="rId4"/>
    <p:sldId id="265" r:id="rId5"/>
    <p:sldId id="266" r:id="rId6"/>
    <p:sldId id="269" r:id="rId7"/>
    <p:sldId id="271" r:id="rId8"/>
    <p:sldId id="270" r:id="rId9"/>
    <p:sldId id="267" r:id="rId10"/>
    <p:sldId id="268" r:id="rId11"/>
    <p:sldId id="261" r:id="rId12"/>
  </p:sldIdLst>
  <p:sldSz cx="24384000" cy="13716000"/>
  <p:notesSz cx="6858000" cy="9144000"/>
  <p:embeddedFontLst>
    <p:embeddedFont>
      <p:font typeface="맑은 고딕" panose="020B0503020000020004" pitchFamily="34" charset="-127"/>
      <p:regular r:id="rId14"/>
      <p:bold r:id="rId15"/>
    </p:embeddedFont>
    <p:embeddedFont>
      <p:font typeface="Cambria Math" panose="02040503050406030204" pitchFamily="18" charset="0"/>
      <p:regular r:id="rId16"/>
    </p:embeddedFont>
    <p:embeddedFont>
      <p:font typeface="Pretendard Bold" panose="02000803000000020004"/>
      <p:bold r:id="rId17"/>
    </p:embeddedFont>
    <p:embeddedFont>
      <p:font typeface="Pretendard Medium" panose="02000603000000020004"/>
      <p:regular r:id="rId18"/>
      <p:bold r:id="rId19"/>
    </p:embeddedFont>
    <p:embeddedFont>
      <p:font typeface="Pretendard Regular" panose="02000503000000020004"/>
      <p:regular r:id="rId20"/>
    </p:embeddedFont>
    <p:embeddedFont>
      <p:font typeface="Pretendard SemiBold" panose="02000703000000020004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14B"/>
    <a:srgbClr val="0F28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17" autoAdjust="0"/>
    <p:restoredTop sz="94675" autoAdjust="0"/>
  </p:normalViewPr>
  <p:slideViewPr>
    <p:cSldViewPr>
      <p:cViewPr varScale="1">
        <p:scale>
          <a:sx n="70" d="100"/>
          <a:sy n="70" d="100"/>
        </p:scale>
        <p:origin x="696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04" d="100"/>
          <a:sy n="104" d="100"/>
        </p:scale>
        <p:origin x="2644" y="8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8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A4FE8-E269-4D65-B9AC-FD65431267F1}" type="datetimeFigureOut">
              <a:rPr lang="ko-KR" altLang="en-US" smtClean="0"/>
              <a:t>2026. 6. 17.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E27F8-2346-47CF-98DD-EF3B5AE18F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004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27F8-2346-47CF-98DD-EF3B5AE18F1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14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587FD-A424-FC94-E725-53B9722F0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433C67-900C-4861-0F40-05728D230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A5F1AC-6B7D-A035-51F3-90867A801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F892E9-5EEB-2954-DDB9-BB14B7564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27F8-2346-47CF-98DD-EF3B5AE18F1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468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3295C-48A6-C15C-D3E2-BD9FA7D6F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AAE315-293E-A483-5594-8145128D1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9AEE81-F68E-881D-90CA-592ABCA9F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BEEC0E-7418-9E62-9CE6-BD620887D9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27F8-2346-47CF-98DD-EF3B5AE18F1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599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D8F9E-23FD-40B9-A600-71739DF5AF69}" type="datetime1">
              <a:rPr lang="en-US" altLang="ko-KR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2C9FE-2349-4E12-865A-EBDF5CB393A4}" type="datetime1">
              <a:rPr lang="en-US" altLang="ko-KR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D3E8-81D1-45FD-A2FD-4F546AFDAC73}" type="datetime1">
              <a:rPr lang="en-US" altLang="ko-KR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DB2D-FE3F-49B9-A334-11D4F42D450B}" type="datetime1">
              <a:rPr lang="en-US" altLang="ko-KR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A2236-B1FF-4701-B40B-2A6BB8146569}" type="datetime1">
              <a:rPr lang="en-US" altLang="ko-KR" smtClean="0"/>
              <a:t>6/17/26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7B2C-AD80-4878-951E-D46A5A0C51E7}" type="datetime1">
              <a:rPr lang="en-US" altLang="ko-KR" smtClean="0"/>
              <a:t>6/17/26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0" y="13166725"/>
            <a:ext cx="2133600" cy="365125"/>
          </a:xfrm>
        </p:spPr>
        <p:txBody>
          <a:bodyPr/>
          <a:lstStyle/>
          <a:p>
            <a:fld id="{DFE2D41C-4341-4911-8362-FF0D5192E7EC}" type="datetime1">
              <a:rPr lang="en-US" altLang="ko-KR" smtClean="0"/>
              <a:t>6/17/26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515600" y="13349287"/>
            <a:ext cx="28956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1793200" y="12801600"/>
            <a:ext cx="2133600" cy="365125"/>
          </a:xfrm>
        </p:spPr>
        <p:txBody>
          <a:bodyPr/>
          <a:lstStyle>
            <a:lvl1pPr>
              <a:defRPr sz="3250">
                <a:solidFill>
                  <a:schemeClr val="bg1"/>
                </a:solidFill>
                <a:latin typeface="Pretendard SemiBold" panose="020B0600000101010101" charset="-127"/>
                <a:ea typeface="Pretendard SemiBold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DA8E310C-6AC4-CAD5-0965-9A7F65EC39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72" t="29353" r="29889"/>
          <a:stretch/>
        </p:blipFill>
        <p:spPr>
          <a:xfrm rot="10800000">
            <a:off x="0" y="11912600"/>
            <a:ext cx="24384000" cy="1803400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CA9B7AD9-D0FB-DA8E-D941-2D9F3B4594F8}"/>
              </a:ext>
            </a:extLst>
          </p:cNvPr>
          <p:cNvSpPr txBox="1"/>
          <p:nvPr userDrawn="1"/>
        </p:nvSpPr>
        <p:spPr>
          <a:xfrm>
            <a:off x="1066800" y="25400"/>
            <a:ext cx="2679700" cy="571500"/>
          </a:xfrm>
          <a:prstGeom prst="rect">
            <a:avLst/>
          </a:prstGeom>
        </p:spPr>
        <p:txBody>
          <a:bodyPr lIns="0" tIns="3511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247" b="0" i="0" u="none" strike="noStrike" cap="all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721DAC-8FAE-A24E-FD2C-AC149177AC23}"/>
              </a:ext>
            </a:extLst>
          </p:cNvPr>
          <p:cNvSpPr txBox="1"/>
          <p:nvPr userDrawn="1"/>
        </p:nvSpPr>
        <p:spPr>
          <a:xfrm>
            <a:off x="1219200" y="698500"/>
            <a:ext cx="17500600" cy="1308100"/>
          </a:xfrm>
          <a:prstGeom prst="rect">
            <a:avLst/>
          </a:prstGeom>
        </p:spPr>
        <p:txBody>
          <a:bodyPr lIns="0" tIns="97790" rIns="0" bIns="0" rtlCol="0" anchor="t"/>
          <a:lstStyle/>
          <a:p>
            <a:pPr lvl="0" algn="l">
              <a:lnSpc>
                <a:spcPct val="98770"/>
              </a:lnSpc>
            </a:pPr>
            <a:endParaRPr lang="en-US" sz="7333" b="0" i="0" u="none" strike="noStrike" dirty="0">
              <a:solidFill>
                <a:srgbClr val="10314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001A0337-04D2-AA1C-B9E7-E532DF0C050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1219200" y="2362200"/>
            <a:ext cx="22288500" cy="127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2042CC62-BBCA-6B2B-1848-39D4D13B614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304500" y="190500"/>
            <a:ext cx="914400" cy="12192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5D52F87C-D639-3880-D4A4-073C6BCC74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2961600" y="863600"/>
            <a:ext cx="546100" cy="546100"/>
          </a:xfrm>
          <a:prstGeom prst="rect">
            <a:avLst/>
          </a:prstGeom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FF853BC8-4A80-6B18-D5A9-D3B90FB3EE2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51111"/>
          <a:stretch/>
        </p:blipFill>
        <p:spPr>
          <a:xfrm rot="5400000">
            <a:off x="-374650" y="1212850"/>
            <a:ext cx="1028700" cy="2794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1D95C27-2BD4-58A9-5C02-DAF18FE26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262" y="737937"/>
            <a:ext cx="18187737" cy="1143000"/>
          </a:xfrm>
        </p:spPr>
        <p:txBody>
          <a:bodyPr>
            <a:noAutofit/>
          </a:bodyPr>
          <a:lstStyle>
            <a:lvl1pPr algn="l">
              <a:defRPr sz="7330">
                <a:solidFill>
                  <a:srgbClr val="10314B"/>
                </a:solidFill>
                <a:latin typeface="Pretendard SemiBold" panose="020B0600000101010101" charset="-127"/>
                <a:ea typeface="Pretendard SemiBold" panose="020B0600000101010101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36287-BED8-4930-AD1B-0DC39311FD6C}" type="datetime1">
              <a:rPr lang="en-US" altLang="ko-KR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62A6-1576-4182-87EA-8BFABDF502BD}" type="datetime1">
              <a:rPr lang="en-US" altLang="ko-KR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05436-39B1-4604-AD57-CBB0875A0720}" type="datetime1">
              <a:rPr lang="en-US" altLang="ko-KR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39A5D-E262-41E9-B374-8FBF8F8540D2}" type="datetime1">
              <a:rPr lang="en-US" altLang="ko-KR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92EA2B-B3B4-DBEB-B9A6-2713B8E9A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D03F94D-CAFF-E7DA-0C7E-25FB7EFE4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EF802D-E77B-FACF-1BDA-DF953928D4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CCCCC111-9206-4185-A1C8-3E23DA86FE03}" type="datetimeFigureOut">
              <a:rPr lang="ko-KR" altLang="en-US" smtClean="0"/>
              <a:t>2026. 6. 17.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57CF9C-17E2-F413-DFFA-0D0B78243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BFEB07-33F6-1C5B-6841-0FE84469C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99BE6747-C233-49C8-A678-1896B8726A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244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A3420-6865-341C-99F0-EFA752BE0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E05C2F-F423-9FDB-82AD-37DBF85B3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3494C2-EF23-6FAC-0011-97A217468E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CCCCC111-9206-4185-A1C8-3E23DA86FE03}" type="datetimeFigureOut">
              <a:rPr lang="ko-KR" altLang="en-US" smtClean="0"/>
              <a:t>2026. 6. 17.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4C74EF-3EB7-3BEF-3901-CD71ACDF8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65B560-2F90-03CD-3759-83F9FEE45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99BE6747-C233-49C8-A678-1896B8726A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758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7B2C03-AF38-D009-7500-F81DDF7D8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C4FF8C-E171-4F0C-3BDB-2C06CB1AC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E5B194-4F40-4268-3445-2661C805D1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CCCCC111-9206-4185-A1C8-3E23DA86FE03}" type="datetimeFigureOut">
              <a:rPr lang="ko-KR" altLang="en-US" smtClean="0"/>
              <a:t>2026. 6. 17.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58E1A6-1E65-055C-D9CD-1B8260304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179FA1-3AD8-C839-6A2C-CEE37716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99BE6747-C233-49C8-A678-1896B8726A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930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8D125C-F4CA-2736-738B-AB8E9C2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187D13-46D8-12DA-C8F8-DAFA21A59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3C5F350-6779-A846-2A09-DAB7DB9927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FF4429-EB60-C977-F7B4-0E3855D452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CCCCC111-9206-4185-A1C8-3E23DA86FE03}" type="datetimeFigureOut">
              <a:rPr lang="ko-KR" altLang="en-US" smtClean="0"/>
              <a:t>2026. 6. 17.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D7F90C-1EDE-DEB0-87BB-27825E3F5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89A882-63FE-9C02-C22F-624818AB0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99BE6747-C233-49C8-A678-1896B8726A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44825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7372E-8DCC-8D72-1169-61AC56E6C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CA6F54-A2EA-F5B9-1C3C-778866F76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9BBDB3-D98C-73C4-FC56-3C76DC9BA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43041D8-3186-9FB0-03FF-028B8E1811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86F043D-06F3-B94C-3E65-0DE66CC50A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53EA9EE-9D1F-B9D4-C52A-FE7332DB6F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CCCCC111-9206-4185-A1C8-3E23DA86FE03}" type="datetimeFigureOut">
              <a:rPr lang="ko-KR" altLang="en-US" smtClean="0"/>
              <a:t>2026. 6. 17.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A899B2-52E8-522F-E17E-EA4705007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D7DA480-C728-29F8-6729-AF4E6AA01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99BE6747-C233-49C8-A678-1896B8726A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5959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3BE1E-3BBC-66A4-5734-35452B87B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685909-5D72-7202-F23A-3805CDE5B2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CCCCC111-9206-4185-A1C8-3E23DA86FE03}" type="datetimeFigureOut">
              <a:rPr lang="ko-KR" altLang="en-US" smtClean="0"/>
              <a:t>2026. 6. 17.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F649FA-1340-3E6F-3B88-233D88682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B4154CB-88BD-C611-CC1B-06E317D83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99BE6747-C233-49C8-A678-1896B8726A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53592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EB03823-8E37-884F-B851-1873EB14D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CCCCC111-9206-4185-A1C8-3E23DA86FE03}" type="datetimeFigureOut">
              <a:rPr lang="ko-KR" altLang="en-US" smtClean="0"/>
              <a:t>2026. 6. 17.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B6C6BF-A1CE-4174-F293-26D45626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B1C48E-0A61-01F4-7BF0-0B278F356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99BE6747-C233-49C8-A678-1896B8726A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0488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863638-54A2-1518-FA23-2893ED1BB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48FD37-D50A-2941-A815-82FD885B1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6CA9DA-02E1-07E4-0B0B-F502801F7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8D1D34-6F3F-2DC7-21CC-6CA41502C8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CCCCC111-9206-4185-A1C8-3E23DA86FE03}" type="datetimeFigureOut">
              <a:rPr lang="ko-KR" altLang="en-US" smtClean="0"/>
              <a:t>2026. 6. 17.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683025-BB4D-3BAB-8054-7C8DC749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A49828-F31C-7D22-50E9-579106334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99BE6747-C233-49C8-A678-1896B8726A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8523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9303A-49CC-F7B8-7658-80CD157F5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B038992-512C-20F0-7F50-BBAA9D1A56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DE8EFD-173A-3E5E-ECD2-5D961ACDF9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46432B-A0D6-816C-903F-1281E0F4B3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CCCCC111-9206-4185-A1C8-3E23DA86FE03}" type="datetimeFigureOut">
              <a:rPr lang="ko-KR" altLang="en-US" smtClean="0"/>
              <a:t>2026. 6. 17.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BB0DF2-68B5-2B3E-DA59-59F86D194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827AC7-B6BB-E83C-DFF2-2CB9E2B0F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99BE6747-C233-49C8-A678-1896B8726A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5647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5B40A-34DD-0D85-26A6-D5D001DF3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4C824E1-48E2-3039-6565-88586129B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2D445F-B3EA-593C-F331-53DF871290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CCCCC111-9206-4185-A1C8-3E23DA86FE03}" type="datetimeFigureOut">
              <a:rPr lang="ko-KR" altLang="en-US" smtClean="0"/>
              <a:t>2026. 6. 17.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78783F-519A-49DC-4B9A-3ED9AE61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0CD92B-0F99-F6A7-A90A-C3CCA638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99BE6747-C233-49C8-A678-1896B8726A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51649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D0BF520-2725-A22F-26F0-23835F8D5B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56EBB6-DE1E-912F-FFD4-EE1BA33822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247238-217F-BB5D-5774-609179687A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CCCCC111-9206-4185-A1C8-3E23DA86FE03}" type="datetimeFigureOut">
              <a:rPr lang="ko-KR" altLang="en-US" smtClean="0"/>
              <a:t>2026. 6. 17.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4135C2-8F9C-A6A0-9BFE-6D1CCCE2F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536EC9-56E4-C1BD-1B84-9D3EFD3C8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99BE6747-C233-49C8-A678-1896B8726A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40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A383E-36C4-4E4C-918B-58AC8B192B57}" type="datetime1">
              <a:rPr lang="en-US" altLang="ko-KR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3933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100" y="12026900"/>
            <a:ext cx="1066800" cy="1066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1772900"/>
            <a:ext cx="2349500" cy="152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768" y="292100"/>
            <a:ext cx="24434800" cy="10363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8900" y="10591800"/>
            <a:ext cx="245618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4200" y="12153900"/>
            <a:ext cx="2489200" cy="1143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0600" y="11798300"/>
            <a:ext cx="1536700" cy="1536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1200" y="11798300"/>
            <a:ext cx="1549400" cy="1536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79200" y="11785600"/>
            <a:ext cx="1625600" cy="1549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28600" y="11785600"/>
            <a:ext cx="1638300" cy="1549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592300" y="11760200"/>
            <a:ext cx="1574800" cy="1574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916400" y="11709400"/>
            <a:ext cx="1536700" cy="1638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516600" y="11785600"/>
            <a:ext cx="1511300" cy="1511300"/>
          </a:xfrm>
          <a:prstGeom prst="rect">
            <a:avLst/>
          </a:prstGeom>
        </p:spPr>
      </p:pic>
      <p:pic>
        <p:nvPicPr>
          <p:cNvPr id="22" name="Picture 5">
            <a:extLst>
              <a:ext uri="{FF2B5EF4-FFF2-40B4-BE49-F238E27FC236}">
                <a16:creationId xmlns:a16="http://schemas.microsoft.com/office/drawing/2014/main" id="{E67541E0-550D-D758-48E0-6BCAD676DF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01600" y="191837"/>
            <a:ext cx="24561800" cy="152400"/>
          </a:xfrm>
          <a:prstGeom prst="rect">
            <a:avLst/>
          </a:prstGeom>
        </p:spPr>
      </p:pic>
      <p:pic>
        <p:nvPicPr>
          <p:cNvPr id="23" name="Picture 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8400" y="76200"/>
            <a:ext cx="10414000" cy="10744200"/>
          </a:xfrm>
          <a:prstGeom prst="rect">
            <a:avLst/>
          </a:prstGeom>
        </p:spPr>
      </p:pic>
      <p:sp>
        <p:nvSpPr>
          <p:cNvPr id="24" name="TextBox 7"/>
          <p:cNvSpPr txBox="1"/>
          <p:nvPr/>
        </p:nvSpPr>
        <p:spPr>
          <a:xfrm>
            <a:off x="2400300" y="2070100"/>
            <a:ext cx="8267700" cy="3340100"/>
          </a:xfrm>
          <a:prstGeom prst="rect">
            <a:avLst/>
          </a:prstGeom>
        </p:spPr>
        <p:txBody>
          <a:bodyPr lIns="0" tIns="55033" rIns="0" bIns="0" rtlCol="0" anchor="t"/>
          <a:lstStyle/>
          <a:p>
            <a:pPr lvl="0" algn="l">
              <a:lnSpc>
                <a:spcPct val="105410"/>
              </a:lnSpc>
            </a:pPr>
            <a:r>
              <a:rPr lang="en-US" sz="6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차세대</a:t>
            </a:r>
            <a:r>
              <a:rPr lang="en-US" sz="6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6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해양·극지의</a:t>
            </a:r>
            <a:r>
              <a:rPr lang="en-US" sz="6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 </a:t>
            </a:r>
          </a:p>
          <a:p>
            <a:pPr lvl="0" algn="l">
              <a:lnSpc>
                <a:spcPct val="105410"/>
              </a:lnSpc>
            </a:pPr>
            <a:r>
              <a:rPr lang="en-US" sz="6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환경</a:t>
            </a:r>
            <a:r>
              <a:rPr lang="en-US" sz="6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및 </a:t>
            </a:r>
            <a:r>
              <a:rPr lang="en-US" sz="6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생태계에</a:t>
            </a:r>
            <a:r>
              <a:rPr lang="en-US" sz="6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6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관한</a:t>
            </a:r>
            <a:endParaRPr lang="en-US" sz="6666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  <a:p>
            <a:pPr lvl="0" algn="l">
              <a:lnSpc>
                <a:spcPct val="105410"/>
              </a:lnSpc>
            </a:pPr>
            <a:r>
              <a:rPr lang="en-US" sz="6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기후예측시스템</a:t>
            </a:r>
            <a:r>
              <a:rPr lang="en-US" sz="6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6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개발</a:t>
            </a:r>
            <a:endParaRPr lang="en-US" sz="6666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5" name="TextBox 8"/>
          <p:cNvSpPr txBox="1"/>
          <p:nvPr/>
        </p:nvSpPr>
        <p:spPr>
          <a:xfrm>
            <a:off x="2400300" y="1079500"/>
            <a:ext cx="76835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70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1차년도 </a:t>
            </a:r>
            <a:r>
              <a:rPr lang="en-US" sz="3470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착수보고회</a:t>
            </a:r>
            <a:r>
              <a:rPr lang="en-US" sz="3470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(2026.06.22-23)</a:t>
            </a:r>
          </a:p>
        </p:txBody>
      </p:sp>
      <p:sp>
        <p:nvSpPr>
          <p:cNvPr id="26" name="TextBox 18"/>
          <p:cNvSpPr txBox="1"/>
          <p:nvPr/>
        </p:nvSpPr>
        <p:spPr>
          <a:xfrm>
            <a:off x="5753100" y="9486900"/>
            <a:ext cx="53340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한국해양과학기술원</a:t>
            </a:r>
            <a:endParaRPr lang="en-US" sz="3466" b="0" i="0" u="none" strike="noStrike" dirty="0">
              <a:solidFill>
                <a:srgbClr val="FFFFFF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7" name="TextBox 19"/>
          <p:cNvSpPr txBox="1"/>
          <p:nvPr/>
        </p:nvSpPr>
        <p:spPr>
          <a:xfrm>
            <a:off x="2692400" y="9334500"/>
            <a:ext cx="2921000" cy="850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박균도</a:t>
            </a:r>
            <a:endParaRPr lang="en-US" sz="4800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8" name="TextBox 20"/>
          <p:cNvSpPr txBox="1"/>
          <p:nvPr/>
        </p:nvSpPr>
        <p:spPr>
          <a:xfrm>
            <a:off x="2400300" y="6464300"/>
            <a:ext cx="72644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lvl="0" indent="-457200" algn="l">
              <a:lnSpc>
                <a:spcPct val="116199"/>
              </a:lnSpc>
              <a:buFontTx/>
              <a:buChar char="-"/>
            </a:pPr>
            <a:r>
              <a:rPr lang="en-US" sz="3470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지역</a:t>
            </a:r>
            <a:r>
              <a:rPr lang="en-US" sz="347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470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상세</a:t>
            </a:r>
            <a:r>
              <a:rPr lang="en-US" sz="347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470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해양-대기</a:t>
            </a:r>
            <a:r>
              <a:rPr lang="en-US" sz="347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470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결합</a:t>
            </a:r>
            <a:r>
              <a:rPr lang="en-US" sz="347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470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모델</a:t>
            </a:r>
            <a:r>
              <a:rPr lang="en-US" sz="347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470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구축</a:t>
            </a:r>
            <a:r>
              <a:rPr lang="en-US" sz="347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347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및 역학적 상세화 시나리오 생산</a:t>
            </a:r>
            <a:r>
              <a:rPr lang="en-US" altLang="ko-KR" sz="347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ko-KR" altLang="en-US" sz="347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발표제목</a:t>
            </a:r>
            <a:r>
              <a:rPr lang="en-US" altLang="ko-KR" sz="347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)</a:t>
            </a:r>
            <a:endParaRPr lang="en-US" sz="3470" b="0" i="0" u="none" strike="noStrike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9" name="Picture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5400000">
            <a:off x="5245100" y="9766300"/>
            <a:ext cx="419100" cy="50800"/>
          </a:xfrm>
          <a:prstGeom prst="rect">
            <a:avLst/>
          </a:prstGeom>
        </p:spPr>
      </p:pic>
      <p:pic>
        <p:nvPicPr>
          <p:cNvPr id="30" name="그래픽 29">
            <a:extLst>
              <a:ext uri="{FF2B5EF4-FFF2-40B4-BE49-F238E27FC236}">
                <a16:creationId xmlns:a16="http://schemas.microsoft.com/office/drawing/2014/main" id="{1849D26C-D1B0-0694-9A1A-B62AB25F6B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0152896" y="11793209"/>
            <a:ext cx="1536700" cy="1517727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5E33A7-76D3-0FAA-F529-6A0C2776B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20000">
            <a:off x="-914400" y="-596900"/>
            <a:ext cx="11684000" cy="161036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25500" y="977900"/>
            <a:ext cx="7137400" cy="1879600"/>
          </a:xfrm>
          <a:prstGeom prst="rect">
            <a:avLst/>
          </a:prstGeom>
        </p:spPr>
        <p:txBody>
          <a:bodyPr lIns="0" tIns="171450" rIns="0" bIns="0" rtlCol="0" anchor="t"/>
          <a:lstStyle/>
          <a:p>
            <a:pPr lvl="0" algn="l">
              <a:lnSpc>
                <a:spcPct val="93788"/>
              </a:lnSpc>
            </a:pPr>
            <a:r>
              <a:rPr lang="en-US" sz="10540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목차</a:t>
            </a:r>
            <a:endParaRPr lang="en-US" sz="10540" b="0" i="0" u="none" strike="noStrike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642600" y="5346700"/>
            <a:ext cx="64135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333" b="0" i="0" u="none" strike="noStrike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2. 1차년도 연구계획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42600" y="3276600"/>
            <a:ext cx="45847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333" b="0" i="0" u="none" strike="noStrike" dirty="0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1. </a:t>
            </a:r>
            <a:r>
              <a:rPr lang="en-US" sz="5333" b="0" i="0" u="none" strike="noStrike" dirty="0" err="1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전체계획</a:t>
            </a:r>
            <a:endParaRPr lang="en-US" sz="5333" b="0" i="0" u="none" strike="noStrike" dirty="0">
              <a:solidFill>
                <a:srgbClr val="0F304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642600" y="7416800"/>
            <a:ext cx="117221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333" b="0" i="0" u="none" strike="noStrike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3. 성과계획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2100" y="13512800"/>
            <a:ext cx="25031700" cy="266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0642600" y="9486900"/>
            <a:ext cx="117221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333" b="0" i="0" u="none" strike="noStrike" dirty="0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4. </a:t>
            </a:r>
            <a:r>
              <a:rPr lang="en-US" sz="5333" b="0" i="0" u="none" strike="noStrike" dirty="0" err="1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건의</a:t>
            </a:r>
            <a:r>
              <a:rPr lang="en-US" sz="5333" b="0" i="0" u="none" strike="noStrike" dirty="0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/</a:t>
            </a:r>
            <a:r>
              <a:rPr lang="ko-KR" altLang="en-US" sz="5333" b="0" i="0" u="none" strike="noStrike" dirty="0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토의 </a:t>
            </a:r>
            <a:r>
              <a:rPr lang="en-US" sz="5333" b="0" i="0" u="none" strike="noStrike" dirty="0" err="1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사항</a:t>
            </a:r>
            <a:endParaRPr lang="en-US" sz="5333" b="0" i="0" u="none" strike="noStrike" dirty="0">
              <a:solidFill>
                <a:srgbClr val="0F304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87500" y="6299200"/>
            <a:ext cx="10363200" cy="6680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04500" y="190500"/>
            <a:ext cx="914400" cy="1219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36200" y="863600"/>
            <a:ext cx="546100" cy="546100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B3C98AF-1FCE-848E-8A53-1C334214B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2F5E119-AF55-2506-3550-15EA2C82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01C7C30-0662-7D7F-DBB9-DFEFD0A63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전체계획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EFF9C3B-5CFF-29D5-7B39-66E89FFFFDE9}"/>
              </a:ext>
            </a:extLst>
          </p:cNvPr>
          <p:cNvGrpSpPr/>
          <p:nvPr/>
        </p:nvGrpSpPr>
        <p:grpSpPr>
          <a:xfrm>
            <a:off x="361964" y="2575541"/>
            <a:ext cx="22592608" cy="9154156"/>
            <a:chOff x="361964" y="2575541"/>
            <a:chExt cx="22592608" cy="9154156"/>
          </a:xfrm>
        </p:grpSpPr>
        <p:sp>
          <p:nvSpPr>
            <p:cNvPr id="6" name="Rounded Rectangle 12">
              <a:extLst>
                <a:ext uri="{FF2B5EF4-FFF2-40B4-BE49-F238E27FC236}">
                  <a16:creationId xmlns:a16="http://schemas.microsoft.com/office/drawing/2014/main" id="{0F7C96E6-82A8-8AEC-0977-1126E77DD4A7}"/>
                </a:ext>
              </a:extLst>
            </p:cNvPr>
            <p:cNvSpPr/>
            <p:nvPr/>
          </p:nvSpPr>
          <p:spPr>
            <a:xfrm>
              <a:off x="2908526" y="2575541"/>
              <a:ext cx="11453023" cy="1219219"/>
            </a:xfrm>
            <a:prstGeom prst="roundRect">
              <a:avLst>
                <a:gd name="adj" fmla="val 6000"/>
              </a:avLst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27432" rIns="73152" bIns="27432" rtlCol="0" anchor="ctr"/>
            <a:lstStyle/>
            <a:p>
              <a:pPr algn="ctr">
                <a:lnSpc>
                  <a:spcPct val="102000"/>
                </a:lnSpc>
              </a:pPr>
              <a:r>
                <a:rPr lang="en-US" altLang="ko-KR" sz="3200" b="1" dirty="0">
                  <a:solidFill>
                    <a:schemeClr val="tx1"/>
                  </a:solidFill>
                  <a:latin typeface="Pretendard"/>
                </a:rPr>
                <a:t>1</a:t>
              </a:r>
              <a:r>
                <a:rPr lang="ko-KR" altLang="en-US" sz="3200" b="1" dirty="0">
                  <a:solidFill>
                    <a:schemeClr val="tx1"/>
                  </a:solidFill>
                  <a:latin typeface="Pretendard"/>
                </a:rPr>
                <a:t>단계 </a:t>
              </a:r>
              <a:r>
                <a:rPr lang="en-US" altLang="ko-KR" sz="3200" b="1" dirty="0">
                  <a:solidFill>
                    <a:schemeClr val="tx1"/>
                  </a:solidFill>
                  <a:latin typeface="Pretendard"/>
                </a:rPr>
                <a:t>: </a:t>
              </a:r>
              <a:r>
                <a:rPr lang="en-US" sz="3200" b="1" dirty="0" err="1">
                  <a:solidFill>
                    <a:schemeClr val="tx1"/>
                  </a:solidFill>
                  <a:latin typeface="Pretendard"/>
                </a:rPr>
                <a:t>차세대</a:t>
              </a:r>
              <a:r>
                <a:rPr lang="en-US" sz="3200" b="1" dirty="0">
                  <a:solidFill>
                    <a:schemeClr val="tx1"/>
                  </a:solidFill>
                  <a:latin typeface="Pretendard"/>
                </a:rPr>
                <a:t> </a:t>
              </a:r>
              <a:r>
                <a:rPr lang="en-US" sz="3200" b="1" dirty="0" err="1">
                  <a:solidFill>
                    <a:schemeClr val="tx1"/>
                  </a:solidFill>
                  <a:latin typeface="Pretendard"/>
                </a:rPr>
                <a:t>해양기후모델</a:t>
              </a:r>
              <a:r>
                <a:rPr lang="en-US" sz="3200" b="1" dirty="0">
                  <a:solidFill>
                    <a:schemeClr val="tx1"/>
                  </a:solidFill>
                  <a:latin typeface="Pretendard"/>
                </a:rPr>
                <a:t> </a:t>
              </a:r>
              <a:r>
                <a:rPr lang="en-US" sz="3200" b="1" dirty="0" err="1">
                  <a:solidFill>
                    <a:schemeClr val="tx1"/>
                  </a:solidFill>
                  <a:latin typeface="Pretendard"/>
                </a:rPr>
                <a:t>지면</a:t>
              </a:r>
              <a:r>
                <a:rPr lang="en-US" altLang="ko-KR" sz="3200" b="1" dirty="0">
                  <a:solidFill>
                    <a:schemeClr val="tx1"/>
                  </a:solidFill>
                  <a:latin typeface="Pretendard"/>
                </a:rPr>
                <a:t>-</a:t>
              </a:r>
              <a:r>
                <a:rPr lang="ko-KR" altLang="en-US" sz="3200" b="1" dirty="0">
                  <a:solidFill>
                    <a:schemeClr val="tx1"/>
                  </a:solidFill>
                  <a:latin typeface="Pretendard"/>
                </a:rPr>
                <a:t>식생모델 진단 및 개선</a:t>
              </a:r>
              <a:endParaRPr sz="3200" b="1" dirty="0">
                <a:solidFill>
                  <a:schemeClr val="tx1"/>
                </a:solidFill>
                <a:latin typeface="Pretendard"/>
              </a:endParaRPr>
            </a:p>
          </p:txBody>
        </p:sp>
        <p:sp>
          <p:nvSpPr>
            <p:cNvPr id="7" name="양쪽 모서리가 둥근 사각형 6">
              <a:extLst>
                <a:ext uri="{FF2B5EF4-FFF2-40B4-BE49-F238E27FC236}">
                  <a16:creationId xmlns:a16="http://schemas.microsoft.com/office/drawing/2014/main" id="{924A1659-CEAD-E426-EB48-D865943511ED}"/>
                </a:ext>
              </a:extLst>
            </p:cNvPr>
            <p:cNvSpPr/>
            <p:nvPr/>
          </p:nvSpPr>
          <p:spPr>
            <a:xfrm>
              <a:off x="2894015" y="4415305"/>
              <a:ext cx="3673362" cy="1195835"/>
            </a:xfrm>
            <a:prstGeom prst="round2SameRect">
              <a:avLst/>
            </a:prstGeom>
            <a:solidFill>
              <a:srgbClr val="5B9BD5">
                <a:lumMod val="40000"/>
                <a:lumOff val="60000"/>
              </a:srgbClr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2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지면</a:t>
              </a:r>
              <a:r>
                <a:rPr kumimoji="1" lang="en-US" altLang="ko-KR" sz="2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-</a:t>
              </a:r>
              <a:r>
                <a:rPr kumimoji="1" lang="ko-KR" altLang="en-US" sz="2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식생모델 성능</a:t>
              </a:r>
              <a:r>
                <a:rPr kumimoji="1" lang="en-US" altLang="ko-KR" sz="2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,</a:t>
              </a:r>
              <a:br>
                <a:rPr kumimoji="1" lang="en-US" altLang="ko-KR" sz="2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</a:br>
              <a:r>
                <a:rPr kumimoji="1" lang="ko-KR" altLang="en-US" sz="2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해양영향 진단 체계 구축</a:t>
              </a:r>
            </a:p>
          </p:txBody>
        </p:sp>
        <p:sp>
          <p:nvSpPr>
            <p:cNvPr id="8" name="TextBox 43">
              <a:extLst>
                <a:ext uri="{FF2B5EF4-FFF2-40B4-BE49-F238E27FC236}">
                  <a16:creationId xmlns:a16="http://schemas.microsoft.com/office/drawing/2014/main" id="{672F5B3B-319E-442E-F927-022D52908D60}"/>
                </a:ext>
              </a:extLst>
            </p:cNvPr>
            <p:cNvSpPr txBox="1"/>
            <p:nvPr/>
          </p:nvSpPr>
          <p:spPr>
            <a:xfrm>
              <a:off x="3840884" y="3885825"/>
              <a:ext cx="17796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2400" b="1" i="1" dirty="0">
                  <a:solidFill>
                    <a:prstClr val="black"/>
                  </a:solidFill>
                  <a:latin typeface="+mn-ea"/>
                </a:rPr>
                <a:t>2026</a:t>
              </a:r>
              <a:endParaRPr kumimoji="1" lang="ko-KR" altLang="en-US" sz="2400" b="1" i="1" dirty="0">
                <a:solidFill>
                  <a:prstClr val="black"/>
                </a:solidFill>
                <a:latin typeface="+mn-ea"/>
              </a:endParaRPr>
            </a:p>
          </p:txBody>
        </p:sp>
        <p:cxnSp>
          <p:nvCxnSpPr>
            <p:cNvPr id="9" name="직선 연결선 53">
              <a:extLst>
                <a:ext uri="{FF2B5EF4-FFF2-40B4-BE49-F238E27FC236}">
                  <a16:creationId xmlns:a16="http://schemas.microsoft.com/office/drawing/2014/main" id="{2CEC787D-7446-4F80-9D78-19BAC8734CC0}"/>
                </a:ext>
              </a:extLst>
            </p:cNvPr>
            <p:cNvCxnSpPr>
              <a:cxnSpLocks/>
            </p:cNvCxnSpPr>
            <p:nvPr/>
          </p:nvCxnSpPr>
          <p:spPr>
            <a:xfrm>
              <a:off x="2926672" y="5905500"/>
              <a:ext cx="19990471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" name="직선 연결선 54">
              <a:extLst>
                <a:ext uri="{FF2B5EF4-FFF2-40B4-BE49-F238E27FC236}">
                  <a16:creationId xmlns:a16="http://schemas.microsoft.com/office/drawing/2014/main" id="{B0DC4F84-77FF-C395-F677-CA7334B6CBCB}"/>
                </a:ext>
              </a:extLst>
            </p:cNvPr>
            <p:cNvCxnSpPr>
              <a:cxnSpLocks/>
            </p:cNvCxnSpPr>
            <p:nvPr/>
          </p:nvCxnSpPr>
          <p:spPr>
            <a:xfrm>
              <a:off x="6567377" y="5671019"/>
              <a:ext cx="314581" cy="234481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</p:cxn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F89F180-137B-897E-0A5A-009714D6420A}"/>
                </a:ext>
              </a:extLst>
            </p:cNvPr>
            <p:cNvSpPr/>
            <p:nvPr/>
          </p:nvSpPr>
          <p:spPr>
            <a:xfrm>
              <a:off x="2924184" y="8109814"/>
              <a:ext cx="3657704" cy="1571345"/>
            </a:xfrm>
            <a:prstGeom prst="rect">
              <a:avLst/>
            </a:prstGeom>
            <a:solidFill>
              <a:srgbClr val="FFC000">
                <a:lumMod val="40000"/>
                <a:lumOff val="60000"/>
              </a:srgbClr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2100" b="1" kern="0" dirty="0">
                  <a:solidFill>
                    <a:sysClr val="windowText" lastClr="000000"/>
                  </a:solidFill>
                  <a:latin typeface="+mn-ea"/>
                </a:rPr>
                <a:t>1979-</a:t>
              </a:r>
              <a:r>
                <a:rPr kumimoji="1" lang="ko-KR" altLang="en-US" sz="2100" b="1" kern="0" dirty="0">
                  <a:solidFill>
                    <a:sysClr val="windowText" lastClr="000000"/>
                  </a:solidFill>
                  <a:latin typeface="+mn-ea"/>
                </a:rPr>
                <a:t>현재 </a:t>
              </a:r>
              <a:r>
                <a:rPr kumimoji="1" lang="en-US" altLang="ko-KR" sz="2100" b="1" kern="0" dirty="0">
                  <a:solidFill>
                    <a:sysClr val="windowText" lastClr="000000"/>
                  </a:solidFill>
                  <a:latin typeface="+mn-ea"/>
                </a:rPr>
                <a:t>offline </a:t>
              </a:r>
              <a:r>
                <a:rPr kumimoji="1" lang="ko-KR" altLang="en-US" sz="2100" b="1" kern="0" dirty="0">
                  <a:solidFill>
                    <a:sysClr val="windowText" lastClr="000000"/>
                  </a:solidFill>
                  <a:latin typeface="+mn-ea"/>
                </a:rPr>
                <a:t>적분</a:t>
              </a:r>
              <a:r>
                <a:rPr kumimoji="1" lang="en-US" altLang="ko-KR" sz="2100" b="1" kern="0" dirty="0">
                  <a:solidFill>
                    <a:sysClr val="windowText" lastClr="000000"/>
                  </a:solidFill>
                  <a:latin typeface="+mn-ea"/>
                </a:rPr>
                <a:t>,</a:t>
              </a:r>
              <a:br>
                <a:rPr kumimoji="1" lang="en-US" altLang="ko-KR" sz="2100" b="1" kern="0" dirty="0">
                  <a:solidFill>
                    <a:sysClr val="windowText" lastClr="000000"/>
                  </a:solidFill>
                  <a:latin typeface="+mn-ea"/>
                </a:rPr>
              </a:br>
              <a:r>
                <a:rPr kumimoji="1" lang="ko-KR" altLang="en-US" sz="2100" b="1" kern="0" dirty="0">
                  <a:solidFill>
                    <a:sysClr val="windowText" lastClr="000000"/>
                  </a:solidFill>
                  <a:latin typeface="+mn-ea"/>
                </a:rPr>
                <a:t>토양수분</a:t>
              </a:r>
              <a:r>
                <a:rPr lang="en-US" altLang="ko-KR" sz="2100" b="1" dirty="0">
                  <a:solidFill>
                    <a:prstClr val="black"/>
                  </a:solidFill>
                  <a:latin typeface="+mn-ea"/>
                </a:rPr>
                <a:t> · </a:t>
              </a:r>
              <a:r>
                <a:rPr kumimoji="1" lang="ko-KR" altLang="en-US" sz="2100" b="1" kern="0" dirty="0">
                  <a:solidFill>
                    <a:sysClr val="windowText" lastClr="000000"/>
                  </a:solidFill>
                  <a:latin typeface="+mn-ea"/>
                </a:rPr>
                <a:t>온도 </a:t>
              </a:r>
              <a:r>
                <a:rPr lang="en-US" altLang="ko-KR" sz="2100" b="1" dirty="0">
                  <a:solidFill>
                    <a:prstClr val="black"/>
                  </a:solidFill>
                  <a:latin typeface="+mn-ea"/>
                </a:rPr>
                <a:t>· </a:t>
              </a:r>
              <a:r>
                <a:rPr lang="ko-KR" altLang="en-US" sz="2100" b="1" dirty="0">
                  <a:solidFill>
                    <a:prstClr val="black"/>
                  </a:solidFill>
                  <a:latin typeface="+mn-ea"/>
                </a:rPr>
                <a:t>식생</a:t>
              </a:r>
              <a:br>
                <a:rPr lang="en-US" altLang="ko-KR" sz="2100" b="1" dirty="0">
                  <a:solidFill>
                    <a:prstClr val="black"/>
                  </a:solidFill>
                  <a:latin typeface="+mn-ea"/>
                </a:rPr>
              </a:br>
              <a:r>
                <a:rPr lang="ko-KR" altLang="en-US" sz="2100" b="1" dirty="0">
                  <a:solidFill>
                    <a:prstClr val="black"/>
                  </a:solidFill>
                  <a:latin typeface="+mn-ea"/>
                </a:rPr>
                <a:t>기본 성능 진단</a:t>
              </a:r>
              <a:endParaRPr kumimoji="1" lang="en-US" altLang="ko-KR" sz="2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2" name="양쪽 모서리가 둥근 사각형 11">
              <a:extLst>
                <a:ext uri="{FF2B5EF4-FFF2-40B4-BE49-F238E27FC236}">
                  <a16:creationId xmlns:a16="http://schemas.microsoft.com/office/drawing/2014/main" id="{3453FBAC-CD58-6E13-ABF9-E17D6E1ED05A}"/>
                </a:ext>
              </a:extLst>
            </p:cNvPr>
            <p:cNvSpPr/>
            <p:nvPr/>
          </p:nvSpPr>
          <p:spPr>
            <a:xfrm>
              <a:off x="6798930" y="4406196"/>
              <a:ext cx="3673362" cy="1195835"/>
            </a:xfrm>
            <a:prstGeom prst="round2SameRect">
              <a:avLst/>
            </a:prstGeom>
            <a:solidFill>
              <a:srgbClr val="5B9BD5">
                <a:lumMod val="40000"/>
                <a:lumOff val="60000"/>
              </a:srgbClr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100" b="1" i="0" u="none" strike="noStrike" kern="0" cap="none" spc="-1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지면</a:t>
              </a:r>
              <a:r>
                <a:rPr kumimoji="0" lang="en-US" altLang="ko-KR" sz="2100" b="1" i="0" u="none" strike="noStrike" kern="0" cap="none" spc="-1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-</a:t>
              </a:r>
              <a:r>
                <a:rPr kumimoji="0" lang="ko-KR" altLang="en-US" sz="2100" b="1" i="0" u="none" strike="noStrike" kern="0" cap="none" spc="-1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식생모델 기후변화 민감도 실험 및 해양영향 진단</a:t>
              </a:r>
              <a:endParaRPr kumimoji="0" lang="en-US" altLang="ko-KR" sz="2100" b="1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3" name="양쪽 모서리가 둥근 사각형 12">
              <a:extLst>
                <a:ext uri="{FF2B5EF4-FFF2-40B4-BE49-F238E27FC236}">
                  <a16:creationId xmlns:a16="http://schemas.microsoft.com/office/drawing/2014/main" id="{B4633A4B-EFAC-D844-F0BE-FB1BBE141D39}"/>
                </a:ext>
              </a:extLst>
            </p:cNvPr>
            <p:cNvSpPr/>
            <p:nvPr/>
          </p:nvSpPr>
          <p:spPr>
            <a:xfrm>
              <a:off x="10703845" y="4406196"/>
              <a:ext cx="3673362" cy="1195835"/>
            </a:xfrm>
            <a:prstGeom prst="round2SameRect">
              <a:avLst/>
            </a:prstGeom>
            <a:solidFill>
              <a:srgbClr val="5B9BD5">
                <a:lumMod val="40000"/>
                <a:lumOff val="60000"/>
              </a:srgbClr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100" b="1" i="0" u="none" strike="noStrike" kern="0" cap="none" spc="-1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CMIP7 </a:t>
              </a:r>
              <a:r>
                <a:rPr kumimoji="0" lang="ko-KR" altLang="en-US" sz="2100" b="1" i="0" u="none" strike="noStrike" kern="0" cap="none" spc="-1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실험 지면</a:t>
              </a:r>
              <a:r>
                <a:rPr kumimoji="0" lang="en-US" altLang="ko-KR" sz="2100" b="1" i="0" u="none" strike="noStrike" kern="0" cap="none" spc="-1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-</a:t>
              </a:r>
              <a:r>
                <a:rPr kumimoji="0" lang="ko-KR" altLang="en-US" sz="2100" b="1" i="0" u="none" strike="noStrike" kern="0" cap="none" spc="-1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식생</a:t>
              </a:r>
              <a:r>
                <a:rPr kumimoji="0" lang="en-US" altLang="ko-KR" sz="2100" b="1" i="0" u="none" strike="noStrike" kern="0" cap="none" spc="-1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-</a:t>
              </a:r>
              <a:r>
                <a:rPr kumimoji="0" lang="ko-KR" altLang="en-US" sz="2100" b="1" i="0" u="none" strike="noStrike" kern="0" cap="none" spc="-1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대기 상호작용 진단 및 개선점 도출</a:t>
              </a:r>
              <a:endParaRPr kumimoji="0" lang="en-US" altLang="ko-KR" sz="2100" b="1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4" name="TextBox 52">
              <a:extLst>
                <a:ext uri="{FF2B5EF4-FFF2-40B4-BE49-F238E27FC236}">
                  <a16:creationId xmlns:a16="http://schemas.microsoft.com/office/drawing/2014/main" id="{18D8AB26-043F-EA3B-0ABC-76FD3A3E3CF5}"/>
                </a:ext>
              </a:extLst>
            </p:cNvPr>
            <p:cNvSpPr txBox="1"/>
            <p:nvPr/>
          </p:nvSpPr>
          <p:spPr>
            <a:xfrm>
              <a:off x="7745799" y="3887983"/>
              <a:ext cx="17796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2400" b="1" i="1" dirty="0">
                  <a:solidFill>
                    <a:prstClr val="black"/>
                  </a:solidFill>
                  <a:latin typeface="+mn-ea"/>
                </a:rPr>
                <a:t>2027</a:t>
              </a:r>
              <a:endParaRPr kumimoji="1" lang="ko-KR" altLang="en-US" sz="2400" b="1" i="1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15" name="TextBox 56">
              <a:extLst>
                <a:ext uri="{FF2B5EF4-FFF2-40B4-BE49-F238E27FC236}">
                  <a16:creationId xmlns:a16="http://schemas.microsoft.com/office/drawing/2014/main" id="{AF817E3B-534B-8985-A740-FE0829A694EF}"/>
                </a:ext>
              </a:extLst>
            </p:cNvPr>
            <p:cNvSpPr txBox="1"/>
            <p:nvPr/>
          </p:nvSpPr>
          <p:spPr>
            <a:xfrm>
              <a:off x="11649949" y="3854555"/>
              <a:ext cx="17796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2400" b="1" i="1" dirty="0">
                  <a:solidFill>
                    <a:prstClr val="black"/>
                  </a:solidFill>
                  <a:latin typeface="+mn-ea"/>
                </a:rPr>
                <a:t>2028</a:t>
              </a:r>
              <a:endParaRPr kumimoji="1" lang="ko-KR" altLang="en-US" sz="2400" b="1" i="1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257D4A7-E40F-5A7F-2336-380EF38284AE}"/>
                </a:ext>
              </a:extLst>
            </p:cNvPr>
            <p:cNvSpPr/>
            <p:nvPr/>
          </p:nvSpPr>
          <p:spPr>
            <a:xfrm>
              <a:off x="2894015" y="6096000"/>
              <a:ext cx="3673359" cy="834039"/>
            </a:xfrm>
            <a:prstGeom prst="rect">
              <a:avLst/>
            </a:prstGeom>
            <a:solidFill>
              <a:srgbClr val="ED7D31">
                <a:lumMod val="40000"/>
                <a:lumOff val="60000"/>
              </a:srgbClr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lnSpc>
                  <a:spcPct val="102000"/>
                </a:lnSpc>
              </a:pPr>
              <a:r>
                <a:rPr lang="en" altLang="ko-KR" sz="2100" b="1" dirty="0">
                  <a:solidFill>
                    <a:srgbClr val="3A2A12"/>
                  </a:solidFill>
                  <a:latin typeface="Pretendard"/>
                </a:rPr>
                <a:t>LSM </a:t>
              </a:r>
              <a:r>
                <a:rPr lang="ko-KR" altLang="en-US" sz="2100" b="1" dirty="0">
                  <a:solidFill>
                    <a:srgbClr val="3A2A12"/>
                  </a:solidFill>
                  <a:latin typeface="Pretendard"/>
                </a:rPr>
                <a:t>오프라인 테스트베드 구축</a:t>
              </a:r>
            </a:p>
          </p:txBody>
        </p:sp>
        <p:sp>
          <p:nvSpPr>
            <p:cNvPr id="17" name="TextBox 59">
              <a:extLst>
                <a:ext uri="{FF2B5EF4-FFF2-40B4-BE49-F238E27FC236}">
                  <a16:creationId xmlns:a16="http://schemas.microsoft.com/office/drawing/2014/main" id="{77B278D2-FDA5-D190-C5CF-112802E69A9F}"/>
                </a:ext>
              </a:extLst>
            </p:cNvPr>
            <p:cNvSpPr txBox="1"/>
            <p:nvPr/>
          </p:nvSpPr>
          <p:spPr>
            <a:xfrm>
              <a:off x="500665" y="6562996"/>
              <a:ext cx="195678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 latinLnBrk="0"/>
              <a:r>
                <a:rPr lang="ko-KR" altLang="en-US" sz="2400" b="1" dirty="0">
                  <a:solidFill>
                    <a:prstClr val="black"/>
                  </a:solidFill>
                  <a:latin typeface="+mn-ea"/>
                </a:rPr>
                <a:t>자료구축 및</a:t>
              </a:r>
              <a:br>
                <a:rPr lang="en-US" altLang="ko-KR" sz="2400" b="1" dirty="0">
                  <a:solidFill>
                    <a:prstClr val="black"/>
                  </a:solidFill>
                  <a:latin typeface="+mn-ea"/>
                </a:rPr>
              </a:br>
              <a:r>
                <a:rPr lang="ko-KR" altLang="en-US" sz="2400" b="1" dirty="0">
                  <a:solidFill>
                    <a:prstClr val="black"/>
                  </a:solidFill>
                  <a:latin typeface="+mn-ea"/>
                </a:rPr>
                <a:t>테스트베드</a:t>
              </a:r>
            </a:p>
          </p:txBody>
        </p:sp>
        <p:cxnSp>
          <p:nvCxnSpPr>
            <p:cNvPr id="18" name="직선 연결선 7">
              <a:extLst>
                <a:ext uri="{FF2B5EF4-FFF2-40B4-BE49-F238E27FC236}">
                  <a16:creationId xmlns:a16="http://schemas.microsoft.com/office/drawing/2014/main" id="{3CCB9A89-DA13-6C95-B64B-B58CF846591F}"/>
                </a:ext>
              </a:extLst>
            </p:cNvPr>
            <p:cNvCxnSpPr>
              <a:cxnSpLocks/>
            </p:cNvCxnSpPr>
            <p:nvPr/>
          </p:nvCxnSpPr>
          <p:spPr>
            <a:xfrm>
              <a:off x="2685372" y="6095591"/>
              <a:ext cx="0" cy="1791334"/>
            </a:xfrm>
            <a:prstGeom prst="line">
              <a:avLst/>
            </a:prstGeom>
            <a:noFill/>
            <a:ln w="63500" cap="flat" cmpd="sng" algn="ctr">
              <a:solidFill>
                <a:srgbClr val="ED7D31">
                  <a:lumMod val="60000"/>
                  <a:lumOff val="40000"/>
                </a:srgbClr>
              </a:solidFill>
              <a:prstDash val="solid"/>
              <a:miter lim="800000"/>
              <a:headEnd type="oval" w="med" len="med"/>
              <a:tailEnd type="oval" w="med" len="med"/>
            </a:ln>
            <a:effectLst/>
          </p:spPr>
        </p:cxnSp>
        <p:cxnSp>
          <p:nvCxnSpPr>
            <p:cNvPr id="19" name="직선 연결선 61">
              <a:extLst>
                <a:ext uri="{FF2B5EF4-FFF2-40B4-BE49-F238E27FC236}">
                  <a16:creationId xmlns:a16="http://schemas.microsoft.com/office/drawing/2014/main" id="{E35E94AD-735C-B96A-A237-1F4464208C5A}"/>
                </a:ext>
              </a:extLst>
            </p:cNvPr>
            <p:cNvCxnSpPr>
              <a:cxnSpLocks/>
            </p:cNvCxnSpPr>
            <p:nvPr/>
          </p:nvCxnSpPr>
          <p:spPr>
            <a:xfrm>
              <a:off x="2685372" y="8123838"/>
              <a:ext cx="0" cy="1571345"/>
            </a:xfrm>
            <a:prstGeom prst="line">
              <a:avLst/>
            </a:prstGeom>
            <a:noFill/>
            <a:ln w="63500" cap="flat" cmpd="sng" algn="ctr">
              <a:solidFill>
                <a:srgbClr val="FFC000">
                  <a:lumMod val="60000"/>
                  <a:lumOff val="40000"/>
                </a:srgbClr>
              </a:solidFill>
              <a:prstDash val="solid"/>
              <a:miter lim="800000"/>
              <a:headEnd type="oval" w="med" len="med"/>
              <a:tailEnd type="oval" w="med" len="med"/>
            </a:ln>
            <a:effectLst/>
          </p:spPr>
        </p:cxnSp>
        <p:cxnSp>
          <p:nvCxnSpPr>
            <p:cNvPr id="20" name="직선 연결선 62">
              <a:extLst>
                <a:ext uri="{FF2B5EF4-FFF2-40B4-BE49-F238E27FC236}">
                  <a16:creationId xmlns:a16="http://schemas.microsoft.com/office/drawing/2014/main" id="{9D5512BB-2FD1-BB0F-2225-12D0D167D83B}"/>
                </a:ext>
              </a:extLst>
            </p:cNvPr>
            <p:cNvCxnSpPr>
              <a:cxnSpLocks/>
            </p:cNvCxnSpPr>
            <p:nvPr/>
          </p:nvCxnSpPr>
          <p:spPr>
            <a:xfrm>
              <a:off x="2685372" y="10037643"/>
              <a:ext cx="0" cy="1571345"/>
            </a:xfrm>
            <a:prstGeom prst="line">
              <a:avLst/>
            </a:prstGeom>
            <a:noFill/>
            <a:ln w="63500" cap="flat" cmpd="sng" algn="ctr">
              <a:solidFill>
                <a:srgbClr val="70AD47">
                  <a:lumMod val="60000"/>
                  <a:lumOff val="40000"/>
                </a:srgbClr>
              </a:solidFill>
              <a:prstDash val="solid"/>
              <a:miter lim="800000"/>
              <a:headEnd type="oval" w="med" len="med"/>
              <a:tailEnd type="oval" w="med" len="med"/>
            </a:ln>
            <a:effectLst/>
          </p:spPr>
        </p:cxn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AFAD4C76-01AE-84B9-9371-5CAF03F32ED6}"/>
                </a:ext>
              </a:extLst>
            </p:cNvPr>
            <p:cNvSpPr/>
            <p:nvPr/>
          </p:nvSpPr>
          <p:spPr>
            <a:xfrm>
              <a:off x="10703845" y="6195513"/>
              <a:ext cx="3673362" cy="1576887"/>
            </a:xfrm>
            <a:prstGeom prst="rect">
              <a:avLst/>
            </a:prstGeom>
            <a:solidFill>
              <a:srgbClr val="ED7D31">
                <a:lumMod val="40000"/>
                <a:lumOff val="60000"/>
              </a:srgbClr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2100" b="1" kern="0" dirty="0">
                  <a:solidFill>
                    <a:prstClr val="black"/>
                  </a:solidFill>
                  <a:latin typeface="+mn-ea"/>
                </a:rPr>
                <a:t>CMIP7 </a:t>
              </a:r>
              <a:r>
                <a:rPr kumimoji="1" lang="ko-KR" altLang="en-US" sz="2100" b="1" kern="0" dirty="0">
                  <a:solidFill>
                    <a:prstClr val="black"/>
                  </a:solidFill>
                  <a:latin typeface="+mn-ea"/>
                </a:rPr>
                <a:t>시나리오 자료 </a:t>
              </a:r>
              <a:br>
                <a:rPr kumimoji="1" lang="en-US" altLang="ko-KR" sz="2100" b="1" kern="0" dirty="0">
                  <a:solidFill>
                    <a:prstClr val="black"/>
                  </a:solidFill>
                  <a:latin typeface="+mn-ea"/>
                </a:rPr>
              </a:br>
              <a:r>
                <a:rPr kumimoji="1" lang="ko-KR" altLang="en-US" sz="2100" b="1" kern="0" dirty="0">
                  <a:solidFill>
                    <a:prstClr val="black"/>
                  </a:solidFill>
                  <a:latin typeface="+mn-ea"/>
                </a:rPr>
                <a:t>확보</a:t>
              </a:r>
              <a:r>
                <a:rPr lang="en-US" altLang="ko-KR" sz="2100" b="1" dirty="0">
                  <a:solidFill>
                    <a:prstClr val="black"/>
                  </a:solidFill>
                  <a:latin typeface="+mn-ea"/>
                </a:rPr>
                <a:t> ·</a:t>
              </a:r>
              <a:r>
                <a:rPr kumimoji="1" lang="ko-KR" altLang="en-US" sz="2100" b="1" kern="0" dirty="0">
                  <a:solidFill>
                    <a:prstClr val="black"/>
                  </a:solidFill>
                  <a:latin typeface="+mn-ea"/>
                </a:rPr>
                <a:t> </a:t>
              </a:r>
              <a:r>
                <a:rPr kumimoji="1" lang="ko-KR" altLang="en-US" sz="2100" b="1" kern="0" dirty="0" err="1">
                  <a:solidFill>
                    <a:prstClr val="black"/>
                  </a:solidFill>
                  <a:latin typeface="+mn-ea"/>
                </a:rPr>
                <a:t>전처리</a:t>
              </a:r>
              <a:r>
                <a:rPr kumimoji="1" lang="en-US" altLang="ko-KR" sz="2100" b="1" kern="0" dirty="0">
                  <a:solidFill>
                    <a:prstClr val="black"/>
                  </a:solidFill>
                  <a:latin typeface="+mn-ea"/>
                </a:rPr>
                <a:t> </a:t>
              </a:r>
              <a:endParaRPr kumimoji="1" lang="ko-KR" altLang="en-US" sz="2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2" name="양쪽 모서리가 둥근 사각형 21">
              <a:extLst>
                <a:ext uri="{FF2B5EF4-FFF2-40B4-BE49-F238E27FC236}">
                  <a16:creationId xmlns:a16="http://schemas.microsoft.com/office/drawing/2014/main" id="{B1591AC4-4958-6C14-D6EF-D459F4089BBF}"/>
                </a:ext>
              </a:extLst>
            </p:cNvPr>
            <p:cNvSpPr/>
            <p:nvPr/>
          </p:nvSpPr>
          <p:spPr>
            <a:xfrm>
              <a:off x="15375579" y="4398981"/>
              <a:ext cx="3673362" cy="1195835"/>
            </a:xfrm>
            <a:prstGeom prst="round2SameRect">
              <a:avLst/>
            </a:prstGeom>
            <a:solidFill>
              <a:srgbClr val="5B9BD5">
                <a:lumMod val="40000"/>
                <a:lumOff val="60000"/>
              </a:srgbClr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100" b="1" i="0" u="none" strike="noStrike" kern="0" cap="none" spc="-1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해양기후시스템 모델 지면</a:t>
              </a:r>
              <a:r>
                <a:rPr kumimoji="0" lang="en-US" altLang="ko-KR" sz="2100" b="1" i="0" u="none" strike="noStrike" kern="0" cap="none" spc="-1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-</a:t>
              </a:r>
              <a:r>
                <a:rPr kumimoji="0" lang="ko-KR" altLang="en-US" sz="2100" b="1" i="0" u="none" strike="noStrike" kern="0" cap="none" spc="-1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식생 물리과정</a:t>
              </a:r>
              <a:r>
                <a:rPr kumimoji="0" lang="en-US" altLang="ko-KR" sz="2100" b="1" i="0" u="none" strike="noStrike" kern="0" cap="none" spc="-1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,</a:t>
              </a:r>
              <a:br>
                <a:rPr kumimoji="0" lang="en-US" altLang="ko-KR" sz="2100" b="1" i="0" u="none" strike="noStrike" kern="0" cap="none" spc="-1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</a:br>
              <a:r>
                <a:rPr kumimoji="0" lang="ko-KR" altLang="en-US" sz="2100" b="1" i="0" u="none" strike="noStrike" kern="0" cap="none" spc="-1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유출모델 개선 및 고도화</a:t>
              </a:r>
              <a:endParaRPr kumimoji="0" lang="en-US" altLang="ko-KR" sz="2100" b="1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3" name="양쪽 모서리가 둥근 사각형 22">
              <a:extLst>
                <a:ext uri="{FF2B5EF4-FFF2-40B4-BE49-F238E27FC236}">
                  <a16:creationId xmlns:a16="http://schemas.microsoft.com/office/drawing/2014/main" id="{38A05B4B-FF53-6D71-E1FA-07719D122C83}"/>
                </a:ext>
              </a:extLst>
            </p:cNvPr>
            <p:cNvSpPr/>
            <p:nvPr/>
          </p:nvSpPr>
          <p:spPr>
            <a:xfrm>
              <a:off x="19281210" y="4396018"/>
              <a:ext cx="3673362" cy="1195835"/>
            </a:xfrm>
            <a:prstGeom prst="round2SameRect">
              <a:avLst/>
            </a:prstGeom>
            <a:solidFill>
              <a:srgbClr val="5B9BD5">
                <a:lumMod val="40000"/>
                <a:lumOff val="60000"/>
              </a:srgbClr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100" b="1" i="0" u="none" strike="noStrike" kern="0" cap="none" spc="-1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지면</a:t>
              </a:r>
              <a:r>
                <a:rPr kumimoji="0" lang="en-US" altLang="ko-KR" sz="2100" b="1" i="0" u="none" strike="noStrike" kern="0" cap="none" spc="-1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-</a:t>
              </a:r>
              <a:r>
                <a:rPr kumimoji="0" lang="ko-KR" altLang="en-US" sz="2100" b="1" i="0" u="none" strike="noStrike" kern="0" cap="none" spc="-1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해양 상호작용 전망 및 극한 기후 예측 성능 평가</a:t>
              </a:r>
              <a:endParaRPr kumimoji="0" lang="en-US" altLang="ko-KR" sz="2100" b="1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4" name="TextBox 52">
              <a:extLst>
                <a:ext uri="{FF2B5EF4-FFF2-40B4-BE49-F238E27FC236}">
                  <a16:creationId xmlns:a16="http://schemas.microsoft.com/office/drawing/2014/main" id="{5FCDA9BD-5FAE-4D2E-8C17-DD4414DAAC8D}"/>
                </a:ext>
              </a:extLst>
            </p:cNvPr>
            <p:cNvSpPr txBox="1"/>
            <p:nvPr/>
          </p:nvSpPr>
          <p:spPr>
            <a:xfrm>
              <a:off x="16320918" y="3880279"/>
              <a:ext cx="17796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2400" b="1" i="1" dirty="0">
                  <a:solidFill>
                    <a:prstClr val="black"/>
                  </a:solidFill>
                  <a:latin typeface="+mn-ea"/>
                </a:rPr>
                <a:t>2029</a:t>
              </a:r>
              <a:endParaRPr kumimoji="1" lang="ko-KR" altLang="en-US" sz="2400" b="1" i="1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25" name="TextBox 56">
              <a:extLst>
                <a:ext uri="{FF2B5EF4-FFF2-40B4-BE49-F238E27FC236}">
                  <a16:creationId xmlns:a16="http://schemas.microsoft.com/office/drawing/2014/main" id="{43528178-87A0-5B1B-76E5-E948EFD8420A}"/>
                </a:ext>
              </a:extLst>
            </p:cNvPr>
            <p:cNvSpPr txBox="1"/>
            <p:nvPr/>
          </p:nvSpPr>
          <p:spPr>
            <a:xfrm>
              <a:off x="20225068" y="3859884"/>
              <a:ext cx="17796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2400" b="1" i="1" dirty="0">
                  <a:solidFill>
                    <a:prstClr val="black"/>
                  </a:solidFill>
                  <a:latin typeface="+mn-ea"/>
                </a:rPr>
                <a:t>2030</a:t>
              </a:r>
              <a:endParaRPr kumimoji="1" lang="ko-KR" altLang="en-US" sz="2400" b="1" i="1" dirty="0">
                <a:solidFill>
                  <a:prstClr val="black"/>
                </a:solidFill>
                <a:latin typeface="+mn-ea"/>
              </a:endParaRPr>
            </a:p>
          </p:txBody>
        </p:sp>
        <p:cxnSp>
          <p:nvCxnSpPr>
            <p:cNvPr id="26" name="직선 연결선 54">
              <a:extLst>
                <a:ext uri="{FF2B5EF4-FFF2-40B4-BE49-F238E27FC236}">
                  <a16:creationId xmlns:a16="http://schemas.microsoft.com/office/drawing/2014/main" id="{13740A92-3DCB-CFCB-142C-DCFB9E31C2F9}"/>
                </a:ext>
              </a:extLst>
            </p:cNvPr>
            <p:cNvCxnSpPr>
              <a:cxnSpLocks/>
            </p:cNvCxnSpPr>
            <p:nvPr/>
          </p:nvCxnSpPr>
          <p:spPr>
            <a:xfrm>
              <a:off x="10472292" y="5678234"/>
              <a:ext cx="314581" cy="234481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</p:cxnSp>
        <p:cxnSp>
          <p:nvCxnSpPr>
            <p:cNvPr id="27" name="직선 연결선 54">
              <a:extLst>
                <a:ext uri="{FF2B5EF4-FFF2-40B4-BE49-F238E27FC236}">
                  <a16:creationId xmlns:a16="http://schemas.microsoft.com/office/drawing/2014/main" id="{5DE2E93F-DAB9-8580-04B7-8779EF09781B}"/>
                </a:ext>
              </a:extLst>
            </p:cNvPr>
            <p:cNvCxnSpPr>
              <a:cxnSpLocks/>
            </p:cNvCxnSpPr>
            <p:nvPr/>
          </p:nvCxnSpPr>
          <p:spPr>
            <a:xfrm>
              <a:off x="15144026" y="5678234"/>
              <a:ext cx="314581" cy="234481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</p:cxnSp>
        <p:cxnSp>
          <p:nvCxnSpPr>
            <p:cNvPr id="28" name="직선 연결선 54">
              <a:extLst>
                <a:ext uri="{FF2B5EF4-FFF2-40B4-BE49-F238E27FC236}">
                  <a16:creationId xmlns:a16="http://schemas.microsoft.com/office/drawing/2014/main" id="{B0DD2708-016B-7302-D741-628C221F9BCE}"/>
                </a:ext>
              </a:extLst>
            </p:cNvPr>
            <p:cNvCxnSpPr>
              <a:cxnSpLocks/>
            </p:cNvCxnSpPr>
            <p:nvPr/>
          </p:nvCxnSpPr>
          <p:spPr>
            <a:xfrm>
              <a:off x="19048941" y="5678234"/>
              <a:ext cx="314581" cy="234481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</p:cxnSp>
        <p:sp>
          <p:nvSpPr>
            <p:cNvPr id="29" name="TextBox 59">
              <a:extLst>
                <a:ext uri="{FF2B5EF4-FFF2-40B4-BE49-F238E27FC236}">
                  <a16:creationId xmlns:a16="http://schemas.microsoft.com/office/drawing/2014/main" id="{F5E918D1-CED0-0DC4-5A15-FF5EB2C9C617}"/>
                </a:ext>
              </a:extLst>
            </p:cNvPr>
            <p:cNvSpPr txBox="1"/>
            <p:nvPr/>
          </p:nvSpPr>
          <p:spPr>
            <a:xfrm>
              <a:off x="481380" y="8739751"/>
              <a:ext cx="19567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ko-KR" altLang="en-US" sz="2400" b="1" dirty="0">
                  <a:solidFill>
                    <a:prstClr val="black"/>
                  </a:solidFill>
                  <a:latin typeface="+mn-ea"/>
                </a:rPr>
                <a:t>진단</a:t>
              </a:r>
              <a:r>
                <a:rPr lang="en-US" altLang="ko-KR" sz="2400" b="1" dirty="0">
                  <a:solidFill>
                    <a:prstClr val="black"/>
                  </a:solidFill>
                  <a:latin typeface="+mn-ea"/>
                </a:rPr>
                <a:t>·</a:t>
              </a:r>
              <a:r>
                <a:rPr lang="ko-KR" altLang="en-US" sz="2400" b="1" dirty="0">
                  <a:solidFill>
                    <a:prstClr val="black"/>
                  </a:solidFill>
                  <a:latin typeface="+mn-ea"/>
                </a:rPr>
                <a:t>민감도</a:t>
              </a:r>
            </a:p>
          </p:txBody>
        </p:sp>
        <p:sp>
          <p:nvSpPr>
            <p:cNvPr id="30" name="TextBox 59">
              <a:extLst>
                <a:ext uri="{FF2B5EF4-FFF2-40B4-BE49-F238E27FC236}">
                  <a16:creationId xmlns:a16="http://schemas.microsoft.com/office/drawing/2014/main" id="{E8726F76-1804-9DA2-EF86-E9F4899842DC}"/>
                </a:ext>
              </a:extLst>
            </p:cNvPr>
            <p:cNvSpPr txBox="1"/>
            <p:nvPr/>
          </p:nvSpPr>
          <p:spPr>
            <a:xfrm>
              <a:off x="361964" y="10385158"/>
              <a:ext cx="222883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ko-KR" altLang="en-US" sz="2400" b="1" dirty="0">
                  <a:solidFill>
                    <a:prstClr val="black"/>
                  </a:solidFill>
                  <a:latin typeface="+mn-ea"/>
                </a:rPr>
                <a:t>모델개선</a:t>
              </a:r>
              <a:r>
                <a:rPr lang="en-US" altLang="ko-KR" sz="2400" b="1" dirty="0">
                  <a:solidFill>
                    <a:prstClr val="black"/>
                  </a:solidFill>
                  <a:latin typeface="+mn-ea"/>
                </a:rPr>
                <a:t> </a:t>
              </a:r>
              <a:r>
                <a:rPr lang="ko-KR" altLang="en-US" sz="2400" b="1" dirty="0">
                  <a:solidFill>
                    <a:prstClr val="black"/>
                  </a:solidFill>
                  <a:latin typeface="+mn-ea"/>
                </a:rPr>
                <a:t>및 고도화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92CF63F0-3F53-1640-8A8D-1EB77545D87C}"/>
                </a:ext>
              </a:extLst>
            </p:cNvPr>
            <p:cNvSpPr/>
            <p:nvPr/>
          </p:nvSpPr>
          <p:spPr>
            <a:xfrm>
              <a:off x="2909670" y="7052886"/>
              <a:ext cx="3673359" cy="834039"/>
            </a:xfrm>
            <a:prstGeom prst="rect">
              <a:avLst/>
            </a:prstGeom>
            <a:solidFill>
              <a:srgbClr val="ED7D31">
                <a:lumMod val="40000"/>
                <a:lumOff val="60000"/>
              </a:srgbClr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lnSpc>
                  <a:spcPct val="102000"/>
                </a:lnSpc>
              </a:pPr>
              <a:r>
                <a:rPr lang="ko-KR" altLang="en-US" sz="2100" b="1" dirty="0">
                  <a:solidFill>
                    <a:srgbClr val="3A2A12"/>
                  </a:solidFill>
                  <a:latin typeface="Pretendard"/>
                </a:rPr>
                <a:t>관측</a:t>
              </a:r>
              <a:r>
                <a:rPr lang="en-US" altLang="ko-KR" sz="2100" b="1" dirty="0">
                  <a:solidFill>
                    <a:srgbClr val="3A2A12"/>
                  </a:solidFill>
                  <a:latin typeface="Pretendard"/>
                </a:rPr>
                <a:t>, </a:t>
              </a:r>
              <a:r>
                <a:rPr lang="ko-KR" altLang="en-US" sz="2100" b="1" dirty="0">
                  <a:solidFill>
                    <a:srgbClr val="3A2A12"/>
                  </a:solidFill>
                  <a:latin typeface="Pretendard"/>
                </a:rPr>
                <a:t>재분석</a:t>
              </a:r>
              <a:r>
                <a:rPr lang="en-US" altLang="ko-KR" sz="2100" b="1" dirty="0">
                  <a:solidFill>
                    <a:srgbClr val="3A2A12"/>
                  </a:solidFill>
                  <a:latin typeface="Pretendard"/>
                </a:rPr>
                <a:t>, </a:t>
              </a:r>
              <a:r>
                <a:rPr lang="ko-KR" altLang="en-US" sz="2100" b="1" dirty="0" err="1">
                  <a:solidFill>
                    <a:srgbClr val="3A2A12"/>
                  </a:solidFill>
                  <a:latin typeface="Pretendard"/>
                </a:rPr>
                <a:t>기후프록시</a:t>
              </a:r>
              <a:br>
                <a:rPr lang="en-US" altLang="ko-KR" sz="2100" b="1" dirty="0">
                  <a:solidFill>
                    <a:srgbClr val="3A2A12"/>
                  </a:solidFill>
                  <a:latin typeface="Pretendard"/>
                </a:rPr>
              </a:br>
              <a:r>
                <a:rPr lang="ko-KR" altLang="en-US" sz="2100" b="1" dirty="0">
                  <a:solidFill>
                    <a:srgbClr val="3A2A12"/>
                  </a:solidFill>
                  <a:latin typeface="Pretendard"/>
                </a:rPr>
                <a:t> </a:t>
              </a:r>
              <a:r>
                <a:rPr lang="en-US" altLang="ko-KR" sz="2100" b="1" dirty="0">
                  <a:solidFill>
                    <a:srgbClr val="3A2A12"/>
                  </a:solidFill>
                  <a:latin typeface="Pretendard"/>
                </a:rPr>
                <a:t>DB </a:t>
              </a:r>
              <a:r>
                <a:rPr lang="ko-KR" altLang="en-US" sz="2100" b="1" dirty="0">
                  <a:solidFill>
                    <a:srgbClr val="3A2A12"/>
                  </a:solidFill>
                  <a:latin typeface="Pretendard"/>
                </a:rPr>
                <a:t>구축 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2920EC0-4C6A-5C8C-5F01-4023099F5999}"/>
                </a:ext>
              </a:extLst>
            </p:cNvPr>
            <p:cNvSpPr/>
            <p:nvPr/>
          </p:nvSpPr>
          <p:spPr>
            <a:xfrm>
              <a:off x="6798930" y="8131381"/>
              <a:ext cx="3657704" cy="724760"/>
            </a:xfrm>
            <a:prstGeom prst="rect">
              <a:avLst/>
            </a:prstGeom>
            <a:solidFill>
              <a:srgbClr val="FFC000">
                <a:lumMod val="40000"/>
                <a:lumOff val="60000"/>
              </a:srgbClr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100" b="1" kern="0" dirty="0">
                  <a:solidFill>
                    <a:sysClr val="windowText" lastClr="000000"/>
                  </a:solidFill>
                  <a:latin typeface="+mn-ea"/>
                </a:rPr>
                <a:t>지면 식생모델의 산업화이후 장기 민감도 실험</a:t>
              </a:r>
              <a:endParaRPr kumimoji="1" lang="en-US" altLang="ko-KR" sz="2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FF8E4EA5-B1FB-6CEF-2423-C106DBCF1B50}"/>
                </a:ext>
              </a:extLst>
            </p:cNvPr>
            <p:cNvSpPr/>
            <p:nvPr/>
          </p:nvSpPr>
          <p:spPr>
            <a:xfrm>
              <a:off x="6798930" y="8961084"/>
              <a:ext cx="3657704" cy="747184"/>
            </a:xfrm>
            <a:prstGeom prst="rect">
              <a:avLst/>
            </a:prstGeom>
            <a:solidFill>
              <a:srgbClr val="FFC000">
                <a:lumMod val="40000"/>
                <a:lumOff val="60000"/>
              </a:srgbClr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100" b="1" kern="0" dirty="0">
                  <a:solidFill>
                    <a:sysClr val="windowText" lastClr="000000"/>
                  </a:solidFill>
                  <a:latin typeface="+mn-ea"/>
                </a:rPr>
                <a:t>결합강도</a:t>
              </a:r>
              <a:r>
                <a:rPr lang="en-US" altLang="ko-KR" sz="2100" b="1" dirty="0">
                  <a:solidFill>
                    <a:prstClr val="black"/>
                  </a:solidFill>
                  <a:latin typeface="+mn-ea"/>
                </a:rPr>
                <a:t>·</a:t>
              </a:r>
              <a:r>
                <a:rPr lang="ko-KR" altLang="en-US" sz="2100" b="1" dirty="0">
                  <a:solidFill>
                    <a:prstClr val="black"/>
                  </a:solidFill>
                  <a:latin typeface="+mn-ea"/>
                </a:rPr>
                <a:t>수문</a:t>
              </a:r>
              <a:r>
                <a:rPr lang="en-US" altLang="ko-KR" sz="2100" b="1" dirty="0">
                  <a:solidFill>
                    <a:prstClr val="black"/>
                  </a:solidFill>
                  <a:latin typeface="+mn-ea"/>
                </a:rPr>
                <a:t>·</a:t>
              </a:r>
              <a:r>
                <a:rPr lang="ko-KR" altLang="en-US" sz="2100" b="1" dirty="0">
                  <a:solidFill>
                    <a:prstClr val="black"/>
                  </a:solidFill>
                  <a:latin typeface="+mn-ea"/>
                </a:rPr>
                <a:t>유출 민감도</a:t>
              </a:r>
              <a:r>
                <a:rPr lang="en-US" altLang="ko-KR" sz="2100" b="1" dirty="0">
                  <a:solidFill>
                    <a:prstClr val="black"/>
                  </a:solidFill>
                  <a:latin typeface="+mn-ea"/>
                </a:rPr>
                <a:t> /</a:t>
              </a:r>
              <a:br>
                <a:rPr lang="en-US" altLang="ko-KR" sz="2100" b="1" dirty="0">
                  <a:solidFill>
                    <a:prstClr val="black"/>
                  </a:solidFill>
                  <a:latin typeface="+mn-ea"/>
                </a:rPr>
              </a:br>
              <a:r>
                <a:rPr lang="ko-KR" altLang="en-US" sz="2100" b="1" dirty="0">
                  <a:solidFill>
                    <a:prstClr val="black"/>
                  </a:solidFill>
                  <a:latin typeface="+mn-ea"/>
                </a:rPr>
                <a:t>관측대비 구조오차 진단</a:t>
              </a:r>
              <a:endParaRPr kumimoji="1" lang="en-US" altLang="ko-KR" sz="2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806FA3F2-C0EE-4335-5DBB-AF0656A7D294}"/>
                </a:ext>
              </a:extLst>
            </p:cNvPr>
            <p:cNvSpPr/>
            <p:nvPr/>
          </p:nvSpPr>
          <p:spPr>
            <a:xfrm>
              <a:off x="10703845" y="8138595"/>
              <a:ext cx="3657704" cy="1556588"/>
            </a:xfrm>
            <a:prstGeom prst="rect">
              <a:avLst/>
            </a:prstGeom>
            <a:solidFill>
              <a:srgbClr val="FFC000">
                <a:lumMod val="40000"/>
                <a:lumOff val="60000"/>
              </a:srgbClr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2100" b="1" kern="0" dirty="0">
                  <a:solidFill>
                    <a:sysClr val="windowText" lastClr="000000"/>
                  </a:solidFill>
                  <a:latin typeface="+mn-ea"/>
                </a:rPr>
                <a:t>CMIP7 </a:t>
              </a:r>
              <a:r>
                <a:rPr kumimoji="1" lang="ko-KR" altLang="en-US" sz="2100" b="1" kern="0" dirty="0">
                  <a:solidFill>
                    <a:sysClr val="windowText" lastClr="000000"/>
                  </a:solidFill>
                  <a:latin typeface="+mn-ea"/>
                </a:rPr>
                <a:t>지면</a:t>
              </a:r>
              <a:r>
                <a:rPr lang="en-US" altLang="ko-KR" sz="2100" b="1" dirty="0">
                  <a:solidFill>
                    <a:prstClr val="black"/>
                  </a:solidFill>
                  <a:latin typeface="+mn-ea"/>
                </a:rPr>
                <a:t>·</a:t>
              </a:r>
              <a:r>
                <a:rPr lang="ko-KR" altLang="en-US" sz="2100" b="1" dirty="0">
                  <a:solidFill>
                    <a:prstClr val="black"/>
                  </a:solidFill>
                  <a:latin typeface="+mn-ea"/>
                </a:rPr>
                <a:t>대기 상호작용 및 </a:t>
              </a:r>
              <a:endParaRPr lang="en-US" altLang="ko-KR" sz="2100" b="1" dirty="0">
                <a:solidFill>
                  <a:prstClr val="black"/>
                </a:solidFill>
                <a:latin typeface="+mn-ea"/>
              </a:endParaRPr>
            </a:p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2100" b="1" dirty="0">
                  <a:solidFill>
                    <a:prstClr val="black"/>
                  </a:solidFill>
                  <a:latin typeface="+mn-ea"/>
                </a:rPr>
                <a:t> 해양영향 진단</a:t>
              </a:r>
              <a:endParaRPr kumimoji="1" lang="en-US" altLang="ko-KR" sz="2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3E293879-7563-FFEF-55BA-B4552C518283}"/>
                </a:ext>
              </a:extLst>
            </p:cNvPr>
            <p:cNvSpPr/>
            <p:nvPr/>
          </p:nvSpPr>
          <p:spPr>
            <a:xfrm>
              <a:off x="15303431" y="10014804"/>
              <a:ext cx="3745509" cy="732737"/>
            </a:xfrm>
            <a:prstGeom prst="rect">
              <a:avLst/>
            </a:prstGeom>
            <a:solidFill>
              <a:srgbClr val="70AD47">
                <a:lumMod val="40000"/>
                <a:lumOff val="60000"/>
              </a:srgbClr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100" b="1" kern="0" dirty="0">
                  <a:solidFill>
                    <a:sysClr val="windowText" lastClr="000000"/>
                  </a:solidFill>
                  <a:latin typeface="+mn-ea"/>
                </a:rPr>
                <a:t>해양기후시스템</a:t>
              </a:r>
              <a:br>
                <a:rPr kumimoji="1" lang="en-US" altLang="ko-KR" sz="2100" b="1" kern="0" dirty="0">
                  <a:solidFill>
                    <a:sysClr val="windowText" lastClr="000000"/>
                  </a:solidFill>
                  <a:latin typeface="+mn-ea"/>
                </a:rPr>
              </a:br>
              <a:r>
                <a:rPr kumimoji="1" lang="ko-KR" altLang="en-US" sz="2100" b="1" kern="0" dirty="0">
                  <a:solidFill>
                    <a:sysClr val="windowText" lastClr="000000"/>
                  </a:solidFill>
                  <a:latin typeface="+mn-ea"/>
                </a:rPr>
                <a:t>토양</a:t>
              </a:r>
              <a:r>
                <a:rPr lang="en-US" altLang="ko-KR" sz="2100" b="1" dirty="0">
                  <a:solidFill>
                    <a:prstClr val="black"/>
                  </a:solidFill>
                  <a:latin typeface="+mn-ea"/>
                </a:rPr>
                <a:t>·</a:t>
              </a:r>
              <a:r>
                <a:rPr kumimoji="1" lang="ko-KR" altLang="en-US" sz="2100" b="1" kern="0" dirty="0">
                  <a:solidFill>
                    <a:sysClr val="windowText" lastClr="000000"/>
                  </a:solidFill>
                  <a:latin typeface="+mn-ea"/>
                </a:rPr>
                <a:t>수문 물리과정 업데이트</a:t>
              </a:r>
              <a:endParaRPr kumimoji="1" lang="ko-KR" altLang="en-US" sz="2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4B865231-8913-662C-0600-ED48009BEC8C}"/>
                </a:ext>
              </a:extLst>
            </p:cNvPr>
            <p:cNvSpPr/>
            <p:nvPr/>
          </p:nvSpPr>
          <p:spPr>
            <a:xfrm>
              <a:off x="15304158" y="10849787"/>
              <a:ext cx="7612987" cy="732737"/>
            </a:xfrm>
            <a:prstGeom prst="rect">
              <a:avLst/>
            </a:prstGeom>
            <a:solidFill>
              <a:srgbClr val="70AD47">
                <a:lumMod val="40000"/>
                <a:lumOff val="60000"/>
              </a:srgbClr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21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</a:rPr>
                <a:t>물리과정 </a:t>
              </a:r>
              <a:r>
                <a:rPr kumimoji="1" lang="en-US" altLang="ko-KR" sz="21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</a:rPr>
                <a:t>AI </a:t>
              </a:r>
              <a:r>
                <a:rPr kumimoji="1" lang="ko-KR" altLang="en-US" sz="21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</a:rPr>
                <a:t>에뮬레이터 적용 시도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143182CD-A464-7F93-58BC-58946656E951}"/>
                </a:ext>
              </a:extLst>
            </p:cNvPr>
            <p:cNvSpPr/>
            <p:nvPr/>
          </p:nvSpPr>
          <p:spPr>
            <a:xfrm>
              <a:off x="19281210" y="10014804"/>
              <a:ext cx="3635935" cy="732737"/>
            </a:xfrm>
            <a:prstGeom prst="rect">
              <a:avLst/>
            </a:prstGeom>
            <a:solidFill>
              <a:srgbClr val="70AD47">
                <a:lumMod val="40000"/>
                <a:lumOff val="60000"/>
              </a:srgbClr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1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</a:rPr>
                <a:t>역학식생 모델 업데이트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E6970FC5-5506-55E6-59AC-918CBFF42C38}"/>
                </a:ext>
              </a:extLst>
            </p:cNvPr>
            <p:cNvSpPr/>
            <p:nvPr/>
          </p:nvSpPr>
          <p:spPr>
            <a:xfrm>
              <a:off x="19281208" y="8138595"/>
              <a:ext cx="3635935" cy="717545"/>
            </a:xfrm>
            <a:prstGeom prst="rect">
              <a:avLst/>
            </a:prstGeom>
            <a:solidFill>
              <a:srgbClr val="FFE699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100" b="1" kern="0" dirty="0">
                  <a:solidFill>
                    <a:sysClr val="windowText" lastClr="000000"/>
                  </a:solidFill>
                  <a:latin typeface="+mn-ea"/>
                </a:rPr>
                <a:t>극한 기후</a:t>
              </a:r>
              <a:r>
                <a:rPr kumimoji="1" lang="en-US" altLang="ko-KR" sz="2100" b="1" kern="0" dirty="0">
                  <a:solidFill>
                    <a:sysClr val="windowText" lastClr="000000"/>
                  </a:solidFill>
                  <a:latin typeface="+mn-ea"/>
                </a:rPr>
                <a:t> </a:t>
              </a:r>
              <a:r>
                <a:rPr kumimoji="1" lang="ko-KR" altLang="en-US" sz="2100" b="1" kern="0" dirty="0">
                  <a:solidFill>
                    <a:sysClr val="windowText" lastClr="000000"/>
                  </a:solidFill>
                  <a:latin typeface="+mn-ea"/>
                </a:rPr>
                <a:t>예측 성능 평가</a:t>
              </a:r>
              <a:br>
                <a:rPr kumimoji="1" lang="en-US" altLang="ko-KR" sz="2100" b="1" kern="0" dirty="0">
                  <a:solidFill>
                    <a:sysClr val="windowText" lastClr="000000"/>
                  </a:solidFill>
                  <a:latin typeface="+mn-ea"/>
                </a:rPr>
              </a:br>
              <a:r>
                <a:rPr kumimoji="1" lang="en-US" altLang="ko-KR" sz="2100" b="1" kern="0" dirty="0">
                  <a:solidFill>
                    <a:sysClr val="windowText" lastClr="000000"/>
                  </a:solidFill>
                  <a:latin typeface="+mn-ea"/>
                </a:rPr>
                <a:t>(</a:t>
              </a:r>
              <a:r>
                <a:rPr kumimoji="1" lang="ko-KR" altLang="en-US" sz="2100" b="1" kern="0" dirty="0">
                  <a:solidFill>
                    <a:sysClr val="windowText" lastClr="000000"/>
                  </a:solidFill>
                  <a:latin typeface="+mn-ea"/>
                </a:rPr>
                <a:t>지면 기원 극한기후</a:t>
              </a:r>
              <a:r>
                <a:rPr kumimoji="1" lang="en-US" altLang="ko-KR" sz="2100" b="1" kern="0" dirty="0">
                  <a:solidFill>
                    <a:sysClr val="windowText" lastClr="000000"/>
                  </a:solidFill>
                  <a:latin typeface="+mn-ea"/>
                </a:rPr>
                <a:t>)</a:t>
              </a:r>
              <a:endParaRPr kumimoji="1" lang="en-US" altLang="ko-KR" sz="2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3F23E99B-AF88-B001-C741-97B6B45B98AA}"/>
                </a:ext>
              </a:extLst>
            </p:cNvPr>
            <p:cNvSpPr/>
            <p:nvPr/>
          </p:nvSpPr>
          <p:spPr>
            <a:xfrm>
              <a:off x="10714729" y="9982200"/>
              <a:ext cx="3635935" cy="1636005"/>
            </a:xfrm>
            <a:prstGeom prst="rect">
              <a:avLst/>
            </a:prstGeom>
            <a:solidFill>
              <a:srgbClr val="70AD47">
                <a:lumMod val="40000"/>
                <a:lumOff val="60000"/>
              </a:srgbClr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100" b="1" kern="0" dirty="0">
                  <a:solidFill>
                    <a:sysClr val="windowText" lastClr="000000"/>
                  </a:solidFill>
                  <a:latin typeface="+mn-ea"/>
                </a:rPr>
                <a:t>해양기후시스템 지면</a:t>
              </a:r>
              <a:r>
                <a:rPr kumimoji="1" lang="en-US" altLang="ko-KR" sz="2100" b="1" kern="0" dirty="0">
                  <a:solidFill>
                    <a:sysClr val="windowText" lastClr="000000"/>
                  </a:solidFill>
                  <a:latin typeface="+mn-ea"/>
                </a:rPr>
                <a:t>-</a:t>
              </a:r>
              <a:r>
                <a:rPr kumimoji="1" lang="ko-KR" altLang="en-US" sz="2100" b="1" kern="0" dirty="0">
                  <a:solidFill>
                    <a:sysClr val="windowText" lastClr="000000"/>
                  </a:solidFill>
                  <a:latin typeface="+mn-ea"/>
                </a:rPr>
                <a:t>식생 모델 및 담수 유출 개선점 도출</a:t>
              </a:r>
              <a:endParaRPr kumimoji="1" lang="en-US" altLang="ko-KR" sz="21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25940336-8902-0FF4-C4EC-BF87B442707F}"/>
                </a:ext>
              </a:extLst>
            </p:cNvPr>
            <p:cNvSpPr/>
            <p:nvPr/>
          </p:nvSpPr>
          <p:spPr>
            <a:xfrm>
              <a:off x="15340794" y="6200033"/>
              <a:ext cx="3708147" cy="1572365"/>
            </a:xfrm>
            <a:prstGeom prst="rect">
              <a:avLst/>
            </a:prstGeom>
            <a:solidFill>
              <a:srgbClr val="ED7D31">
                <a:lumMod val="40000"/>
                <a:lumOff val="60000"/>
              </a:srgbClr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lnSpc>
                  <a:spcPct val="102000"/>
                </a:lnSpc>
              </a:pPr>
              <a:r>
                <a:rPr lang="ko-KR" altLang="en-US" sz="2100" b="1" dirty="0">
                  <a:solidFill>
                    <a:srgbClr val="3A2A12"/>
                  </a:solidFill>
                  <a:latin typeface="Pretendard"/>
                </a:rPr>
                <a:t>물리과정 </a:t>
              </a:r>
              <a:r>
                <a:rPr lang="en-US" altLang="ko-KR" sz="2100" b="1" dirty="0">
                  <a:solidFill>
                    <a:srgbClr val="3A2A12"/>
                  </a:solidFill>
                  <a:latin typeface="Pretendard"/>
                </a:rPr>
                <a:t>AI </a:t>
              </a:r>
              <a:r>
                <a:rPr lang="ko-KR" altLang="en-US" sz="2100" b="1" dirty="0">
                  <a:solidFill>
                    <a:srgbClr val="3A2A12"/>
                  </a:solidFill>
                  <a:latin typeface="Pretendard"/>
                </a:rPr>
                <a:t>에뮬레이터 구축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CCF9955-D72C-0FB3-3C6A-C4B179005F4F}"/>
                </a:ext>
              </a:extLst>
            </p:cNvPr>
            <p:cNvSpPr/>
            <p:nvPr/>
          </p:nvSpPr>
          <p:spPr>
            <a:xfrm>
              <a:off x="19281209" y="8956580"/>
              <a:ext cx="3635935" cy="747183"/>
            </a:xfrm>
            <a:prstGeom prst="rect">
              <a:avLst/>
            </a:prstGeom>
            <a:solidFill>
              <a:srgbClr val="FFE699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1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</a:rPr>
                <a:t>미래 시나리오 기반 지면</a:t>
              </a:r>
              <a:r>
                <a:rPr kumimoji="1" lang="en-US" altLang="ko-KR" sz="21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</a:rPr>
                <a:t>-</a:t>
              </a:r>
              <a:r>
                <a:rPr kumimoji="1" lang="ko-KR" altLang="en-US" sz="21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</a:rPr>
                <a:t>해양 상호작용 영향 평가</a:t>
              </a:r>
              <a:endParaRPr kumimoji="1" lang="en-US" altLang="ko-KR" sz="2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42" name="Rounded Rectangle 12">
              <a:extLst>
                <a:ext uri="{FF2B5EF4-FFF2-40B4-BE49-F238E27FC236}">
                  <a16:creationId xmlns:a16="http://schemas.microsoft.com/office/drawing/2014/main" id="{07D6AAA0-DCFF-E32C-F4F1-992B94EE377A}"/>
                </a:ext>
              </a:extLst>
            </p:cNvPr>
            <p:cNvSpPr/>
            <p:nvPr/>
          </p:nvSpPr>
          <p:spPr>
            <a:xfrm>
              <a:off x="15375578" y="2580172"/>
              <a:ext cx="7578993" cy="1219219"/>
            </a:xfrm>
            <a:prstGeom prst="roundRect">
              <a:avLst>
                <a:gd name="adj" fmla="val 6000"/>
              </a:avLst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27432" rIns="73152" bIns="27432" rtlCol="0" anchor="ctr"/>
            <a:lstStyle/>
            <a:p>
              <a:pPr algn="ctr">
                <a:lnSpc>
                  <a:spcPct val="102000"/>
                </a:lnSpc>
              </a:pPr>
              <a:r>
                <a:rPr lang="ko-KR" altLang="en-US" sz="3200" b="1" dirty="0">
                  <a:solidFill>
                    <a:schemeClr val="tx1"/>
                  </a:solidFill>
                  <a:latin typeface="Pretendard"/>
                </a:rPr>
                <a:t>지면</a:t>
              </a:r>
              <a:r>
                <a:rPr lang="en-US" altLang="ko-KR" sz="3200" b="1" dirty="0">
                  <a:solidFill>
                    <a:schemeClr val="tx1"/>
                  </a:solidFill>
                  <a:latin typeface="Pretendard"/>
                </a:rPr>
                <a:t>-</a:t>
              </a:r>
              <a:r>
                <a:rPr lang="ko-KR" altLang="en-US" sz="3200" b="1" dirty="0">
                  <a:solidFill>
                    <a:schemeClr val="tx1"/>
                  </a:solidFill>
                  <a:latin typeface="Pretendard"/>
                </a:rPr>
                <a:t>식생 물리과정 고도화 및</a:t>
              </a:r>
              <a:br>
                <a:rPr lang="en-US" altLang="ko-KR" sz="3200" b="1" dirty="0">
                  <a:solidFill>
                    <a:schemeClr val="tx1"/>
                  </a:solidFill>
                  <a:latin typeface="Pretendard"/>
                </a:rPr>
              </a:br>
              <a:r>
                <a:rPr lang="ko-KR" altLang="en-US" sz="3200" b="1" dirty="0">
                  <a:solidFill>
                    <a:schemeClr val="tx1"/>
                  </a:solidFill>
                  <a:latin typeface="Pretendard"/>
                </a:rPr>
                <a:t> 미래 해양 기후 영향 예측</a:t>
              </a:r>
              <a:endParaRPr sz="3200" b="1" dirty="0">
                <a:solidFill>
                  <a:schemeClr val="tx1"/>
                </a:solidFill>
                <a:latin typeface="Pretendard"/>
              </a:endParaRPr>
            </a:p>
          </p:txBody>
        </p:sp>
        <p:cxnSp>
          <p:nvCxnSpPr>
            <p:cNvPr id="43" name="직선 연결선[R] 42">
              <a:extLst>
                <a:ext uri="{FF2B5EF4-FFF2-40B4-BE49-F238E27FC236}">
                  <a16:creationId xmlns:a16="http://schemas.microsoft.com/office/drawing/2014/main" id="{798A0ECC-45F5-6880-8A72-375627596508}"/>
                </a:ext>
              </a:extLst>
            </p:cNvPr>
            <p:cNvCxnSpPr>
              <a:cxnSpLocks/>
            </p:cNvCxnSpPr>
            <p:nvPr/>
          </p:nvCxnSpPr>
          <p:spPr>
            <a:xfrm>
              <a:off x="14859000" y="2575541"/>
              <a:ext cx="0" cy="9154156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51095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7D2EE62-D4F2-257C-EB68-D50A4BA97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F85C2F1-E0B8-ED89-BEC4-54DFFA92D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차년도 연구계획</a:t>
            </a:r>
          </a:p>
        </p:txBody>
      </p: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9B592C10-456B-0265-9462-870A60578568}"/>
              </a:ext>
            </a:extLst>
          </p:cNvPr>
          <p:cNvCxnSpPr>
            <a:cxnSpLocks/>
          </p:cNvCxnSpPr>
          <p:nvPr/>
        </p:nvCxnSpPr>
        <p:spPr>
          <a:xfrm>
            <a:off x="12420600" y="2633756"/>
            <a:ext cx="0" cy="9558244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2">
            <a:extLst>
              <a:ext uri="{FF2B5EF4-FFF2-40B4-BE49-F238E27FC236}">
                <a16:creationId xmlns:a16="http://schemas.microsoft.com/office/drawing/2014/main" id="{0618FAD7-6F91-7707-03DD-9BC98CF448EC}"/>
              </a:ext>
            </a:extLst>
          </p:cNvPr>
          <p:cNvSpPr txBox="1"/>
          <p:nvPr/>
        </p:nvSpPr>
        <p:spPr>
          <a:xfrm>
            <a:off x="13411207" y="4157472"/>
            <a:ext cx="12031027" cy="734615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571500" lvl="0" indent="-571500">
              <a:lnSpc>
                <a:spcPct val="116199"/>
              </a:lnSpc>
              <a:buFont typeface="Wingdings" pitchFamily="2" charset="2"/>
              <a:buChar char="Ø"/>
            </a:pPr>
            <a:r>
              <a:rPr lang="ko-KR" altLang="en-US" sz="3600" b="1" dirty="0">
                <a:solidFill>
                  <a:srgbClr val="0F304B"/>
                </a:solidFill>
                <a:latin typeface="Pretendard"/>
              </a:rPr>
              <a:t>지면</a:t>
            </a:r>
            <a:r>
              <a:rPr lang="en-US" altLang="ko-KR" sz="3600" b="1" dirty="0">
                <a:solidFill>
                  <a:srgbClr val="0F304B"/>
                </a:solidFill>
                <a:latin typeface="Pretendard"/>
              </a:rPr>
              <a:t>-</a:t>
            </a:r>
            <a:r>
              <a:rPr lang="ko-KR" altLang="en-US" sz="3600" b="1" dirty="0">
                <a:solidFill>
                  <a:srgbClr val="0F304B"/>
                </a:solidFill>
                <a:latin typeface="Pretendard"/>
              </a:rPr>
              <a:t>식생모델 성능 진단</a:t>
            </a:r>
            <a:endParaRPr lang="en-US" altLang="ko-KR" sz="3600" b="1" dirty="0">
              <a:solidFill>
                <a:srgbClr val="0F304B"/>
              </a:solidFill>
              <a:latin typeface="Pretendard"/>
            </a:endParaRPr>
          </a:p>
          <a:p>
            <a:pPr marL="1028700" lvl="1" indent="-571500">
              <a:lnSpc>
                <a:spcPct val="116199"/>
              </a:lnSpc>
              <a:buFont typeface="Wingdings" pitchFamily="2" charset="2"/>
              <a:buChar char="Ø"/>
            </a:pPr>
            <a:r>
              <a:rPr lang="ko-KR" altLang="en-US" sz="3200" dirty="0">
                <a:solidFill>
                  <a:srgbClr val="0F304B"/>
                </a:solidFill>
                <a:latin typeface="Pretendard"/>
              </a:rPr>
              <a:t>차세대 해양기후예측 시스템의 지면</a:t>
            </a:r>
            <a:r>
              <a:rPr lang="en-US" altLang="ko-KR" sz="3200" dirty="0">
                <a:solidFill>
                  <a:srgbClr val="0F304B"/>
                </a:solidFill>
                <a:latin typeface="Pretendard"/>
              </a:rPr>
              <a:t>-</a:t>
            </a:r>
            <a:r>
              <a:rPr lang="ko-KR" altLang="en-US" sz="3200" dirty="0">
                <a:solidFill>
                  <a:srgbClr val="0F304B"/>
                </a:solidFill>
                <a:latin typeface="Pretendard"/>
              </a:rPr>
              <a:t>식생모델</a:t>
            </a:r>
            <a:br>
              <a:rPr lang="en-US" altLang="ko-KR" sz="3200" dirty="0">
                <a:solidFill>
                  <a:srgbClr val="0F304B"/>
                </a:solidFill>
                <a:latin typeface="Pretendard"/>
              </a:rPr>
            </a:br>
            <a:r>
              <a:rPr lang="ko-KR" altLang="en-US" sz="3200" dirty="0">
                <a:solidFill>
                  <a:srgbClr val="0F304B"/>
                </a:solidFill>
                <a:latin typeface="Pretendard"/>
              </a:rPr>
              <a:t>오프라인 테스트베드 구축</a:t>
            </a:r>
            <a:endParaRPr lang="en-US" altLang="ko-KR" sz="3200" dirty="0">
              <a:solidFill>
                <a:srgbClr val="0F304B"/>
              </a:solidFill>
              <a:latin typeface="Pretendard"/>
            </a:endParaRPr>
          </a:p>
          <a:p>
            <a:pPr marL="1028700" lvl="1" indent="-571500">
              <a:lnSpc>
                <a:spcPct val="116199"/>
              </a:lnSpc>
              <a:buFont typeface="Wingdings" pitchFamily="2" charset="2"/>
              <a:buChar char="Ø"/>
            </a:pPr>
            <a:r>
              <a:rPr lang="en-US" altLang="ko-KR" sz="3200" dirty="0">
                <a:solidFill>
                  <a:srgbClr val="0F304B"/>
                </a:solidFill>
                <a:latin typeface="Pretendard"/>
              </a:rPr>
              <a:t>CLM, JULES, Noah MP, LM4+ </a:t>
            </a:r>
            <a:r>
              <a:rPr lang="ko-KR" altLang="en-US" sz="3200" dirty="0">
                <a:solidFill>
                  <a:srgbClr val="0F304B"/>
                </a:solidFill>
                <a:latin typeface="Pretendard"/>
              </a:rPr>
              <a:t>포함해 지면 모델</a:t>
            </a:r>
            <a:br>
              <a:rPr lang="en-US" altLang="ko-KR" sz="3200" dirty="0">
                <a:solidFill>
                  <a:srgbClr val="0F304B"/>
                </a:solidFill>
                <a:latin typeface="Pretendard"/>
              </a:rPr>
            </a:br>
            <a:r>
              <a:rPr lang="ko-KR" altLang="en-US" sz="3200" dirty="0">
                <a:solidFill>
                  <a:srgbClr val="0F304B"/>
                </a:solidFill>
                <a:latin typeface="Pretendard"/>
              </a:rPr>
              <a:t>시스템 </a:t>
            </a:r>
            <a:r>
              <a:rPr lang="en-US" altLang="ko-KR" sz="3200" dirty="0">
                <a:solidFill>
                  <a:srgbClr val="0F304B"/>
                </a:solidFill>
                <a:latin typeface="Pretendard"/>
              </a:rPr>
              <a:t>porting </a:t>
            </a:r>
            <a:r>
              <a:rPr lang="ko-KR" altLang="en-US" sz="3200" dirty="0">
                <a:solidFill>
                  <a:srgbClr val="0F304B"/>
                </a:solidFill>
                <a:latin typeface="Pretendard"/>
              </a:rPr>
              <a:t>및 장기 적분 수행</a:t>
            </a:r>
            <a:endParaRPr lang="en-US" altLang="ko-KR" sz="3200" dirty="0">
              <a:solidFill>
                <a:srgbClr val="0F304B"/>
              </a:solidFill>
              <a:latin typeface="Pretendard"/>
            </a:endParaRPr>
          </a:p>
          <a:p>
            <a:pPr marL="1028700" lvl="1" indent="-571500">
              <a:lnSpc>
                <a:spcPct val="116199"/>
              </a:lnSpc>
              <a:buFont typeface="Wingdings" pitchFamily="2" charset="2"/>
              <a:buChar char="Ø"/>
            </a:pPr>
            <a:endParaRPr lang="en-US" altLang="ko-KR" sz="3600" b="1" dirty="0">
              <a:solidFill>
                <a:srgbClr val="0F304B"/>
              </a:solidFill>
              <a:latin typeface="Pretendard"/>
            </a:endParaRPr>
          </a:p>
          <a:p>
            <a:pPr marL="571500" indent="-571500">
              <a:lnSpc>
                <a:spcPct val="116199"/>
              </a:lnSpc>
              <a:buFont typeface="Wingdings" pitchFamily="2" charset="2"/>
              <a:buChar char="Ø"/>
            </a:pPr>
            <a:r>
              <a:rPr lang="ko-KR" altLang="en-US" sz="3600" b="1" dirty="0">
                <a:solidFill>
                  <a:srgbClr val="0F304B"/>
                </a:solidFill>
                <a:latin typeface="Pretendard"/>
              </a:rPr>
              <a:t>해양영향 진단 체계 구축</a:t>
            </a:r>
            <a:endParaRPr lang="en-US" altLang="ko-KR" sz="3600" b="1" dirty="0">
              <a:solidFill>
                <a:srgbClr val="0F304B"/>
              </a:solidFill>
              <a:latin typeface="Pretendard"/>
            </a:endParaRPr>
          </a:p>
          <a:p>
            <a:pPr marL="1028700" lvl="1" indent="-571500">
              <a:lnSpc>
                <a:spcPct val="116199"/>
              </a:lnSpc>
              <a:buFont typeface="Wingdings" pitchFamily="2" charset="2"/>
              <a:buChar char="Ø"/>
            </a:pPr>
            <a:r>
              <a:rPr lang="ko-KR" altLang="en-US" sz="3200" dirty="0">
                <a:solidFill>
                  <a:srgbClr val="0F304B"/>
                </a:solidFill>
                <a:latin typeface="Pretendard"/>
              </a:rPr>
              <a:t>관측</a:t>
            </a:r>
            <a:r>
              <a:rPr lang="en-US" altLang="ko-KR" sz="3200" dirty="0">
                <a:solidFill>
                  <a:srgbClr val="0F304B"/>
                </a:solidFill>
                <a:latin typeface="Pretendard"/>
              </a:rPr>
              <a:t>/</a:t>
            </a:r>
            <a:r>
              <a:rPr lang="ko-KR" altLang="en-US" sz="3200" dirty="0">
                <a:solidFill>
                  <a:srgbClr val="0F304B"/>
                </a:solidFill>
                <a:latin typeface="Pretendard"/>
              </a:rPr>
              <a:t>재분석 자료 </a:t>
            </a:r>
            <a:r>
              <a:rPr lang="en-US" altLang="ko-KR" sz="3200" dirty="0">
                <a:solidFill>
                  <a:srgbClr val="0F304B"/>
                </a:solidFill>
                <a:latin typeface="Pretendard"/>
              </a:rPr>
              <a:t>DB</a:t>
            </a:r>
            <a:r>
              <a:rPr lang="ko-KR" altLang="en-US" sz="3200" dirty="0">
                <a:solidFill>
                  <a:srgbClr val="0F304B"/>
                </a:solidFill>
                <a:latin typeface="Pretendard"/>
              </a:rPr>
              <a:t> 구축</a:t>
            </a:r>
            <a:endParaRPr lang="en-US" altLang="ko-KR" sz="3200" dirty="0">
              <a:solidFill>
                <a:srgbClr val="0F304B"/>
              </a:solidFill>
              <a:latin typeface="Pretendard"/>
            </a:endParaRPr>
          </a:p>
          <a:p>
            <a:pPr marL="1028700" lvl="1" indent="-571500">
              <a:lnSpc>
                <a:spcPct val="116199"/>
              </a:lnSpc>
              <a:buFont typeface="Wingdings" pitchFamily="2" charset="2"/>
              <a:buChar char="Ø"/>
            </a:pPr>
            <a:r>
              <a:rPr lang="ko-KR" altLang="en-US" sz="3200" dirty="0">
                <a:solidFill>
                  <a:srgbClr val="0F304B"/>
                </a:solidFill>
                <a:latin typeface="Pretendard"/>
              </a:rPr>
              <a:t>지면</a:t>
            </a:r>
            <a:r>
              <a:rPr lang="en-US" altLang="ko-KR" sz="3200" dirty="0">
                <a:solidFill>
                  <a:srgbClr val="0F304B"/>
                </a:solidFill>
                <a:latin typeface="Pretendard"/>
              </a:rPr>
              <a:t>-</a:t>
            </a:r>
            <a:r>
              <a:rPr lang="ko-KR" altLang="en-US" sz="3200" dirty="0">
                <a:solidFill>
                  <a:srgbClr val="0F304B"/>
                </a:solidFill>
                <a:latin typeface="Pretendard"/>
              </a:rPr>
              <a:t>식생</a:t>
            </a:r>
            <a:r>
              <a:rPr lang="en-US" altLang="ko-KR" sz="3200" dirty="0">
                <a:solidFill>
                  <a:srgbClr val="0F304B"/>
                </a:solidFill>
                <a:latin typeface="Pretendard"/>
              </a:rPr>
              <a:t>-</a:t>
            </a:r>
            <a:r>
              <a:rPr lang="ko-KR" altLang="en-US" sz="3200" dirty="0">
                <a:solidFill>
                  <a:srgbClr val="0F304B"/>
                </a:solidFill>
                <a:latin typeface="Pretendard"/>
              </a:rPr>
              <a:t>대기 변화 상호 작용에 의한</a:t>
            </a:r>
            <a:br>
              <a:rPr lang="en-US" altLang="ko-KR" sz="3200" dirty="0">
                <a:solidFill>
                  <a:srgbClr val="0F304B"/>
                </a:solidFill>
                <a:latin typeface="Pretendard"/>
              </a:rPr>
            </a:br>
            <a:r>
              <a:rPr lang="ko-KR" altLang="en-US" sz="3200" dirty="0">
                <a:solidFill>
                  <a:srgbClr val="0F304B"/>
                </a:solidFill>
                <a:latin typeface="Pretendard"/>
              </a:rPr>
              <a:t>해양영향 기초 진단 도구 개발</a:t>
            </a:r>
            <a:endParaRPr lang="en-US" altLang="ko-KR" sz="3200" dirty="0">
              <a:solidFill>
                <a:srgbClr val="0F304B"/>
              </a:solidFill>
              <a:latin typeface="Pretendard"/>
            </a:endParaRPr>
          </a:p>
          <a:p>
            <a:pPr lvl="0">
              <a:lnSpc>
                <a:spcPct val="116199"/>
              </a:lnSpc>
            </a:pPr>
            <a:endParaRPr lang="en-US" altLang="ko-KR" sz="2800" dirty="0">
              <a:solidFill>
                <a:srgbClr val="0F304B"/>
              </a:solidFill>
              <a:latin typeface="Pretendard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9C9C3FF-4A60-8A2E-947C-5E90ACA00E6D}"/>
              </a:ext>
            </a:extLst>
          </p:cNvPr>
          <p:cNvGrpSpPr/>
          <p:nvPr/>
        </p:nvGrpSpPr>
        <p:grpSpPr>
          <a:xfrm>
            <a:off x="1901953" y="4191000"/>
            <a:ext cx="9143993" cy="5724805"/>
            <a:chOff x="1901953" y="4191000"/>
            <a:chExt cx="9143993" cy="5724805"/>
          </a:xfrm>
        </p:grpSpPr>
        <p:sp>
          <p:nvSpPr>
            <p:cNvPr id="7" name="한쪽 모서리는 잘리고 다른 쪽 모서리는 둥근 사각형 6">
              <a:extLst>
                <a:ext uri="{FF2B5EF4-FFF2-40B4-BE49-F238E27FC236}">
                  <a16:creationId xmlns:a16="http://schemas.microsoft.com/office/drawing/2014/main" id="{F0242429-6EF6-122C-4416-A2066891860D}"/>
                </a:ext>
              </a:extLst>
            </p:cNvPr>
            <p:cNvSpPr/>
            <p:nvPr/>
          </p:nvSpPr>
          <p:spPr>
            <a:xfrm>
              <a:off x="1905000" y="4191000"/>
              <a:ext cx="9140941" cy="1434767"/>
            </a:xfrm>
            <a:prstGeom prst="snipRoundRect">
              <a:avLst/>
            </a:prstGeom>
            <a:solidFill>
              <a:srgbClr val="0F287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3200" dirty="0"/>
                <a:t>1</a:t>
              </a:r>
              <a:r>
                <a:rPr kumimoji="1" lang="ko-KR" altLang="en-US" sz="3200" dirty="0"/>
                <a:t>차년도 </a:t>
              </a:r>
              <a:r>
                <a:rPr kumimoji="1" lang="en-US" altLang="ko-KR" sz="3200" dirty="0"/>
                <a:t>: </a:t>
              </a:r>
              <a:r>
                <a:rPr kumimoji="1" lang="ko-KR" altLang="en-US" sz="3200" dirty="0"/>
                <a:t>지면</a:t>
              </a:r>
              <a:r>
                <a:rPr kumimoji="1" lang="en-US" altLang="ko-KR" sz="3200" dirty="0"/>
                <a:t>-</a:t>
              </a:r>
              <a:r>
                <a:rPr kumimoji="1" lang="ko-KR" altLang="en-US" sz="3200" dirty="0"/>
                <a:t>식생모델 </a:t>
              </a:r>
              <a:r>
                <a:rPr kumimoji="1" lang="ko-KR" altLang="en-US" sz="3200" dirty="0">
                  <a:solidFill>
                    <a:schemeClr val="bg1"/>
                  </a:solidFill>
                </a:rPr>
                <a:t>성능 </a:t>
              </a:r>
              <a:r>
                <a:rPr lang="en-US" altLang="ko-KR" sz="3200" b="1" dirty="0">
                  <a:solidFill>
                    <a:schemeClr val="bg1"/>
                  </a:solidFill>
                  <a:latin typeface="+mn-ea"/>
                </a:rPr>
                <a:t>·</a:t>
              </a:r>
              <a:r>
                <a:rPr kumimoji="1" lang="ko-KR" altLang="en-US" sz="3200" dirty="0">
                  <a:solidFill>
                    <a:schemeClr val="bg1"/>
                  </a:solidFill>
                </a:rPr>
                <a:t> </a:t>
              </a:r>
              <a:r>
                <a:rPr kumimoji="1" lang="ko-KR" altLang="en-US" sz="3200" dirty="0"/>
                <a:t>해양영향 진단 체계 구축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04484A6-0C4F-3830-96E3-B70096F6CF00}"/>
                </a:ext>
              </a:extLst>
            </p:cNvPr>
            <p:cNvSpPr/>
            <p:nvPr/>
          </p:nvSpPr>
          <p:spPr>
            <a:xfrm>
              <a:off x="1901953" y="5841333"/>
              <a:ext cx="4800599" cy="91440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2400" b="1" dirty="0" err="1">
                  <a:solidFill>
                    <a:schemeClr val="tx1"/>
                  </a:solidFill>
                </a:rPr>
                <a:t>대기강제력</a:t>
              </a:r>
              <a:r>
                <a:rPr kumimoji="1" lang="ko-KR" altLang="en-US" sz="2400" b="1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2400" b="1" dirty="0">
                  <a:solidFill>
                    <a:schemeClr val="tx1"/>
                  </a:solidFill>
                </a:rPr>
                <a:t>DB </a:t>
              </a:r>
              <a:r>
                <a:rPr kumimoji="1" lang="ko-KR" altLang="en-US" sz="2400" b="1" dirty="0">
                  <a:solidFill>
                    <a:schemeClr val="tx1"/>
                  </a:solidFill>
                </a:rPr>
                <a:t>구축</a:t>
              </a:r>
              <a:endParaRPr kumimoji="1" lang="en-US" altLang="ko-KR" sz="2400" b="1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en-US" altLang="ko-KR" sz="2400" b="1" dirty="0">
                  <a:solidFill>
                    <a:schemeClr val="tx1"/>
                  </a:solidFill>
                </a:rPr>
                <a:t>(ERA5 6hourly 1979-</a:t>
              </a:r>
              <a:r>
                <a:rPr kumimoji="1" lang="ko-KR" altLang="en-US" sz="2400" b="1" dirty="0">
                  <a:solidFill>
                    <a:schemeClr val="tx1"/>
                  </a:solidFill>
                </a:rPr>
                <a:t>현재</a:t>
              </a:r>
              <a:r>
                <a:rPr kumimoji="1" lang="en-US" altLang="ko-KR" sz="2400" b="1" dirty="0">
                  <a:solidFill>
                    <a:schemeClr val="tx1"/>
                  </a:solidFill>
                </a:rPr>
                <a:t>)</a:t>
              </a:r>
              <a:endParaRPr kumimoji="1" lang="ko-KR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31337F6-73B1-0CF7-D3AB-2FEB8E319B0B}"/>
                </a:ext>
              </a:extLst>
            </p:cNvPr>
            <p:cNvSpPr/>
            <p:nvPr/>
          </p:nvSpPr>
          <p:spPr>
            <a:xfrm>
              <a:off x="6854951" y="5841332"/>
              <a:ext cx="4190995" cy="1929063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2400" b="1" dirty="0">
                  <a:solidFill>
                    <a:schemeClr val="tx1"/>
                  </a:solidFill>
                </a:rPr>
                <a:t>검증용 관측</a:t>
              </a:r>
              <a:r>
                <a:rPr kumimoji="1" lang="en-US" altLang="ko-KR" sz="2400" b="1" dirty="0">
                  <a:solidFill>
                    <a:schemeClr val="tx1"/>
                  </a:solidFill>
                </a:rPr>
                <a:t>/</a:t>
              </a:r>
              <a:r>
                <a:rPr kumimoji="1" lang="ko-KR" altLang="en-US" sz="2400" b="1" dirty="0">
                  <a:solidFill>
                    <a:schemeClr val="tx1"/>
                  </a:solidFill>
                </a:rPr>
                <a:t>재분석 </a:t>
              </a:r>
              <a:r>
                <a:rPr kumimoji="1" lang="en-US" altLang="ko-KR" sz="2400" b="1" dirty="0">
                  <a:solidFill>
                    <a:schemeClr val="tx1"/>
                  </a:solidFill>
                </a:rPr>
                <a:t>DB </a:t>
              </a:r>
              <a:r>
                <a:rPr kumimoji="1" lang="ko-KR" altLang="en-US" sz="2400" b="1" dirty="0">
                  <a:solidFill>
                    <a:schemeClr val="tx1"/>
                  </a:solidFill>
                </a:rPr>
                <a:t>구축</a:t>
              </a:r>
              <a:endParaRPr kumimoji="1" lang="en-US" altLang="ko-KR" sz="2400" b="1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en-US" altLang="ko-KR" sz="2400" b="1" dirty="0">
                  <a:solidFill>
                    <a:schemeClr val="tx1"/>
                  </a:solidFill>
                </a:rPr>
                <a:t>(</a:t>
              </a:r>
              <a:r>
                <a:rPr kumimoji="1" lang="ko-KR" altLang="en-US" sz="2400" b="1" dirty="0">
                  <a:solidFill>
                    <a:schemeClr val="tx1"/>
                  </a:solidFill>
                </a:rPr>
                <a:t>토양수분</a:t>
              </a:r>
              <a:r>
                <a:rPr kumimoji="1" lang="en-US" altLang="ko-KR" sz="2400" b="1" dirty="0">
                  <a:solidFill>
                    <a:schemeClr val="tx1"/>
                  </a:solidFill>
                </a:rPr>
                <a:t>, </a:t>
              </a:r>
              <a:r>
                <a:rPr kumimoji="1" lang="ko-KR" altLang="en-US" sz="2400" b="1" dirty="0">
                  <a:solidFill>
                    <a:schemeClr val="tx1"/>
                  </a:solidFill>
                </a:rPr>
                <a:t>토양온도</a:t>
              </a:r>
              <a:r>
                <a:rPr kumimoji="1" lang="en-US" altLang="ko-KR" sz="2400" b="1" dirty="0">
                  <a:solidFill>
                    <a:schemeClr val="tx1"/>
                  </a:solidFill>
                </a:rPr>
                <a:t>, </a:t>
              </a:r>
              <a:r>
                <a:rPr kumimoji="1" lang="ko-KR" altLang="en-US" sz="2400" b="1" dirty="0">
                  <a:solidFill>
                    <a:schemeClr val="tx1"/>
                  </a:solidFill>
                </a:rPr>
                <a:t>식생</a:t>
              </a:r>
              <a:r>
                <a:rPr kumimoji="1" lang="en-US" altLang="ko-KR" sz="2400" b="1" dirty="0">
                  <a:solidFill>
                    <a:schemeClr val="tx1"/>
                  </a:solidFill>
                </a:rPr>
                <a:t>)</a:t>
              </a:r>
              <a:endParaRPr kumimoji="1" lang="ko-KR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87892B0-FB1E-8927-B428-8BDA8ED545EA}"/>
                </a:ext>
              </a:extLst>
            </p:cNvPr>
            <p:cNvSpPr/>
            <p:nvPr/>
          </p:nvSpPr>
          <p:spPr>
            <a:xfrm>
              <a:off x="1901953" y="6855996"/>
              <a:ext cx="4800599" cy="91440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400" b="1" dirty="0">
                  <a:solidFill>
                    <a:schemeClr val="tx1"/>
                  </a:solidFill>
                </a:rPr>
                <a:t>LSM (CLM, JULES, Noah MP, LM4+)</a:t>
              </a:r>
              <a:br>
                <a:rPr kumimoji="1" lang="en-US" altLang="ko-KR" sz="2400" b="1" dirty="0">
                  <a:solidFill>
                    <a:schemeClr val="tx1"/>
                  </a:solidFill>
                </a:rPr>
              </a:br>
              <a:r>
                <a:rPr kumimoji="1" lang="ko-KR" altLang="en-US" sz="2400" b="1" dirty="0">
                  <a:solidFill>
                    <a:schemeClr val="tx1"/>
                  </a:solidFill>
                </a:rPr>
                <a:t>오프라인 테스트베드 구축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5952C4C-3827-5928-9333-FBACDBD84516}"/>
                </a:ext>
              </a:extLst>
            </p:cNvPr>
            <p:cNvSpPr/>
            <p:nvPr/>
          </p:nvSpPr>
          <p:spPr>
            <a:xfrm>
              <a:off x="1901953" y="8696605"/>
              <a:ext cx="9140939" cy="12192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2400" b="1" dirty="0" err="1">
                  <a:solidFill>
                    <a:schemeClr val="tx1"/>
                  </a:solidFill>
                </a:rPr>
                <a:t>대기강제력을</a:t>
              </a:r>
              <a:r>
                <a:rPr kumimoji="1" lang="ko-KR" altLang="en-US" sz="2400" b="1" dirty="0">
                  <a:solidFill>
                    <a:schemeClr val="tx1"/>
                  </a:solidFill>
                </a:rPr>
                <a:t> 이용한 테스트베드의 오프라인 모델 적분 및</a:t>
              </a:r>
              <a:br>
                <a:rPr kumimoji="1" lang="en-US" altLang="ko-KR" sz="2400" b="1" dirty="0">
                  <a:solidFill>
                    <a:schemeClr val="tx1"/>
                  </a:solidFill>
                </a:rPr>
              </a:br>
              <a:r>
                <a:rPr kumimoji="1" lang="ko-KR" altLang="en-US" sz="2400" b="1" dirty="0">
                  <a:solidFill>
                    <a:schemeClr val="tx1"/>
                  </a:solidFill>
                </a:rPr>
                <a:t>재분석</a:t>
              </a:r>
              <a:r>
                <a:rPr kumimoji="1" lang="en-US" altLang="ko-KR" sz="2400" b="1" dirty="0">
                  <a:solidFill>
                    <a:schemeClr val="tx1"/>
                  </a:solidFill>
                </a:rPr>
                <a:t>/</a:t>
              </a:r>
              <a:r>
                <a:rPr kumimoji="1" lang="ko-KR" altLang="en-US" sz="2400" b="1" dirty="0">
                  <a:solidFill>
                    <a:schemeClr val="tx1"/>
                  </a:solidFill>
                </a:rPr>
                <a:t>관측 자료와의 성능 진단 수행</a:t>
              </a:r>
            </a:p>
          </p:txBody>
        </p:sp>
        <p:sp>
          <p:nvSpPr>
            <p:cNvPr id="20" name="왼쪽 중괄호[L] 19">
              <a:extLst>
                <a:ext uri="{FF2B5EF4-FFF2-40B4-BE49-F238E27FC236}">
                  <a16:creationId xmlns:a16="http://schemas.microsoft.com/office/drawing/2014/main" id="{5D9A2F37-2F4E-530B-F870-3C961958CB89}"/>
                </a:ext>
              </a:extLst>
            </p:cNvPr>
            <p:cNvSpPr/>
            <p:nvPr/>
          </p:nvSpPr>
          <p:spPr>
            <a:xfrm rot="16200000">
              <a:off x="6336278" y="5833204"/>
              <a:ext cx="702064" cy="4800593"/>
            </a:xfrm>
            <a:prstGeom prst="leftBrac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8620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14618-F27A-7F0C-C981-90F87AC1E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9E9E2A9-2E4D-3526-4704-EADCD6E35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3EDFD27-56F6-463A-4296-5C9D33612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차년도 연구추진 현황 </a:t>
            </a:r>
            <a:r>
              <a:rPr lang="en-US" altLang="ko-KR" dirty="0"/>
              <a:t>(ERA5 </a:t>
            </a:r>
            <a:r>
              <a:rPr lang="ko-KR" altLang="en-US" dirty="0" err="1"/>
              <a:t>대기강제력</a:t>
            </a:r>
            <a:r>
              <a:rPr lang="ko-KR" altLang="en-US" dirty="0"/>
              <a:t> 구축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215521D-D34C-69A5-C81D-A06FEE8DB580}"/>
              </a:ext>
            </a:extLst>
          </p:cNvPr>
          <p:cNvGrpSpPr/>
          <p:nvPr/>
        </p:nvGrpSpPr>
        <p:grpSpPr>
          <a:xfrm>
            <a:off x="468194" y="2469128"/>
            <a:ext cx="11266606" cy="9558244"/>
            <a:chOff x="-538752" y="2121834"/>
            <a:chExt cx="11266606" cy="9558244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30EEBA62-8EBA-3966-E8AC-64D128235EAF}"/>
                </a:ext>
              </a:extLst>
            </p:cNvPr>
            <p:cNvGrpSpPr/>
            <p:nvPr/>
          </p:nvGrpSpPr>
          <p:grpSpPr>
            <a:xfrm>
              <a:off x="-538752" y="2121834"/>
              <a:ext cx="11266606" cy="9558244"/>
              <a:chOff x="-508889" y="2603930"/>
              <a:chExt cx="11266606" cy="9558244"/>
            </a:xfrm>
          </p:grpSpPr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EC2309EB-4D60-A5A5-1822-7AEFC60A4226}"/>
                  </a:ext>
                </a:extLst>
              </p:cNvPr>
              <p:cNvSpPr/>
              <p:nvPr/>
            </p:nvSpPr>
            <p:spPr>
              <a:xfrm>
                <a:off x="1826940" y="3282422"/>
                <a:ext cx="7824538" cy="151787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3600" b="1" dirty="0">
                    <a:solidFill>
                      <a:schemeClr val="tx1"/>
                    </a:solidFill>
                  </a:rPr>
                  <a:t>ERA5  </a:t>
                </a:r>
                <a:r>
                  <a:rPr kumimoji="1" lang="ko-KR" altLang="en-US" sz="3600" b="1" dirty="0" err="1">
                    <a:solidFill>
                      <a:schemeClr val="tx1"/>
                    </a:solidFill>
                  </a:rPr>
                  <a:t>대기강제력</a:t>
                </a:r>
                <a:r>
                  <a:rPr kumimoji="1" lang="ko-KR" altLang="en-US" sz="3600" b="1" dirty="0">
                    <a:solidFill>
                      <a:schemeClr val="tx1"/>
                    </a:solidFill>
                  </a:rPr>
                  <a:t> </a:t>
                </a:r>
                <a:r>
                  <a:rPr kumimoji="1" lang="en-US" altLang="ko-KR" sz="3600" b="1" dirty="0">
                    <a:solidFill>
                      <a:schemeClr val="tx1"/>
                    </a:solidFill>
                  </a:rPr>
                  <a:t>(6hourly, 0.25x0.25)</a:t>
                </a:r>
              </a:p>
              <a:p>
                <a:pPr algn="ctr"/>
                <a:r>
                  <a:rPr kumimoji="1" lang="en-US" altLang="ko-KR" sz="2800" dirty="0">
                    <a:solidFill>
                      <a:schemeClr val="tx1"/>
                    </a:solidFill>
                  </a:rPr>
                  <a:t>(</a:t>
                </a:r>
                <a:r>
                  <a:rPr kumimoji="1" lang="ko-KR" altLang="en-US" sz="2800" dirty="0">
                    <a:solidFill>
                      <a:schemeClr val="tx1"/>
                    </a:solidFill>
                  </a:rPr>
                  <a:t>기온</a:t>
                </a:r>
                <a:r>
                  <a:rPr kumimoji="1" lang="en-US" altLang="ko-KR" sz="2800" dirty="0">
                    <a:solidFill>
                      <a:schemeClr val="tx1"/>
                    </a:solidFill>
                  </a:rPr>
                  <a:t>, </a:t>
                </a:r>
                <a:r>
                  <a:rPr kumimoji="1" lang="ko-KR" altLang="en-US" sz="2800" dirty="0">
                    <a:solidFill>
                      <a:schemeClr val="tx1"/>
                    </a:solidFill>
                  </a:rPr>
                  <a:t>기압</a:t>
                </a:r>
                <a:r>
                  <a:rPr kumimoji="1" lang="en-US" altLang="ko-KR" sz="2800" dirty="0">
                    <a:solidFill>
                      <a:schemeClr val="tx1"/>
                    </a:solidFill>
                  </a:rPr>
                  <a:t>,  </a:t>
                </a:r>
                <a:r>
                  <a:rPr kumimoji="1" lang="ko-KR" altLang="en-US" sz="2800" dirty="0">
                    <a:solidFill>
                      <a:schemeClr val="tx1"/>
                    </a:solidFill>
                  </a:rPr>
                  <a:t>바람</a:t>
                </a:r>
                <a:r>
                  <a:rPr kumimoji="1" lang="en-US" altLang="ko-KR" sz="2800" dirty="0">
                    <a:solidFill>
                      <a:schemeClr val="tx1"/>
                    </a:solidFill>
                  </a:rPr>
                  <a:t>, </a:t>
                </a:r>
                <a:r>
                  <a:rPr kumimoji="1" lang="ko-KR" altLang="en-US" sz="2800" dirty="0">
                    <a:solidFill>
                      <a:schemeClr val="tx1"/>
                    </a:solidFill>
                  </a:rPr>
                  <a:t>단파복사</a:t>
                </a:r>
                <a:r>
                  <a:rPr kumimoji="1" lang="en-US" altLang="ko-KR" sz="2800" dirty="0">
                    <a:solidFill>
                      <a:schemeClr val="tx1"/>
                    </a:solidFill>
                  </a:rPr>
                  <a:t>,  </a:t>
                </a:r>
                <a:r>
                  <a:rPr kumimoji="1" lang="ko-KR" altLang="en-US" sz="2800" dirty="0">
                    <a:solidFill>
                      <a:schemeClr val="tx1"/>
                    </a:solidFill>
                  </a:rPr>
                  <a:t>장파복사</a:t>
                </a:r>
                <a:r>
                  <a:rPr kumimoji="1" lang="en-US" altLang="ko-KR" sz="2800" dirty="0">
                    <a:solidFill>
                      <a:schemeClr val="tx1"/>
                    </a:solidFill>
                  </a:rPr>
                  <a:t>, </a:t>
                </a:r>
                <a:r>
                  <a:rPr kumimoji="1" lang="ko-KR" altLang="en-US" sz="2800" dirty="0">
                    <a:solidFill>
                      <a:schemeClr val="tx1"/>
                    </a:solidFill>
                  </a:rPr>
                  <a:t>강수량</a:t>
                </a:r>
                <a:r>
                  <a:rPr kumimoji="1" lang="en-US" altLang="ko-KR" sz="2800" dirty="0">
                    <a:solidFill>
                      <a:schemeClr val="tx1"/>
                    </a:solidFill>
                  </a:rPr>
                  <a:t>)</a:t>
                </a:r>
                <a:endParaRPr kumimoji="1" lang="ko-KR" altLang="en-US" sz="28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3" name="직선 연결선[R] 12">
                <a:extLst>
                  <a:ext uri="{FF2B5EF4-FFF2-40B4-BE49-F238E27FC236}">
                    <a16:creationId xmlns:a16="http://schemas.microsoft.com/office/drawing/2014/main" id="{8304C47A-A639-33A2-4594-4DF3FB414B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0538" y="4801756"/>
                <a:ext cx="0" cy="4216428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직선 연결선[R] 13">
                <a:extLst>
                  <a:ext uri="{FF2B5EF4-FFF2-40B4-BE49-F238E27FC236}">
                    <a16:creationId xmlns:a16="http://schemas.microsoft.com/office/drawing/2014/main" id="{17674194-2511-2E0A-7D5C-332A0B4E05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90538" y="5650056"/>
                <a:ext cx="8382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[R] 14">
                <a:extLst>
                  <a:ext uri="{FF2B5EF4-FFF2-40B4-BE49-F238E27FC236}">
                    <a16:creationId xmlns:a16="http://schemas.microsoft.com/office/drawing/2014/main" id="{25ADB7C7-C497-5A33-7490-C28BD282B5F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83105" y="6655072"/>
                <a:ext cx="84563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직선 연결선[R] 16">
                <a:extLst>
                  <a:ext uri="{FF2B5EF4-FFF2-40B4-BE49-F238E27FC236}">
                    <a16:creationId xmlns:a16="http://schemas.microsoft.com/office/drawing/2014/main" id="{20CDCBF9-839C-45C3-19E2-E9C61F3DE2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86821" y="7716696"/>
                <a:ext cx="8382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[R] 18">
                <a:extLst>
                  <a:ext uri="{FF2B5EF4-FFF2-40B4-BE49-F238E27FC236}">
                    <a16:creationId xmlns:a16="http://schemas.microsoft.com/office/drawing/2014/main" id="{D5D50954-213F-5D15-F2C0-B5CEA1AAD2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86821" y="9018184"/>
                <a:ext cx="8382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E70B8255-AB58-7A40-8B61-D08D3EF274A1}"/>
                  </a:ext>
                </a:extLst>
              </p:cNvPr>
              <p:cNvSpPr/>
              <p:nvPr/>
            </p:nvSpPr>
            <p:spPr>
              <a:xfrm>
                <a:off x="1828800" y="10134599"/>
                <a:ext cx="7824538" cy="151786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3600" b="1" dirty="0">
                    <a:solidFill>
                      <a:schemeClr val="tx1"/>
                    </a:solidFill>
                  </a:rPr>
                  <a:t>CLM5 </a:t>
                </a:r>
                <a:r>
                  <a:rPr kumimoji="1" lang="ko-KR" altLang="en-US" sz="3600" b="1" dirty="0" err="1">
                    <a:solidFill>
                      <a:schemeClr val="tx1"/>
                    </a:solidFill>
                  </a:rPr>
                  <a:t>대기강제력</a:t>
                </a:r>
                <a:r>
                  <a:rPr kumimoji="1" lang="ko-KR" altLang="en-US" sz="3600" b="1" dirty="0">
                    <a:solidFill>
                      <a:schemeClr val="tx1"/>
                    </a:solidFill>
                  </a:rPr>
                  <a:t> 구축</a:t>
                </a:r>
                <a:br>
                  <a:rPr kumimoji="1" lang="en-US" altLang="ko-KR" sz="3600" b="1" dirty="0">
                    <a:solidFill>
                      <a:schemeClr val="tx1"/>
                    </a:solidFill>
                  </a:rPr>
                </a:br>
                <a:r>
                  <a:rPr kumimoji="1" lang="en-US" altLang="ko-KR" sz="3600" b="1" dirty="0">
                    <a:solidFill>
                      <a:schemeClr val="tx1"/>
                    </a:solidFill>
                  </a:rPr>
                  <a:t>(6hourly, 0.5x0.5)</a:t>
                </a:r>
              </a:p>
            </p:txBody>
          </p:sp>
          <p:cxnSp>
            <p:nvCxnSpPr>
              <p:cNvPr id="21" name="직선 연결선[R] 20">
                <a:extLst>
                  <a:ext uri="{FF2B5EF4-FFF2-40B4-BE49-F238E27FC236}">
                    <a16:creationId xmlns:a16="http://schemas.microsoft.com/office/drawing/2014/main" id="{39914A02-1C51-5CF0-EC95-8F216E95218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64735" y="6655072"/>
                <a:ext cx="1222086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직선 연결선[R] 21">
                <a:extLst>
                  <a:ext uri="{FF2B5EF4-FFF2-40B4-BE49-F238E27FC236}">
                    <a16:creationId xmlns:a16="http://schemas.microsoft.com/office/drawing/2014/main" id="{4550C90D-3D95-E853-2CF3-025F2D3FEC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1018" y="6655072"/>
                <a:ext cx="0" cy="4319853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직선 연결선[R] 22">
                <a:extLst>
                  <a:ext uri="{FF2B5EF4-FFF2-40B4-BE49-F238E27FC236}">
                    <a16:creationId xmlns:a16="http://schemas.microsoft.com/office/drawing/2014/main" id="{36AFD211-AC78-5EB1-8254-5B5907E6E2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61018" y="10974925"/>
                <a:ext cx="567782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A24CBB5-FFAA-F37D-3D18-67982E608268}"/>
                  </a:ext>
                </a:extLst>
              </p:cNvPr>
              <p:cNvSpPr txBox="1"/>
              <p:nvPr/>
            </p:nvSpPr>
            <p:spPr>
              <a:xfrm>
                <a:off x="-508889" y="6128147"/>
                <a:ext cx="3833910" cy="461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ko-KR" sz="2400" dirty="0"/>
                  <a:t>Re-gridding</a:t>
                </a:r>
                <a:endParaRPr kumimoji="1" lang="ko-KR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삼각형 24">
                <a:extLst>
                  <a:ext uri="{FF2B5EF4-FFF2-40B4-BE49-F238E27FC236}">
                    <a16:creationId xmlns:a16="http://schemas.microsoft.com/office/drawing/2014/main" id="{284FE461-E032-F6AB-6FDE-24E450C7A0AE}"/>
                  </a:ext>
                </a:extLst>
              </p:cNvPr>
              <p:cNvSpPr/>
              <p:nvPr/>
            </p:nvSpPr>
            <p:spPr>
              <a:xfrm rot="5400000">
                <a:off x="1481517" y="10815007"/>
                <a:ext cx="371009" cy="319836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" name="평행 사변형[P] 25">
                    <a:extLst>
                      <a:ext uri="{FF2B5EF4-FFF2-40B4-BE49-F238E27FC236}">
                        <a16:creationId xmlns:a16="http://schemas.microsoft.com/office/drawing/2014/main" id="{4397CF78-FAAA-D3BE-3D0D-7070FCEA9351}"/>
                      </a:ext>
                    </a:extLst>
                  </p:cNvPr>
                  <p:cNvSpPr/>
                  <p:nvPr/>
                </p:nvSpPr>
                <p:spPr>
                  <a:xfrm>
                    <a:off x="3170862" y="5184250"/>
                    <a:ext cx="5410195" cy="829080"/>
                  </a:xfrm>
                  <a:prstGeom prst="parallelogram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ko-KR" sz="2800" b="1" dirty="0">
                        <a:solidFill>
                          <a:schemeClr val="tx1"/>
                        </a:solidFill>
                      </a:rPr>
                      <a:t>WIND</a:t>
                    </a:r>
                    <a:br>
                      <a:rPr lang="en-US" altLang="ko-KR" sz="2800" b="1" dirty="0">
                        <a:solidFill>
                          <a:schemeClr val="tx1"/>
                        </a:solidFill>
                      </a:rPr>
                    </a:br>
                    <a:r>
                      <a:rPr lang="en-US" altLang="ko-KR" sz="2800" b="1" dirty="0">
                        <a:solidFill>
                          <a:schemeClr val="tx1"/>
                        </a:solidFill>
                      </a:rPr>
                      <a:t>=</a:t>
                    </a:r>
                    <a:r>
                      <a:rPr lang="ko-KR" altLang="en-US" sz="2800" b="1" dirty="0">
                        <a:solidFill>
                          <a:schemeClr val="tx1"/>
                        </a:solidFill>
                      </a:rPr>
                      <a:t> </a:t>
                    </a:r>
                    <a14:m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US" altLang="ko-KR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ko-KR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altLang="ko-KR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ko-KR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ko-KR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altLang="ko-KR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oMath>
                    </a14:m>
                    <a:endParaRPr lang="en-US" altLang="ko-KR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6" name="평행 사변형[P] 25">
                    <a:extLst>
                      <a:ext uri="{FF2B5EF4-FFF2-40B4-BE49-F238E27FC236}">
                        <a16:creationId xmlns:a16="http://schemas.microsoft.com/office/drawing/2014/main" id="{4397CF78-FAAA-D3BE-3D0D-7070FCEA935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70862" y="5184250"/>
                    <a:ext cx="5410195" cy="829080"/>
                  </a:xfrm>
                  <a:prstGeom prst="parallelogram">
                    <a:avLst/>
                  </a:prstGeom>
                  <a:blipFill>
                    <a:blip r:embed="rId3"/>
                    <a:stretch>
                      <a:fillRect t="-16176" b="-27941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평행 사변형[P] 26">
                <a:extLst>
                  <a:ext uri="{FF2B5EF4-FFF2-40B4-BE49-F238E27FC236}">
                    <a16:creationId xmlns:a16="http://schemas.microsoft.com/office/drawing/2014/main" id="{C942DAC8-FDF3-1517-7471-21A555CF0866}"/>
                  </a:ext>
                </a:extLst>
              </p:cNvPr>
              <p:cNvSpPr/>
              <p:nvPr/>
            </p:nvSpPr>
            <p:spPr>
              <a:xfrm>
                <a:off x="3170862" y="6227538"/>
                <a:ext cx="5410195" cy="829080"/>
              </a:xfrm>
              <a:prstGeom prst="parallelogram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800" b="1" dirty="0">
                    <a:solidFill>
                      <a:schemeClr val="tx1"/>
                    </a:solidFill>
                  </a:rPr>
                  <a:t>QBOT</a:t>
                </a:r>
                <a:br>
                  <a:rPr lang="en-US" altLang="ko-KR" sz="2800" b="1" dirty="0">
                    <a:solidFill>
                      <a:schemeClr val="tx1"/>
                    </a:solidFill>
                  </a:rPr>
                </a:br>
                <a:r>
                  <a:rPr lang="en-US" altLang="ko-KR" sz="2800" b="1" dirty="0">
                    <a:solidFill>
                      <a:schemeClr val="tx1"/>
                    </a:solidFill>
                  </a:rPr>
                  <a:t>=</a:t>
                </a:r>
                <a:r>
                  <a:rPr lang="ko-KR" altLang="en-US" sz="2800" b="1" dirty="0">
                    <a:solidFill>
                      <a:schemeClr val="tx1"/>
                    </a:solidFill>
                  </a:rPr>
                  <a:t> </a:t>
                </a:r>
                <a:r>
                  <a:rPr lang="ko-KR" altLang="ko-KR" sz="2800" dirty="0">
                    <a:solidFill>
                      <a:srgbClr val="000000"/>
                    </a:solidFill>
                    <a:latin typeface="Arial" panose="020B0604020202020204" pitchFamily="34" charset="0"/>
                    <a:ea typeface="Google Sans"/>
                  </a:rPr>
                  <a:t>(0.622 * </a:t>
                </a:r>
                <a:r>
                  <a:rPr lang="ko-KR" altLang="ko-KR" sz="28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Google Sans"/>
                  </a:rPr>
                  <a:t>e</a:t>
                </a:r>
                <a:r>
                  <a:rPr lang="ko-KR" altLang="ko-KR" sz="2800" dirty="0">
                    <a:solidFill>
                      <a:srgbClr val="000000"/>
                    </a:solidFill>
                    <a:latin typeface="Arial" panose="020B0604020202020204" pitchFamily="34" charset="0"/>
                    <a:ea typeface="Google Sans"/>
                  </a:rPr>
                  <a:t>) / ( - 0.378 * </a:t>
                </a:r>
                <a:r>
                  <a:rPr lang="ko-KR" altLang="ko-KR" sz="28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Google Sans"/>
                  </a:rPr>
                  <a:t>e</a:t>
                </a:r>
                <a:r>
                  <a:rPr lang="en-US" altLang="ko-KR" sz="2800" dirty="0">
                    <a:solidFill>
                      <a:srgbClr val="000000"/>
                    </a:solidFill>
                    <a:latin typeface="Arial" panose="020B0604020202020204" pitchFamily="34" charset="0"/>
                    <a:ea typeface="Google Sans"/>
                  </a:rPr>
                  <a:t>)</a:t>
                </a:r>
                <a:endParaRPr lang="ko-KR" altLang="ko-KR" sz="54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8" name="평행 사변형[P] 27">
                <a:extLst>
                  <a:ext uri="{FF2B5EF4-FFF2-40B4-BE49-F238E27FC236}">
                    <a16:creationId xmlns:a16="http://schemas.microsoft.com/office/drawing/2014/main" id="{AD8BA7DD-F565-6FCE-6022-FEB5274498FF}"/>
                  </a:ext>
                </a:extLst>
              </p:cNvPr>
              <p:cNvSpPr/>
              <p:nvPr/>
            </p:nvSpPr>
            <p:spPr>
              <a:xfrm>
                <a:off x="3152277" y="7270826"/>
                <a:ext cx="5410195" cy="829080"/>
              </a:xfrm>
              <a:prstGeom prst="parallelogram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800" b="1" dirty="0">
                    <a:solidFill>
                      <a:schemeClr val="tx1"/>
                    </a:solidFill>
                  </a:rPr>
                  <a:t>PRECT</a:t>
                </a:r>
                <a:br>
                  <a:rPr lang="en-US" altLang="ko-KR" sz="2800" b="1" dirty="0">
                    <a:solidFill>
                      <a:schemeClr val="tx1"/>
                    </a:solidFill>
                  </a:rPr>
                </a:br>
                <a:r>
                  <a:rPr lang="en-US" altLang="ko-KR" sz="2800" b="1" dirty="0">
                    <a:solidFill>
                      <a:schemeClr val="tx1"/>
                    </a:solidFill>
                  </a:rPr>
                  <a:t>(</a:t>
                </a:r>
                <a:r>
                  <a:rPr lang="en-US" altLang="ko-KR" sz="2800" dirty="0">
                    <a:solidFill>
                      <a:schemeClr val="tx1"/>
                    </a:solidFill>
                  </a:rPr>
                  <a:t>6</a:t>
                </a:r>
                <a:r>
                  <a:rPr lang="ko-KR" altLang="en-US" sz="2800" dirty="0">
                    <a:solidFill>
                      <a:schemeClr val="tx1"/>
                    </a:solidFill>
                  </a:rPr>
                  <a:t>시간 누적</a:t>
                </a:r>
                <a:r>
                  <a:rPr lang="en-US" altLang="ko-KR" sz="28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  <p:sp>
            <p:nvSpPr>
              <p:cNvPr id="29" name="평행 사변형[P] 28">
                <a:extLst>
                  <a:ext uri="{FF2B5EF4-FFF2-40B4-BE49-F238E27FC236}">
                    <a16:creationId xmlns:a16="http://schemas.microsoft.com/office/drawing/2014/main" id="{8FE85B87-FE88-9CE3-673D-DEE4525A5A2C}"/>
                  </a:ext>
                </a:extLst>
              </p:cNvPr>
              <p:cNvSpPr/>
              <p:nvPr/>
            </p:nvSpPr>
            <p:spPr>
              <a:xfrm>
                <a:off x="3146697" y="8626831"/>
                <a:ext cx="5410195" cy="829080"/>
              </a:xfrm>
              <a:prstGeom prst="parallelogram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800" b="1" dirty="0">
                    <a:solidFill>
                      <a:schemeClr val="tx1"/>
                    </a:solidFill>
                  </a:rPr>
                  <a:t>TBOT, FSDS, FLDS</a:t>
                </a:r>
                <a:br>
                  <a:rPr lang="en-US" altLang="ko-KR" sz="2800" b="1" dirty="0">
                    <a:solidFill>
                      <a:schemeClr val="tx1"/>
                    </a:solidFill>
                  </a:rPr>
                </a:br>
                <a:r>
                  <a:rPr lang="en-US" altLang="ko-KR" sz="2800" b="1" dirty="0">
                    <a:solidFill>
                      <a:schemeClr val="tx1"/>
                    </a:solidFill>
                  </a:rPr>
                  <a:t>(</a:t>
                </a:r>
                <a:r>
                  <a:rPr lang="en-US" altLang="ko-KR" sz="2800" dirty="0">
                    <a:solidFill>
                      <a:schemeClr val="tx1"/>
                    </a:solidFill>
                  </a:rPr>
                  <a:t>6</a:t>
                </a:r>
                <a:r>
                  <a:rPr lang="ko-KR" altLang="en-US" sz="2800" dirty="0">
                    <a:solidFill>
                      <a:schemeClr val="tx1"/>
                    </a:solidFill>
                  </a:rPr>
                  <a:t>시간 평균</a:t>
                </a:r>
                <a:r>
                  <a:rPr lang="en-US" altLang="ko-KR" sz="28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  <p:cxnSp>
            <p:nvCxnSpPr>
              <p:cNvPr id="30" name="직선 연결선[R] 29">
                <a:extLst>
                  <a:ext uri="{FF2B5EF4-FFF2-40B4-BE49-F238E27FC236}">
                    <a16:creationId xmlns:a16="http://schemas.microsoft.com/office/drawing/2014/main" id="{59C7F99C-1963-E858-6896-7759CEFC54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57717" y="2603930"/>
                <a:ext cx="0" cy="955824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53C537A-57B5-01E4-AB2C-1F9E377A8654}"/>
                </a:ext>
              </a:extLst>
            </p:cNvPr>
            <p:cNvSpPr txBox="1"/>
            <p:nvPr/>
          </p:nvSpPr>
          <p:spPr>
            <a:xfrm>
              <a:off x="4038600" y="7613065"/>
              <a:ext cx="483661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b="1" dirty="0">
                  <a:solidFill>
                    <a:srgbClr val="0F304B"/>
                  </a:solidFill>
                  <a:latin typeface="Pretendard Regular"/>
                </a:rPr>
                <a:t>ERA5-Land</a:t>
              </a:r>
              <a:r>
                <a:rPr lang="ko-KR" altLang="en-US" b="1" dirty="0">
                  <a:solidFill>
                    <a:srgbClr val="0F304B"/>
                  </a:solidFill>
                  <a:latin typeface="Pretendard Regular"/>
                </a:rPr>
                <a:t>와 비교 위해 강수 보정 </a:t>
              </a:r>
              <a:r>
                <a:rPr lang="ko-KR" altLang="en-US" b="1" dirty="0" err="1">
                  <a:solidFill>
                    <a:srgbClr val="0F304B"/>
                  </a:solidFill>
                  <a:latin typeface="Pretendard Regular"/>
                </a:rPr>
                <a:t>미실시</a:t>
              </a:r>
              <a:endParaRPr lang="ko-KR" altLang="en-US" b="1" dirty="0"/>
            </a:p>
          </p:txBody>
        </p:sp>
      </p:grpSp>
      <p:pic>
        <p:nvPicPr>
          <p:cNvPr id="31" name="그림 30">
            <a:extLst>
              <a:ext uri="{FF2B5EF4-FFF2-40B4-BE49-F238E27FC236}">
                <a16:creationId xmlns:a16="http://schemas.microsoft.com/office/drawing/2014/main" id="{33837CD1-BA28-78C1-044B-C0EEF2E7DC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15"/>
          <a:stretch>
            <a:fillRect/>
          </a:stretch>
        </p:blipFill>
        <p:spPr>
          <a:xfrm>
            <a:off x="12290689" y="2867728"/>
            <a:ext cx="11772165" cy="8215600"/>
          </a:xfrm>
          <a:prstGeom prst="rect">
            <a:avLst/>
          </a:prstGeom>
        </p:spPr>
      </p:pic>
      <p:sp>
        <p:nvSpPr>
          <p:cNvPr id="32" name="TextBox 2">
            <a:extLst>
              <a:ext uri="{FF2B5EF4-FFF2-40B4-BE49-F238E27FC236}">
                <a16:creationId xmlns:a16="http://schemas.microsoft.com/office/drawing/2014/main" id="{E4900EA3-3DAB-E2F3-5B8F-782B6DA64D87}"/>
              </a:ext>
            </a:extLst>
          </p:cNvPr>
          <p:cNvSpPr txBox="1"/>
          <p:nvPr/>
        </p:nvSpPr>
        <p:spPr>
          <a:xfrm>
            <a:off x="13352136" y="10896600"/>
            <a:ext cx="12031027" cy="124485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3600" b="1" dirty="0">
                <a:solidFill>
                  <a:srgbClr val="0F304B"/>
                </a:solidFill>
                <a:latin typeface="Pretendard"/>
              </a:rPr>
              <a:t>ERA5 </a:t>
            </a:r>
            <a:r>
              <a:rPr lang="ko-KR" altLang="en-US" sz="3600" b="1" dirty="0">
                <a:solidFill>
                  <a:srgbClr val="0F304B"/>
                </a:solidFill>
                <a:latin typeface="Pretendard"/>
              </a:rPr>
              <a:t>의 강제력이 모델에 효과적으로 전달 확인</a:t>
            </a:r>
            <a:br>
              <a:rPr lang="en-US" altLang="ko-KR" sz="3600" dirty="0">
                <a:solidFill>
                  <a:srgbClr val="0F304B"/>
                </a:solidFill>
                <a:latin typeface="Pretendard"/>
              </a:rPr>
            </a:br>
            <a:r>
              <a:rPr lang="en-US" altLang="ko-KR" sz="3600" dirty="0">
                <a:solidFill>
                  <a:srgbClr val="0F304B"/>
                </a:solidFill>
                <a:latin typeface="Pretendard"/>
              </a:rPr>
              <a:t>(RMSE</a:t>
            </a:r>
            <a:r>
              <a:rPr lang="ko-KR" altLang="en-US" sz="3600" dirty="0">
                <a:solidFill>
                  <a:srgbClr val="0F304B"/>
                </a:solidFill>
                <a:latin typeface="Pretendard"/>
              </a:rPr>
              <a:t>는 재격자화 하면서 생기는 오차로 확인</a:t>
            </a:r>
            <a:r>
              <a:rPr lang="en-US" altLang="ko-KR" sz="3600" dirty="0">
                <a:solidFill>
                  <a:srgbClr val="0F304B"/>
                </a:solidFill>
                <a:latin typeface="Pretendard"/>
              </a:rPr>
              <a:t>)</a:t>
            </a:r>
            <a:r>
              <a:rPr lang="ko-KR" altLang="en-US" sz="3600" dirty="0">
                <a:solidFill>
                  <a:srgbClr val="0F304B"/>
                </a:solidFill>
                <a:latin typeface="Pretendard"/>
              </a:rPr>
              <a:t> </a:t>
            </a:r>
            <a:endParaRPr lang="en-US" altLang="ko-KR" sz="2800" dirty="0">
              <a:solidFill>
                <a:srgbClr val="0F304B"/>
              </a:solidFill>
              <a:latin typeface="Pretendard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873F49-4FD7-F851-D233-FFCE5358C45E}"/>
              </a:ext>
            </a:extLst>
          </p:cNvPr>
          <p:cNvSpPr txBox="1"/>
          <p:nvPr/>
        </p:nvSpPr>
        <p:spPr>
          <a:xfrm>
            <a:off x="12060026" y="2362200"/>
            <a:ext cx="12322949" cy="75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sz="4000" b="1" dirty="0">
                <a:solidFill>
                  <a:srgbClr val="0F304B"/>
                </a:solidFill>
                <a:latin typeface="Pretendard"/>
              </a:rPr>
              <a:t>1979</a:t>
            </a:r>
            <a:r>
              <a:rPr lang="ko-KR" altLang="en-US" sz="4000" b="1" dirty="0">
                <a:solidFill>
                  <a:srgbClr val="0F304B"/>
                </a:solidFill>
                <a:latin typeface="Pretendard"/>
              </a:rPr>
              <a:t>년 비교 </a:t>
            </a:r>
            <a:r>
              <a:rPr lang="en-US" altLang="ko-KR" sz="4000" b="1" dirty="0">
                <a:solidFill>
                  <a:srgbClr val="0F304B"/>
                </a:solidFill>
                <a:latin typeface="Pretendard"/>
              </a:rPr>
              <a:t>: ERA5 </a:t>
            </a:r>
            <a:r>
              <a:rPr lang="ko-KR" altLang="en-US" sz="4000" b="1" dirty="0" err="1">
                <a:solidFill>
                  <a:srgbClr val="0F304B"/>
                </a:solidFill>
                <a:latin typeface="Pretendard"/>
              </a:rPr>
              <a:t>대기강제력</a:t>
            </a:r>
            <a:r>
              <a:rPr lang="en-US" altLang="ko-KR" sz="4000" b="1" dirty="0">
                <a:solidFill>
                  <a:srgbClr val="0F304B"/>
                </a:solidFill>
                <a:latin typeface="Pretendard"/>
              </a:rPr>
              <a:t> (TBOT)</a:t>
            </a:r>
            <a:r>
              <a:rPr lang="ko-KR" altLang="en-US" sz="4000" b="1" dirty="0">
                <a:solidFill>
                  <a:srgbClr val="0F304B"/>
                </a:solidFill>
                <a:latin typeface="Pretendard"/>
              </a:rPr>
              <a:t>과 </a:t>
            </a:r>
            <a:r>
              <a:rPr lang="en-US" altLang="ko-KR" sz="4000" b="1" dirty="0">
                <a:solidFill>
                  <a:srgbClr val="0F304B"/>
                </a:solidFill>
                <a:latin typeface="Pretendard"/>
              </a:rPr>
              <a:t>CLM5</a:t>
            </a:r>
            <a:r>
              <a:rPr lang="ko-KR" altLang="en-US" sz="4000" b="1" dirty="0">
                <a:solidFill>
                  <a:srgbClr val="0F304B"/>
                </a:solidFill>
                <a:latin typeface="Pretendard"/>
              </a:rPr>
              <a:t> </a:t>
            </a:r>
            <a:r>
              <a:rPr lang="en-US" altLang="ko-KR" sz="4000" b="1" dirty="0">
                <a:solidFill>
                  <a:srgbClr val="0F304B"/>
                </a:solidFill>
                <a:latin typeface="Pretendard"/>
              </a:rPr>
              <a:t>(TBOT)</a:t>
            </a:r>
          </a:p>
        </p:txBody>
      </p:sp>
    </p:spTree>
    <p:extLst>
      <p:ext uri="{BB962C8B-B14F-4D97-AF65-F5344CB8AC3E}">
        <p14:creationId xmlns:p14="http://schemas.microsoft.com/office/powerpoint/2010/main" val="884963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F7DF5-79E1-9C52-A396-72B4CF7F7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9B6AA48-665E-AACC-CBA1-5C39F8984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5B1F854-0E2C-0AF1-1D56-571DBE968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차년도 연구추진 현황 </a:t>
            </a:r>
            <a:r>
              <a:rPr lang="en-US" altLang="ko-KR" dirty="0"/>
              <a:t>(ERA5 </a:t>
            </a:r>
            <a:r>
              <a:rPr lang="ko-KR" altLang="en-US" dirty="0" err="1"/>
              <a:t>대기강제력</a:t>
            </a:r>
            <a:r>
              <a:rPr lang="ko-KR" altLang="en-US" dirty="0"/>
              <a:t> 구축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E8C3FB-20C4-475E-32C5-D61EE8A995B4}"/>
              </a:ext>
            </a:extLst>
          </p:cNvPr>
          <p:cNvSpPr txBox="1"/>
          <p:nvPr/>
        </p:nvSpPr>
        <p:spPr>
          <a:xfrm>
            <a:off x="2057400" y="2895599"/>
            <a:ext cx="8915395" cy="75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sz="4000" b="1" dirty="0">
                <a:solidFill>
                  <a:srgbClr val="0F304B"/>
                </a:solidFill>
                <a:latin typeface="Pretendard"/>
              </a:rPr>
              <a:t>1979</a:t>
            </a:r>
            <a:r>
              <a:rPr lang="ko-KR" altLang="en-US" sz="4000" b="1" dirty="0">
                <a:solidFill>
                  <a:srgbClr val="0F304B"/>
                </a:solidFill>
                <a:latin typeface="Pretendard"/>
              </a:rPr>
              <a:t>년 평균 </a:t>
            </a:r>
            <a:r>
              <a:rPr lang="en-US" altLang="ko-KR" sz="4000" b="1" dirty="0">
                <a:solidFill>
                  <a:srgbClr val="0F304B"/>
                </a:solidFill>
                <a:latin typeface="Pretendard"/>
              </a:rPr>
              <a:t>ERA5 vs. </a:t>
            </a:r>
            <a:r>
              <a:rPr lang="ko-KR" altLang="en-US" sz="4000" b="1" dirty="0">
                <a:solidFill>
                  <a:srgbClr val="0F304B"/>
                </a:solidFill>
                <a:latin typeface="Pretendard"/>
              </a:rPr>
              <a:t> </a:t>
            </a:r>
            <a:r>
              <a:rPr lang="en-US" altLang="ko-KR" sz="4000" b="1" dirty="0">
                <a:solidFill>
                  <a:srgbClr val="0F304B"/>
                </a:solidFill>
                <a:latin typeface="Pretendard"/>
              </a:rPr>
              <a:t>CLM5 (PRECT)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BB1FEA2-ADD3-ACD0-CEB5-4F17744D68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87"/>
          <a:stretch>
            <a:fillRect/>
          </a:stretch>
        </p:blipFill>
        <p:spPr>
          <a:xfrm>
            <a:off x="520931" y="3657600"/>
            <a:ext cx="11611402" cy="7924798"/>
          </a:xfrm>
          <a:prstGeom prst="rect">
            <a:avLst/>
          </a:prstGeom>
        </p:spPr>
      </p:pic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5E324D74-DD3C-E0C3-D38C-1E6433651407}"/>
              </a:ext>
            </a:extLst>
          </p:cNvPr>
          <p:cNvCxnSpPr>
            <a:cxnSpLocks/>
          </p:cNvCxnSpPr>
          <p:nvPr/>
        </p:nvCxnSpPr>
        <p:spPr>
          <a:xfrm>
            <a:off x="12154635" y="3066286"/>
            <a:ext cx="0" cy="851611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57600180-1A0C-9361-AC33-61970A9B9B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89"/>
          <a:stretch>
            <a:fillRect/>
          </a:stretch>
        </p:blipFill>
        <p:spPr>
          <a:xfrm>
            <a:off x="12251727" y="3657600"/>
            <a:ext cx="11675073" cy="792479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6F8B2A0-65D5-2AE2-BE87-5CCD3A27B7A5}"/>
              </a:ext>
            </a:extLst>
          </p:cNvPr>
          <p:cNvSpPr txBox="1"/>
          <p:nvPr/>
        </p:nvSpPr>
        <p:spPr>
          <a:xfrm>
            <a:off x="14249400" y="2901695"/>
            <a:ext cx="8915395" cy="75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sz="4000" b="1" dirty="0">
                <a:solidFill>
                  <a:srgbClr val="0F304B"/>
                </a:solidFill>
                <a:latin typeface="Pretendard"/>
              </a:rPr>
              <a:t>1979</a:t>
            </a:r>
            <a:r>
              <a:rPr lang="ko-KR" altLang="en-US" sz="4000" b="1" dirty="0">
                <a:solidFill>
                  <a:srgbClr val="0F304B"/>
                </a:solidFill>
                <a:latin typeface="Pretendard"/>
              </a:rPr>
              <a:t>년 평균 </a:t>
            </a:r>
            <a:r>
              <a:rPr lang="en-US" altLang="ko-KR" sz="4000" b="1" dirty="0">
                <a:solidFill>
                  <a:srgbClr val="0F304B"/>
                </a:solidFill>
                <a:latin typeface="Pretendard"/>
              </a:rPr>
              <a:t>ERA5 vs. </a:t>
            </a:r>
            <a:r>
              <a:rPr lang="ko-KR" altLang="en-US" sz="4000" b="1" dirty="0">
                <a:solidFill>
                  <a:srgbClr val="0F304B"/>
                </a:solidFill>
                <a:latin typeface="Pretendard"/>
              </a:rPr>
              <a:t> </a:t>
            </a:r>
            <a:r>
              <a:rPr lang="en-US" altLang="ko-KR" sz="4000" b="1" dirty="0">
                <a:solidFill>
                  <a:srgbClr val="0F304B"/>
                </a:solidFill>
                <a:latin typeface="Pretendard"/>
              </a:rPr>
              <a:t>CLM5 (PRECT)</a:t>
            </a:r>
          </a:p>
        </p:txBody>
      </p:sp>
      <p:sp>
        <p:nvSpPr>
          <p:cNvPr id="37" name="TextBox 2">
            <a:extLst>
              <a:ext uri="{FF2B5EF4-FFF2-40B4-BE49-F238E27FC236}">
                <a16:creationId xmlns:a16="http://schemas.microsoft.com/office/drawing/2014/main" id="{8ECD67BE-CC94-E043-19E7-314570343C38}"/>
              </a:ext>
            </a:extLst>
          </p:cNvPr>
          <p:cNvSpPr txBox="1"/>
          <p:nvPr/>
        </p:nvSpPr>
        <p:spPr>
          <a:xfrm>
            <a:off x="7399972" y="11754542"/>
            <a:ext cx="12031027" cy="124485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3600" b="1" dirty="0">
                <a:solidFill>
                  <a:srgbClr val="0F304B"/>
                </a:solidFill>
                <a:latin typeface="Pretendard"/>
              </a:rPr>
              <a:t>ERA5 </a:t>
            </a:r>
            <a:r>
              <a:rPr lang="ko-KR" altLang="en-US" sz="3600" b="1" dirty="0">
                <a:solidFill>
                  <a:srgbClr val="0F304B"/>
                </a:solidFill>
                <a:latin typeface="Pretendard"/>
              </a:rPr>
              <a:t>의 강제력이 모델에 효과적으로 전달 확인</a:t>
            </a:r>
            <a:endParaRPr lang="en-US" altLang="ko-KR" sz="2800" dirty="0">
              <a:solidFill>
                <a:srgbClr val="0F304B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328704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748B1-9349-EC7A-3122-904B86831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84E4085-BA15-723D-36F5-F1535CFCF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697C275-039D-EC52-C7EE-79BE15F45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262" y="737937"/>
            <a:ext cx="19711738" cy="1143000"/>
          </a:xfrm>
        </p:spPr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차년도 연구추진 현황 </a:t>
            </a:r>
            <a:r>
              <a:rPr lang="en-US" altLang="ko-KR" dirty="0"/>
              <a:t>(</a:t>
            </a:r>
            <a:r>
              <a:rPr lang="ko-KR" altLang="en-US" dirty="0"/>
              <a:t>예비결과 </a:t>
            </a:r>
            <a:r>
              <a:rPr lang="en-US" altLang="ko-KR" dirty="0"/>
              <a:t>: CLM5</a:t>
            </a:r>
            <a:r>
              <a:rPr lang="ko-KR" altLang="en-US" dirty="0"/>
              <a:t> </a:t>
            </a:r>
            <a:r>
              <a:rPr lang="en-US" altLang="ko-KR" dirty="0"/>
              <a:t>spin-up)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05E16F-B130-332C-38E9-7574BDC07294}"/>
              </a:ext>
            </a:extLst>
          </p:cNvPr>
          <p:cNvSpPr txBox="1"/>
          <p:nvPr/>
        </p:nvSpPr>
        <p:spPr>
          <a:xfrm>
            <a:off x="609600" y="2388635"/>
            <a:ext cx="12322949" cy="75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sz="4000" b="1" dirty="0">
                <a:solidFill>
                  <a:srgbClr val="0F304B"/>
                </a:solidFill>
                <a:latin typeface="Pretendard"/>
              </a:rPr>
              <a:t>1979-1987 (9</a:t>
            </a:r>
            <a:r>
              <a:rPr lang="ko-KR" altLang="en-US" sz="4000" b="1" dirty="0">
                <a:solidFill>
                  <a:srgbClr val="0F304B"/>
                </a:solidFill>
                <a:latin typeface="Pretendard"/>
              </a:rPr>
              <a:t>년</a:t>
            </a:r>
            <a:r>
              <a:rPr lang="en-US" altLang="ko-KR" sz="4000" b="1" dirty="0">
                <a:solidFill>
                  <a:srgbClr val="0F304B"/>
                </a:solidFill>
                <a:latin typeface="Pretendard"/>
              </a:rPr>
              <a:t>) </a:t>
            </a:r>
            <a:r>
              <a:rPr lang="ko-KR" altLang="en-US" sz="4000" b="1" dirty="0">
                <a:solidFill>
                  <a:srgbClr val="0F304B"/>
                </a:solidFill>
                <a:latin typeface="Pretendard"/>
              </a:rPr>
              <a:t>적분 결과 </a:t>
            </a:r>
            <a:r>
              <a:rPr lang="en-US" altLang="ko-KR" sz="4000" b="1" dirty="0">
                <a:solidFill>
                  <a:srgbClr val="0F304B"/>
                </a:solidFill>
                <a:latin typeface="Pretendard"/>
              </a:rPr>
              <a:t>(</a:t>
            </a:r>
            <a:r>
              <a:rPr lang="ko-KR" altLang="en-US" sz="4000" b="1" dirty="0">
                <a:solidFill>
                  <a:srgbClr val="0F304B"/>
                </a:solidFill>
                <a:latin typeface="Pretendard"/>
              </a:rPr>
              <a:t>현재 </a:t>
            </a:r>
            <a:r>
              <a:rPr lang="en-US" altLang="ko-KR" sz="4000" b="1" dirty="0">
                <a:solidFill>
                  <a:srgbClr val="0F304B"/>
                </a:solidFill>
                <a:latin typeface="Pretendard"/>
              </a:rPr>
              <a:t>45</a:t>
            </a:r>
            <a:r>
              <a:rPr lang="ko-KR" altLang="en-US" sz="4000" b="1" dirty="0">
                <a:solidFill>
                  <a:srgbClr val="0F304B"/>
                </a:solidFill>
                <a:latin typeface="Pretendard"/>
              </a:rPr>
              <a:t>년 적분 수행 중</a:t>
            </a:r>
            <a:r>
              <a:rPr lang="en-US" altLang="ko-KR" sz="4000" b="1" dirty="0">
                <a:solidFill>
                  <a:srgbClr val="0F304B"/>
                </a:solidFill>
                <a:latin typeface="Pretendard"/>
              </a:rPr>
              <a:t>)</a:t>
            </a:r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C4F77F26-0FC6-59F9-AE8E-BBA68DAA2A5A}"/>
              </a:ext>
            </a:extLst>
          </p:cNvPr>
          <p:cNvCxnSpPr>
            <a:cxnSpLocks/>
          </p:cNvCxnSpPr>
          <p:nvPr/>
        </p:nvCxnSpPr>
        <p:spPr>
          <a:xfrm>
            <a:off x="12420600" y="3349085"/>
            <a:ext cx="0" cy="8979387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2">
            <a:extLst>
              <a:ext uri="{FF2B5EF4-FFF2-40B4-BE49-F238E27FC236}">
                <a16:creationId xmlns:a16="http://schemas.microsoft.com/office/drawing/2014/main" id="{7A800CF7-63EC-1FCD-B1E8-2E9923FC497A}"/>
              </a:ext>
            </a:extLst>
          </p:cNvPr>
          <p:cNvSpPr txBox="1"/>
          <p:nvPr/>
        </p:nvSpPr>
        <p:spPr>
          <a:xfrm>
            <a:off x="13335000" y="8517913"/>
            <a:ext cx="9920763" cy="342920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sz="4000" b="1" dirty="0">
                <a:solidFill>
                  <a:srgbClr val="0F304B"/>
                </a:solidFill>
                <a:latin typeface="Pretendard"/>
              </a:rPr>
              <a:t> </a:t>
            </a:r>
            <a:r>
              <a:rPr lang="en-US" altLang="ko-KR" sz="3200" b="1" dirty="0">
                <a:solidFill>
                  <a:srgbClr val="0F304B"/>
                </a:solidFill>
                <a:latin typeface="Pretendard"/>
              </a:rPr>
              <a:t>•</a:t>
            </a:r>
            <a:r>
              <a:rPr lang="en-US" altLang="ko-KR" sz="4000" b="1" dirty="0">
                <a:solidFill>
                  <a:srgbClr val="0F304B"/>
                </a:solidFill>
                <a:latin typeface="Pretendard"/>
              </a:rPr>
              <a:t> </a:t>
            </a:r>
            <a:r>
              <a:rPr lang="ko-KR" altLang="en-US" sz="3200" b="1" dirty="0">
                <a:solidFill>
                  <a:srgbClr val="0F304B"/>
                </a:solidFill>
                <a:latin typeface="Pretendard Regular"/>
              </a:rPr>
              <a:t>모델 적분이 진행됨에 따라 토양수분과 토양온도가 점차</a:t>
            </a:r>
            <a:r>
              <a:rPr lang="en-US" altLang="ko-KR" sz="3200" b="1" dirty="0">
                <a:solidFill>
                  <a:srgbClr val="0F304B"/>
                </a:solidFill>
                <a:latin typeface="Pretendard Regular"/>
              </a:rPr>
              <a:t> </a:t>
            </a:r>
            <a:r>
              <a:rPr lang="ko-KR" altLang="en-US" sz="3200" b="1" dirty="0">
                <a:solidFill>
                  <a:srgbClr val="0F304B"/>
                </a:solidFill>
                <a:latin typeface="Pretendard Regular"/>
              </a:rPr>
              <a:t>안정화 되고 있음</a:t>
            </a:r>
            <a:r>
              <a:rPr lang="en-US" altLang="ko-KR" sz="3200" b="1" dirty="0">
                <a:solidFill>
                  <a:srgbClr val="0F304B"/>
                </a:solidFill>
                <a:latin typeface="Pretendard Regular"/>
              </a:rPr>
              <a:t>.</a:t>
            </a:r>
          </a:p>
          <a:p>
            <a:pPr>
              <a:lnSpc>
                <a:spcPct val="116199"/>
              </a:lnSpc>
            </a:pPr>
            <a:r>
              <a:rPr lang="en-US" altLang="ko-KR" sz="3200" b="1" dirty="0">
                <a:solidFill>
                  <a:srgbClr val="0F304B"/>
                </a:solidFill>
                <a:latin typeface="Pretendard"/>
              </a:rPr>
              <a:t> •</a:t>
            </a:r>
            <a:r>
              <a:rPr lang="en-US" altLang="ko-KR" sz="4000" b="1" dirty="0">
                <a:solidFill>
                  <a:srgbClr val="0F304B"/>
                </a:solidFill>
                <a:latin typeface="Pretendard"/>
              </a:rPr>
              <a:t> </a:t>
            </a:r>
            <a:r>
              <a:rPr lang="en-US" altLang="ko-KR" sz="3200" b="1" dirty="0">
                <a:solidFill>
                  <a:srgbClr val="0F304B"/>
                </a:solidFill>
                <a:latin typeface="Pretendard Regular"/>
              </a:rPr>
              <a:t>Runoff</a:t>
            </a:r>
            <a:r>
              <a:rPr lang="ko-KR" altLang="en-US" sz="3200" b="1" dirty="0">
                <a:solidFill>
                  <a:srgbClr val="0F304B"/>
                </a:solidFill>
                <a:latin typeface="Pretendard Regular"/>
              </a:rPr>
              <a:t>의 경우 </a:t>
            </a:r>
            <a:r>
              <a:rPr lang="en-US" altLang="ko-KR" sz="3200" b="1" dirty="0">
                <a:solidFill>
                  <a:srgbClr val="0F304B"/>
                </a:solidFill>
                <a:latin typeface="Pretendard Regular"/>
              </a:rPr>
              <a:t>spin-up </a:t>
            </a:r>
            <a:r>
              <a:rPr lang="ko-KR" altLang="en-US" sz="3200" b="1" dirty="0">
                <a:solidFill>
                  <a:srgbClr val="0F304B"/>
                </a:solidFill>
                <a:latin typeface="Pretendard Regular"/>
              </a:rPr>
              <a:t>시간이 필요해 보임</a:t>
            </a:r>
            <a:r>
              <a:rPr lang="en-US" altLang="ko-KR" sz="3200" b="1" dirty="0">
                <a:solidFill>
                  <a:srgbClr val="0F304B"/>
                </a:solidFill>
                <a:latin typeface="Pretendard Regular"/>
              </a:rPr>
              <a:t>.</a:t>
            </a:r>
          </a:p>
          <a:p>
            <a:pPr lvl="0">
              <a:lnSpc>
                <a:spcPct val="116199"/>
              </a:lnSpc>
            </a:pPr>
            <a:r>
              <a:rPr lang="en-US" altLang="ko-KR" sz="3200" b="1" dirty="0">
                <a:solidFill>
                  <a:srgbClr val="0F304B"/>
                </a:solidFill>
                <a:latin typeface="Pretendard"/>
              </a:rPr>
              <a:t> •</a:t>
            </a:r>
            <a:r>
              <a:rPr lang="ko-KR" altLang="en-US" sz="3200" b="1" dirty="0">
                <a:solidFill>
                  <a:srgbClr val="0F304B"/>
                </a:solidFill>
                <a:latin typeface="Pretendard"/>
              </a:rPr>
              <a:t> </a:t>
            </a:r>
            <a:r>
              <a:rPr lang="en-US" altLang="ko-KR" sz="3200" b="1" dirty="0">
                <a:solidFill>
                  <a:srgbClr val="0F304B"/>
                </a:solidFill>
                <a:latin typeface="Pretendard"/>
              </a:rPr>
              <a:t>JULES, Noah MP, LM4+ </a:t>
            </a:r>
            <a:r>
              <a:rPr lang="ko-KR" altLang="en-US" sz="3200" b="1" dirty="0">
                <a:solidFill>
                  <a:srgbClr val="0F304B"/>
                </a:solidFill>
                <a:latin typeface="Pretendard"/>
              </a:rPr>
              <a:t>등 모델에서도 같은 방식을 이용해 </a:t>
            </a:r>
            <a:r>
              <a:rPr lang="en-US" altLang="ko-KR" sz="3200" b="1" dirty="0">
                <a:solidFill>
                  <a:srgbClr val="0F304B"/>
                </a:solidFill>
                <a:latin typeface="Pretendard"/>
              </a:rPr>
              <a:t>spin-up </a:t>
            </a:r>
            <a:r>
              <a:rPr lang="ko-KR" altLang="en-US" sz="3200" b="1" dirty="0">
                <a:solidFill>
                  <a:srgbClr val="0F304B"/>
                </a:solidFill>
                <a:latin typeface="Pretendard"/>
              </a:rPr>
              <a:t>할 예정임</a:t>
            </a:r>
            <a:r>
              <a:rPr lang="en-US" altLang="ko-KR" sz="3200" b="1" dirty="0">
                <a:solidFill>
                  <a:srgbClr val="0F304B"/>
                </a:solidFill>
                <a:latin typeface="Pretendard"/>
              </a:rPr>
              <a:t>.</a:t>
            </a:r>
          </a:p>
          <a:p>
            <a:pPr lvl="0">
              <a:lnSpc>
                <a:spcPct val="116199"/>
              </a:lnSpc>
            </a:pPr>
            <a:endParaRPr lang="en-US" altLang="ko-KR" sz="3200" b="1" dirty="0">
              <a:solidFill>
                <a:srgbClr val="0F304B"/>
              </a:solidFill>
              <a:latin typeface="Pretendard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2A83697-E7EA-919F-72D6-E381B16172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35"/>
          <a:stretch>
            <a:fillRect/>
          </a:stretch>
        </p:blipFill>
        <p:spPr>
          <a:xfrm>
            <a:off x="12816469" y="3429000"/>
            <a:ext cx="10272131" cy="483426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C797D50-DE8C-8BE4-F566-FC01228441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85"/>
          <a:stretch>
            <a:fillRect/>
          </a:stretch>
        </p:blipFill>
        <p:spPr>
          <a:xfrm>
            <a:off x="849683" y="3412067"/>
            <a:ext cx="10673451" cy="909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840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E5B486-F341-C87E-07A2-3789012C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95B8CD2-7C27-644F-225D-D408BCA95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성과계획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D137D39E-3DC1-538D-9AE7-7777FE5376CA}"/>
              </a:ext>
            </a:extLst>
          </p:cNvPr>
          <p:cNvSpPr txBox="1"/>
          <p:nvPr/>
        </p:nvSpPr>
        <p:spPr>
          <a:xfrm>
            <a:off x="1828800" y="3886200"/>
            <a:ext cx="14833600" cy="6286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just">
              <a:lnSpc>
                <a:spcPct val="116199"/>
              </a:lnSpc>
            </a:pPr>
            <a:r>
              <a:rPr lang="en-US" altLang="ko-KR" sz="4000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ko-KR" altLang="en-US" sz="4000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논문 </a:t>
            </a:r>
            <a:r>
              <a:rPr lang="en-US" sz="4000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SCI(E)/</a:t>
            </a:r>
            <a:r>
              <a:rPr lang="ko-KR" altLang="en-US" sz="4000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비</a:t>
            </a:r>
            <a:r>
              <a:rPr lang="en-US" sz="4000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SCI </a:t>
            </a:r>
            <a:r>
              <a:rPr lang="ko-KR" altLang="en-US" sz="4000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건수</a:t>
            </a:r>
          </a:p>
          <a:p>
            <a:pPr lvl="0" algn="just">
              <a:lnSpc>
                <a:spcPct val="116199"/>
              </a:lnSpc>
            </a:pPr>
            <a:r>
              <a:rPr lang="en-US" altLang="ko-KR" sz="4000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ko-KR" altLang="en-US" sz="4000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학회 발표 국내</a:t>
            </a:r>
            <a:r>
              <a:rPr lang="en-US" altLang="ko-KR" sz="4000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/</a:t>
            </a:r>
            <a:r>
              <a:rPr lang="ko-KR" altLang="en-US" sz="4000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국제 건수</a:t>
            </a:r>
          </a:p>
          <a:p>
            <a:pPr lvl="0" algn="just">
              <a:lnSpc>
                <a:spcPct val="116199"/>
              </a:lnSpc>
            </a:pPr>
            <a:r>
              <a:rPr lang="en-US" altLang="ko-KR" sz="4000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ko-KR" altLang="en-US" sz="4000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특허 출원</a:t>
            </a:r>
            <a:r>
              <a:rPr lang="en-US" altLang="ko-KR" sz="4000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/</a:t>
            </a:r>
            <a:r>
              <a:rPr lang="ko-KR" altLang="en-US" sz="4000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등록</a:t>
            </a:r>
          </a:p>
          <a:p>
            <a:pPr lvl="0" algn="just">
              <a:lnSpc>
                <a:spcPct val="116199"/>
              </a:lnSpc>
            </a:pPr>
            <a:r>
              <a:rPr lang="en-US" altLang="ko-KR" sz="4000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ko-KR" altLang="en-US" sz="4000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인력양성 석</a:t>
            </a:r>
            <a:r>
              <a:rPr lang="en-US" altLang="ko-KR" sz="4000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ko-KR" altLang="en-US" sz="4000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박사 배출 수</a:t>
            </a:r>
          </a:p>
          <a:p>
            <a:pPr lvl="0" algn="just">
              <a:lnSpc>
                <a:spcPct val="116199"/>
              </a:lnSpc>
            </a:pPr>
            <a:r>
              <a:rPr lang="en-US" altLang="ko-KR" sz="4000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4000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SW·DB </a:t>
            </a:r>
            <a:r>
              <a:rPr lang="ko-KR" altLang="en-US" sz="4000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등록 건수 </a:t>
            </a:r>
            <a:r>
              <a:rPr lang="en-US" altLang="ko-KR" sz="4000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– SW </a:t>
            </a:r>
            <a:r>
              <a:rPr lang="ko-KR" altLang="en-US" sz="4000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진단</a:t>
            </a:r>
          </a:p>
          <a:p>
            <a:pPr lvl="0" algn="just">
              <a:lnSpc>
                <a:spcPct val="116199"/>
              </a:lnSpc>
            </a:pPr>
            <a:r>
              <a:rPr lang="en-US" altLang="ko-KR" sz="4000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ko-KR" altLang="en-US" sz="4000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기술이전</a:t>
            </a:r>
            <a:r>
              <a:rPr lang="en-US" altLang="ko-KR" sz="4000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ko-KR" altLang="en-US" sz="4000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산출물 수</a:t>
            </a:r>
            <a:endParaRPr lang="en-US" sz="4000" b="0" i="0" u="none" strike="noStrike" dirty="0">
              <a:solidFill>
                <a:srgbClr val="0F304B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986680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F02C2B-D3CC-84C4-1708-865AE85C2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A63AADF-C41E-7C34-02A9-756C3A372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건의</a:t>
            </a:r>
            <a:r>
              <a:rPr lang="en-US" altLang="ko-KR" dirty="0"/>
              <a:t>/</a:t>
            </a:r>
            <a:r>
              <a:rPr lang="ko-KR" altLang="en-US" dirty="0"/>
              <a:t>토의 사항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903A2F00-4CC5-C772-6662-D4C219DAC558}"/>
              </a:ext>
            </a:extLst>
          </p:cNvPr>
          <p:cNvSpPr txBox="1"/>
          <p:nvPr/>
        </p:nvSpPr>
        <p:spPr>
          <a:xfrm>
            <a:off x="4775200" y="5676900"/>
            <a:ext cx="148336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000" b="0" i="0" u="none" strike="noStrike" dirty="0" err="1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자유롭게</a:t>
            </a:r>
            <a:r>
              <a:rPr lang="en-US" sz="4000" b="0" i="0" u="none" strike="noStrike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4000" b="0" i="0" u="none" strike="noStrike" dirty="0" err="1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작성</a:t>
            </a:r>
            <a:endParaRPr lang="en-US" sz="4000" b="0" i="0" u="none" strike="noStrike" dirty="0">
              <a:solidFill>
                <a:srgbClr val="0F304B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448414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66800" y="25400"/>
            <a:ext cx="2679700" cy="571500"/>
          </a:xfrm>
          <a:prstGeom prst="rect">
            <a:avLst/>
          </a:prstGeom>
        </p:spPr>
        <p:txBody>
          <a:bodyPr lIns="0" tIns="3511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247" b="0" i="0" u="none" strike="noStrike" cap="all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pic>
        <p:nvPicPr>
          <p:cNvPr id="15" name="Picture 7">
            <a:extLst>
              <a:ext uri="{FF2B5EF4-FFF2-40B4-BE49-F238E27FC236}">
                <a16:creationId xmlns:a16="http://schemas.microsoft.com/office/drawing/2014/main" id="{F283C0CF-A843-61E3-4F12-0D2C1DFE29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-206"/>
          <a:stretch/>
        </p:blipFill>
        <p:spPr>
          <a:xfrm>
            <a:off x="-88900" y="-177800"/>
            <a:ext cx="24625300" cy="2755900"/>
          </a:xfrm>
          <a:prstGeom prst="rect">
            <a:avLst/>
          </a:prstGeom>
        </p:spPr>
      </p:pic>
      <p:pic>
        <p:nvPicPr>
          <p:cNvPr id="16" name="Picture 8">
            <a:extLst>
              <a:ext uri="{FF2B5EF4-FFF2-40B4-BE49-F238E27FC236}">
                <a16:creationId xmlns:a16="http://schemas.microsoft.com/office/drawing/2014/main" id="{AF2D695C-F839-B8CC-D461-3EE6F74CC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500" y="13512800"/>
            <a:ext cx="25031700" cy="266700"/>
          </a:xfrm>
          <a:prstGeom prst="rect">
            <a:avLst/>
          </a:prstGeom>
        </p:spPr>
      </p:pic>
      <p:sp>
        <p:nvSpPr>
          <p:cNvPr id="18" name="TextBox 5">
            <a:extLst>
              <a:ext uri="{FF2B5EF4-FFF2-40B4-BE49-F238E27FC236}">
                <a16:creationId xmlns:a16="http://schemas.microsoft.com/office/drawing/2014/main" id="{32AEC17E-F48B-A961-4972-88E5BDFC774E}"/>
              </a:ext>
            </a:extLst>
          </p:cNvPr>
          <p:cNvSpPr txBox="1"/>
          <p:nvPr/>
        </p:nvSpPr>
        <p:spPr>
          <a:xfrm>
            <a:off x="-127000" y="6267450"/>
            <a:ext cx="24638000" cy="1181100"/>
          </a:xfrm>
          <a:prstGeom prst="rect">
            <a:avLst/>
          </a:prstGeom>
        </p:spPr>
        <p:txBody>
          <a:bodyPr lIns="0" tIns="139700" rIns="0" bIns="0" rtlCol="0" anchor="t"/>
          <a:lstStyle/>
          <a:p>
            <a:pPr lvl="0" algn="ctr">
              <a:lnSpc>
                <a:spcPct val="88810"/>
              </a:lnSpc>
            </a:pPr>
            <a:r>
              <a:rPr lang="ko-KR" altLang="en-US" sz="6666" b="0" i="0" u="none" strike="noStrike" dirty="0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감사합니다</a:t>
            </a:r>
            <a:r>
              <a:rPr lang="en-US" altLang="ko-KR" sz="6666" b="0" i="0" u="none" strike="noStrike" dirty="0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.</a:t>
            </a:r>
            <a:endParaRPr lang="en-US" sz="6666" b="0" i="0" u="none" strike="noStrike" dirty="0">
              <a:solidFill>
                <a:srgbClr val="0F304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FC442F4-F50F-961E-6C3E-64CD2468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782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663</Words>
  <Application>Microsoft Macintosh PowerPoint</Application>
  <PresentationFormat>사용자 지정</PresentationFormat>
  <Paragraphs>103</Paragraphs>
  <Slides>10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10</vt:i4>
      </vt:variant>
    </vt:vector>
  </HeadingPairs>
  <TitlesOfParts>
    <vt:vector size="22" baseType="lpstr">
      <vt:lpstr>Arial</vt:lpstr>
      <vt:lpstr>Pretendard SemiBold</vt:lpstr>
      <vt:lpstr>Calibri</vt:lpstr>
      <vt:lpstr>Pretendard Medium</vt:lpstr>
      <vt:lpstr>Cambria Math</vt:lpstr>
      <vt:lpstr>Wingdings</vt:lpstr>
      <vt:lpstr>Pretendard Regular</vt:lpstr>
      <vt:lpstr>Pretendard</vt:lpstr>
      <vt:lpstr>맑은 고딕</vt:lpstr>
      <vt:lpstr>Pretendard Bold</vt:lpstr>
      <vt:lpstr>Office Theme</vt:lpstr>
      <vt:lpstr>디자인 사용자 지정</vt:lpstr>
      <vt:lpstr>PowerPoint 프레젠테이션</vt:lpstr>
      <vt:lpstr>PowerPoint 프레젠테이션</vt:lpstr>
      <vt:lpstr>전체계획</vt:lpstr>
      <vt:lpstr>1차년도 연구계획</vt:lpstr>
      <vt:lpstr>1차년도 연구추진 현황 (ERA5 대기강제력 구축)</vt:lpstr>
      <vt:lpstr>1차년도 연구추진 현황 (ERA5 대기강제력 구축)</vt:lpstr>
      <vt:lpstr>1차년도 연구추진 현황 (예비결과 : CLM5 spin-up)</vt:lpstr>
      <vt:lpstr>성과계획</vt:lpstr>
      <vt:lpstr>건의/토의 사항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pandl</dc:creator>
  <cp:lastModifiedBy>고영대</cp:lastModifiedBy>
  <cp:revision>16</cp:revision>
  <dcterms:created xsi:type="dcterms:W3CDTF">2006-08-16T00:00:00Z</dcterms:created>
  <dcterms:modified xsi:type="dcterms:W3CDTF">2026-06-17T10:12:16Z</dcterms:modified>
</cp:coreProperties>
</file>