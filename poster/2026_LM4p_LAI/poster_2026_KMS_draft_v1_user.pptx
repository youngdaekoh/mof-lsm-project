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2399288" cy="50399950"/>
  <p:notesSz cx="50399950" cy="323992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ster" id="{1543B746-12AF-7D97-7BF0-212E8C54F7CE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04"/>
    <p:restoredTop sz="94610"/>
  </p:normalViewPr>
  <p:slideViewPr>
    <p:cSldViewPr snapToGrid="0" snapToObjects="1">
      <p:cViewPr>
        <p:scale>
          <a:sx n="20" d="100"/>
          <a:sy n="20" d="100"/>
        </p:scale>
        <p:origin x="283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6221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Poster template 90 x 140 cm (portrait). Font sizes: title 72 pt, authors 40, affiliations 30, section headers 48, body 30, captions 26, references 24. Figures: replace the dashed boxes with 300-dpi images. Logo circles: replace with university / lab logos. Print: export as PDF (File &gt; Export) at actual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S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d"/>
          <p:cNvSpPr/>
          <p:nvPr/>
        </p:nvSpPr>
        <p:spPr>
          <a:xfrm>
            <a:off x="0" y="0"/>
            <a:ext cx="32400000" cy="950976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8321040" y="914400"/>
            <a:ext cx="15757920" cy="3840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7200" b="1" dirty="0">
                <a:solidFill>
                  <a:schemeClr val="bg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7200" b="1" dirty="0">
                <a:solidFill>
                  <a:schemeClr val="bg1"/>
                </a:solidFill>
              </a:rPr>
              <a:t>Poster title (2 lines max)</a:t>
            </a:r>
            <a:endParaRPr lang="en-US" sz="72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914400" y="4937760"/>
            <a:ext cx="305712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000" dirty="0">
                <a:solidFill>
                  <a:schemeClr val="bg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4000" dirty="0">
                <a:solidFill>
                  <a:schemeClr val="bg1"/>
                </a:solidFill>
              </a:rPr>
              <a:t>Authors</a:t>
            </a:r>
            <a:endParaRPr lang="en-US" sz="40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914400" y="6309360"/>
            <a:ext cx="305712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000" dirty="0">
                <a:solidFill>
                  <a:schemeClr val="accent6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3000" dirty="0">
                <a:solidFill>
                  <a:schemeClr val="accent6"/>
                </a:solidFill>
              </a:rPr>
              <a:t>Affiliations / contact</a:t>
            </a: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1"/>
          <p:cNvSpPr>
            <a:spLocks noGrp="1"/>
          </p:cNvSpPr>
          <p:nvPr>
            <p:ph type="title" idx="101" hasCustomPrompt="1"/>
          </p:nvPr>
        </p:nvSpPr>
        <p:spPr>
          <a:xfrm>
            <a:off x="3976666" y="1059180"/>
            <a:ext cx="2444595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dirty="0"/>
              <a:t>LM4+ 지면 모델의 전 지구 엽면적지수 모의 특성 진단</a:t>
            </a:r>
            <a:endParaRPr lang="en-US" sz="7200" dirty="0"/>
          </a:p>
        </p:txBody>
      </p:sp>
      <p:sp>
        <p:nvSpPr>
          <p:cNvPr id="7" name="Text 1"/>
          <p:cNvSpPr>
            <a:spLocks noGrp="1"/>
          </p:cNvSpPr>
          <p:nvPr>
            <p:ph type="body" idx="102" hasCustomPrompt="1"/>
          </p:nvPr>
        </p:nvSpPr>
        <p:spPr>
          <a:xfrm>
            <a:off x="914400" y="4671060"/>
            <a:ext cx="3057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u="sng" dirty="0">
                <a:solidFill>
                  <a:schemeClr val="bg1"/>
                </a:solidFill>
              </a:rPr>
              <a:t>고영대</a:t>
            </a:r>
            <a:r>
              <a:rPr lang="en-US" sz="4000" baseline="30000" dirty="0">
                <a:solidFill>
                  <a:schemeClr val="bg1"/>
                </a:solidFill>
              </a:rPr>
              <a:t>¹</a:t>
            </a:r>
            <a:r>
              <a:rPr lang="en-US" sz="4000" dirty="0">
                <a:solidFill>
                  <a:schemeClr val="bg1"/>
                </a:solidFill>
              </a:rPr>
              <a:t>, </a:t>
            </a:r>
            <a:r>
              <a:rPr lang="en-US" sz="4000" dirty="0" err="1">
                <a:solidFill>
                  <a:schemeClr val="bg1"/>
                </a:solidFill>
              </a:rPr>
              <a:t>박상혁</a:t>
            </a:r>
            <a:r>
              <a:rPr lang="en-US" altLang="ko-KR" baseline="30000" dirty="0"/>
              <a:t>², </a:t>
            </a:r>
            <a:r>
              <a:rPr lang="en-US" sz="4000" dirty="0">
                <a:solidFill>
                  <a:schemeClr val="bg1"/>
                </a:solidFill>
              </a:rPr>
              <a:t>정지훈</a:t>
            </a:r>
            <a:r>
              <a:rPr lang="en-US" sz="4000" baseline="30000" dirty="0">
                <a:solidFill>
                  <a:schemeClr val="bg1"/>
                </a:solidFill>
              </a:rPr>
              <a:t>²</a:t>
            </a:r>
            <a:endParaRPr lang="en-US" sz="4000" dirty="0"/>
          </a:p>
        </p:txBody>
      </p:sp>
      <p:sp>
        <p:nvSpPr>
          <p:cNvPr id="8" name="Text 1"/>
          <p:cNvSpPr>
            <a:spLocks noGrp="1"/>
          </p:cNvSpPr>
          <p:nvPr>
            <p:ph type="body" idx="103" hasCustomPrompt="1"/>
          </p:nvPr>
        </p:nvSpPr>
        <p:spPr>
          <a:xfrm>
            <a:off x="914400" y="6042660"/>
            <a:ext cx="3057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dirty="0">
                <a:solidFill>
                  <a:schemeClr val="accent6"/>
                </a:solidFill>
              </a:rPr>
              <a:t>¹전남대학교 해양학과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dirty="0">
                <a:solidFill>
                  <a:schemeClr val="accent6"/>
                </a:solidFill>
              </a:rPr>
              <a:t>²세종대학교 환경융합공학과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chemeClr val="accent6"/>
                </a:solidFill>
              </a:rPr>
              <a:t>Contact: youngdaekoh@gmail.com</a:t>
            </a:r>
            <a:endParaRPr lang="en-US" sz="3000" dirty="0"/>
          </a:p>
        </p:txBody>
      </p:sp>
      <p:sp>
        <p:nvSpPr>
          <p:cNvPr id="9" name="Header: INTRODUCTION"/>
          <p:cNvSpPr/>
          <p:nvPr/>
        </p:nvSpPr>
        <p:spPr>
          <a:xfrm>
            <a:off x="914400" y="10332720"/>
            <a:ext cx="14919840" cy="11430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Header text: INTRODUCTION"/>
          <p:cNvSpPr txBox="1"/>
          <p:nvPr/>
        </p:nvSpPr>
        <p:spPr>
          <a:xfrm>
            <a:off x="914400" y="10332720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bg1"/>
                </a:solidFill>
              </a:rPr>
              <a:t>서론</a:t>
            </a:r>
            <a:endParaRPr lang="en-US" sz="4800" dirty="0"/>
          </a:p>
        </p:txBody>
      </p:sp>
      <p:sp>
        <p:nvSpPr>
          <p:cNvPr id="11" name="Introduction body"/>
          <p:cNvSpPr txBox="1"/>
          <p:nvPr/>
        </p:nvSpPr>
        <p:spPr>
          <a:xfrm>
            <a:off x="914400" y="11704320"/>
            <a:ext cx="14904720" cy="603504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marL="457200" indent="-457200">
              <a:buFont typeface="Wingdings" pitchFamily="2" charset="2"/>
              <a:buChar char="§"/>
            </a:pPr>
            <a:r>
              <a:rPr lang="en-US" sz="2800" b="1" dirty="0">
                <a:solidFill>
                  <a:schemeClr val="tx2"/>
                </a:solidFill>
              </a:rPr>
              <a:t>한국해양과학기술원(KIOST)</a:t>
            </a:r>
            <a:r>
              <a:rPr lang="ko-KR" altLang="en-US" sz="2800" b="1" dirty="0">
                <a:solidFill>
                  <a:schemeClr val="tx2"/>
                </a:solidFill>
              </a:rPr>
              <a:t>의 </a:t>
            </a:r>
            <a:r>
              <a:rPr lang="en-US" sz="2800" b="1" dirty="0">
                <a:solidFill>
                  <a:schemeClr val="tx2"/>
                </a:solidFill>
              </a:rPr>
              <a:t>KIOST-ESM2</a:t>
            </a:r>
            <a:r>
              <a:rPr lang="ko-KR" altLang="en-US" sz="2800" b="1" dirty="0">
                <a:solidFill>
                  <a:schemeClr val="tx2"/>
                </a:solidFill>
              </a:rPr>
              <a:t>는 </a:t>
            </a:r>
            <a:r>
              <a:rPr lang="en-US" sz="2800" b="1" dirty="0" err="1">
                <a:solidFill>
                  <a:schemeClr val="tx2"/>
                </a:solidFill>
              </a:rPr>
              <a:t>지면</a:t>
            </a:r>
            <a:r>
              <a:rPr lang="en-US" sz="2800" b="1" dirty="0">
                <a:solidFill>
                  <a:schemeClr val="tx2"/>
                </a:solidFill>
              </a:rPr>
              <a:t> 성분으로 GFDL의 LM4+를 </a:t>
            </a:r>
            <a:r>
              <a:rPr lang="en-US" sz="2800" b="1" dirty="0" err="1">
                <a:solidFill>
                  <a:schemeClr val="tx2"/>
                </a:solidFill>
              </a:rPr>
              <a:t>사용</a:t>
            </a:r>
            <a:endParaRPr lang="en-US" sz="3000" dirty="0"/>
          </a:p>
          <a:p>
            <a:pPr marL="457200" indent="-457200">
              <a:buFont typeface="Wingdings" pitchFamily="2" charset="2"/>
              <a:buChar char="§"/>
            </a:pPr>
            <a:r>
              <a:rPr lang="en-US" sz="2800" b="0" dirty="0">
                <a:solidFill>
                  <a:schemeClr val="tx2"/>
                </a:solidFill>
              </a:rPr>
              <a:t>LM4+는 식생을 크기별 개체군(cohort, PPA)으로 모의하여 엽면적·생물량·종 구성이 기후에 </a:t>
            </a:r>
            <a:r>
              <a:rPr lang="en-US" sz="2800" b="0" dirty="0" err="1">
                <a:solidFill>
                  <a:schemeClr val="tx2"/>
                </a:solidFill>
              </a:rPr>
              <a:t>반응해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en-US" sz="2800" b="0" dirty="0" err="1">
                <a:solidFill>
                  <a:schemeClr val="tx2"/>
                </a:solidFill>
              </a:rPr>
              <a:t>변</a:t>
            </a:r>
            <a:r>
              <a:rPr lang="ko-KR" altLang="en-US" sz="2800" b="0" dirty="0">
                <a:solidFill>
                  <a:schemeClr val="tx2"/>
                </a:solidFill>
              </a:rPr>
              <a:t>함</a:t>
            </a:r>
            <a:r>
              <a:rPr lang="en-US" altLang="ko-KR" sz="2800" b="0" dirty="0">
                <a:solidFill>
                  <a:schemeClr val="tx2"/>
                </a:solidFill>
              </a:rPr>
              <a:t>.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en-US" sz="2800" b="0" dirty="0" err="1">
                <a:solidFill>
                  <a:schemeClr val="tx2"/>
                </a:solidFill>
              </a:rPr>
              <a:t>이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en-US" sz="2800" b="0" dirty="0" err="1">
                <a:solidFill>
                  <a:schemeClr val="tx2"/>
                </a:solidFill>
              </a:rPr>
              <a:t>자유도는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en-US" sz="2800" dirty="0">
                <a:solidFill>
                  <a:schemeClr val="tx2"/>
                </a:solidFill>
              </a:rPr>
              <a:t>prescribed</a:t>
            </a:r>
            <a:r>
              <a:rPr lang="en-US" sz="2800" b="0" dirty="0">
                <a:solidFill>
                  <a:schemeClr val="tx2"/>
                </a:solidFill>
              </a:rPr>
              <a:t> 식생이 담지 </a:t>
            </a:r>
            <a:r>
              <a:rPr lang="en-US" sz="2800" b="0" dirty="0" err="1">
                <a:solidFill>
                  <a:schemeClr val="tx2"/>
                </a:solidFill>
              </a:rPr>
              <a:t>못하는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feedback</a:t>
            </a:r>
            <a:r>
              <a:rPr lang="en-US" sz="2800" b="0" dirty="0" err="1">
                <a:solidFill>
                  <a:schemeClr val="tx2"/>
                </a:solidFill>
              </a:rPr>
              <a:t>을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ko-KR" altLang="en-US" sz="2800" b="0" dirty="0">
                <a:solidFill>
                  <a:schemeClr val="tx2"/>
                </a:solidFill>
              </a:rPr>
              <a:t>모의</a:t>
            </a:r>
            <a:r>
              <a:rPr lang="en-US" sz="2800" b="0" dirty="0" err="1">
                <a:solidFill>
                  <a:schemeClr val="tx2"/>
                </a:solidFill>
              </a:rPr>
              <a:t>하지만</a:t>
            </a:r>
            <a:r>
              <a:rPr lang="en-US" sz="2800" b="0" dirty="0">
                <a:solidFill>
                  <a:schemeClr val="tx2"/>
                </a:solidFill>
              </a:rPr>
              <a:t>, 동시에 </a:t>
            </a:r>
            <a:r>
              <a:rPr lang="en-US" sz="2800" b="0" dirty="0" err="1">
                <a:solidFill>
                  <a:schemeClr val="tx2"/>
                </a:solidFill>
              </a:rPr>
              <a:t>큰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en-US" sz="2800" b="0" dirty="0" err="1">
                <a:solidFill>
                  <a:schemeClr val="tx2"/>
                </a:solidFill>
              </a:rPr>
              <a:t>불확실성</a:t>
            </a:r>
            <a:r>
              <a:rPr lang="ko-KR" altLang="en-US" sz="2800" b="0" dirty="0">
                <a:solidFill>
                  <a:schemeClr val="tx2"/>
                </a:solidFill>
              </a:rPr>
              <a:t> 내포</a:t>
            </a:r>
            <a:endParaRPr lang="en-US" sz="2800" b="0" dirty="0">
              <a:solidFill>
                <a:schemeClr val="tx2"/>
              </a:solidFill>
            </a:endParaRPr>
          </a:p>
          <a:p>
            <a:pPr marL="457200" indent="-457200">
              <a:buFont typeface="Wingdings" pitchFamily="2" charset="2"/>
              <a:buChar char="§"/>
            </a:pPr>
            <a:r>
              <a:rPr lang="en-US" sz="2800" b="0" dirty="0" err="1">
                <a:solidFill>
                  <a:schemeClr val="tx2"/>
                </a:solidFill>
              </a:rPr>
              <a:t>따라서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en-US" sz="2800" dirty="0">
                <a:solidFill>
                  <a:schemeClr val="tx2"/>
                </a:solidFill>
              </a:rPr>
              <a:t>fully coupled model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ko-KR" altLang="en-US" sz="2800" dirty="0">
                <a:solidFill>
                  <a:schemeClr val="tx2"/>
                </a:solidFill>
              </a:rPr>
              <a:t>실험</a:t>
            </a:r>
            <a:r>
              <a:rPr lang="en-US" sz="2800" b="0" dirty="0" err="1">
                <a:solidFill>
                  <a:schemeClr val="tx2"/>
                </a:solidFill>
              </a:rPr>
              <a:t>에</a:t>
            </a:r>
            <a:r>
              <a:rPr lang="en-US" sz="2800" b="0" dirty="0">
                <a:solidFill>
                  <a:schemeClr val="tx2"/>
                </a:solidFill>
              </a:rPr>
              <a:t> 앞서, </a:t>
            </a:r>
            <a:r>
              <a:rPr lang="ko-KR" altLang="en-US" sz="2800" dirty="0">
                <a:solidFill>
                  <a:schemeClr val="tx2"/>
                </a:solidFill>
              </a:rPr>
              <a:t>관측 기반의 </a:t>
            </a:r>
            <a:r>
              <a:rPr lang="ko-KR" altLang="en-US" sz="2800" dirty="0" err="1">
                <a:solidFill>
                  <a:schemeClr val="tx2"/>
                </a:solidFill>
              </a:rPr>
              <a:t>대기강제력으로</a:t>
            </a:r>
            <a:r>
              <a:rPr lang="ko-KR" altLang="en-US" sz="2800" dirty="0">
                <a:solidFill>
                  <a:schemeClr val="tx2"/>
                </a:solidFill>
              </a:rPr>
              <a:t> </a:t>
            </a:r>
            <a:r>
              <a:rPr lang="en-US" sz="2800" b="0" dirty="0" err="1">
                <a:solidFill>
                  <a:schemeClr val="tx2"/>
                </a:solidFill>
              </a:rPr>
              <a:t>오프라인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en-US" sz="2800" b="0" dirty="0" err="1">
                <a:solidFill>
                  <a:schemeClr val="tx2"/>
                </a:solidFill>
              </a:rPr>
              <a:t>실험</a:t>
            </a:r>
            <a:r>
              <a:rPr lang="ko-KR" altLang="en-US" sz="2800" b="0" dirty="0">
                <a:solidFill>
                  <a:schemeClr val="tx2"/>
                </a:solidFill>
              </a:rPr>
              <a:t>을 수행해</a:t>
            </a:r>
            <a:r>
              <a:rPr lang="en-US" sz="2800" b="0" dirty="0">
                <a:solidFill>
                  <a:schemeClr val="tx2"/>
                </a:solidFill>
              </a:rPr>
              <a:t> 지면 모델 자체의 </a:t>
            </a:r>
            <a:r>
              <a:rPr lang="en-US" sz="2800" b="0" dirty="0" err="1">
                <a:solidFill>
                  <a:schemeClr val="tx2"/>
                </a:solidFill>
              </a:rPr>
              <a:t>식생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en-US" sz="2800" b="0" dirty="0" err="1">
                <a:solidFill>
                  <a:schemeClr val="tx2"/>
                </a:solidFill>
              </a:rPr>
              <a:t>편</a:t>
            </a:r>
            <a:r>
              <a:rPr lang="ko-KR" altLang="en-US" sz="2800" b="0" dirty="0">
                <a:solidFill>
                  <a:schemeClr val="tx2"/>
                </a:solidFill>
              </a:rPr>
              <a:t>차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ko-KR" altLang="en-US" sz="2800" b="0" dirty="0">
                <a:solidFill>
                  <a:schemeClr val="tx2"/>
                </a:solidFill>
              </a:rPr>
              <a:t>진단</a:t>
            </a:r>
            <a:endParaRPr lang="en-US" altLang="ko-KR" sz="2800" b="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2800" b="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목표: 1982–2010년 LM4+ 엽면적지수(LAI)를 위성 관측(GIMMS LAI4g)과 비교하여 편차의 위치·시기·원인(종 분포 포함)</a:t>
            </a:r>
            <a:r>
              <a:rPr lang="en-US" sz="2800" b="1" dirty="0" err="1">
                <a:solidFill>
                  <a:schemeClr val="tx2"/>
                </a:solidFill>
              </a:rPr>
              <a:t>을</a:t>
            </a:r>
            <a:r>
              <a:rPr lang="en-US" sz="2800" b="1" dirty="0">
                <a:solidFill>
                  <a:schemeClr val="tx2"/>
                </a:solidFill>
              </a:rPr>
              <a:t> </a:t>
            </a:r>
            <a:r>
              <a:rPr lang="en-US" sz="2800" b="1" dirty="0" err="1">
                <a:solidFill>
                  <a:schemeClr val="tx2"/>
                </a:solidFill>
              </a:rPr>
              <a:t>진단</a:t>
            </a:r>
            <a:endParaRPr lang="en-US" sz="2800" b="1" dirty="0">
              <a:solidFill>
                <a:schemeClr val="tx2"/>
              </a:solidFill>
            </a:endParaRPr>
          </a:p>
        </p:txBody>
      </p:sp>
      <p:sp>
        <p:nvSpPr>
          <p:cNvPr id="12" name="Header: DATA &amp; METHODS"/>
          <p:cNvSpPr/>
          <p:nvPr/>
        </p:nvSpPr>
        <p:spPr>
          <a:xfrm>
            <a:off x="914400" y="17922240"/>
            <a:ext cx="14919840" cy="11430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Header text: DATA &amp;amp; METHODS"/>
          <p:cNvSpPr txBox="1"/>
          <p:nvPr/>
        </p:nvSpPr>
        <p:spPr>
          <a:xfrm>
            <a:off x="914400" y="17922240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bg1"/>
                </a:solidFill>
              </a:rPr>
              <a:t>자료 및 방법</a:t>
            </a:r>
            <a:endParaRPr lang="en-US" sz="4800" dirty="0"/>
          </a:p>
        </p:txBody>
      </p:sp>
      <p:graphicFrame>
        <p:nvGraphicFramePr>
          <p:cNvPr id="14" name="Data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85075"/>
              </p:ext>
            </p:extLst>
          </p:nvPr>
        </p:nvGraphicFramePr>
        <p:xfrm>
          <a:off x="914400" y="19293840"/>
          <a:ext cx="14530262" cy="4343400"/>
        </p:xfrm>
        <a:graphic>
          <a:graphicData uri="http://schemas.openxmlformats.org/drawingml/2006/table">
            <a:tbl>
              <a:tblPr/>
              <a:tblGrid>
                <a:gridCol w="45703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63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35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b="1" dirty="0">
                          <a:solidFill>
                            <a:schemeClr val="bg1"/>
                          </a:solidFill>
                        </a:rPr>
                        <a:t>자료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b="1" dirty="0">
                          <a:solidFill>
                            <a:schemeClr val="bg1"/>
                          </a:solidFill>
                        </a:rPr>
                        <a:t>설정 / 변수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b="1" dirty="0">
                          <a:solidFill>
                            <a:schemeClr val="bg1"/>
                          </a:solidFill>
                        </a:rPr>
                        <a:t>기간 / 해상도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LM4+ 오프라인 (KIOST-ESM2 지면)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PPA cohort, 6개 종, 종 분포 고정, 질소 순환 off, CO₂ 고정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1979–2023, C96 (≈1°) → 1°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WFDE5 강제력 (Cucchi et al., 2020)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ERA5를 CRU/GPCC로 편향 보정: 기온, 습도, 바람, 단파, 장파, 강수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0.5°, 1시간 → C96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초기장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KIOST-ESM2 약 400년 결합 piControl + WFDE5 1981–2010 1회 spin-up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1979-01-01 시작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GIMMS LAI4g (Cao et al., 2023)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AVHRR LAI, MODIS로 통합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1982–2010, 15일 1/12° → 월 1°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350338"/>
                  </a:ext>
                </a:extLst>
              </a:tr>
            </a:tbl>
          </a:graphicData>
        </a:graphic>
      </p:graphicFrame>
      <p:sp>
        <p:nvSpPr>
          <p:cNvPr id="15" name="Methods body"/>
          <p:cNvSpPr txBox="1"/>
          <p:nvPr/>
        </p:nvSpPr>
        <p:spPr>
          <a:xfrm>
            <a:off x="914400" y="27959304"/>
            <a:ext cx="14904720" cy="237744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Fig. 1. Offline spin-up after the KIOST-ESM2 initial state (WFDE5 1981–2010 twice; non-ice land, annual mean): (a) LAI, (b) GPP, (c) wood carbon. Shading: cycle 2 = analysis run.</a:t>
            </a:r>
            <a:endParaRPr lang="en-US" sz="3000" dirty="0"/>
          </a:p>
          <a:p>
            <a:pPr marL="0" indent="0">
              <a:buNone/>
            </a:pPr>
            <a:r>
              <a:rPr lang="en-US" sz="2200" b="0" dirty="0">
                <a:solidFill>
                  <a:schemeClr val="tx2"/>
                </a:solidFill>
              </a:rPr>
              <a:t>두 번째 주기 변화: LAI −0.6 %, GPP +0.4 % → 평형, 느린 목재 탄소만 +7.6 % 계속 증가. 평가: 1982–2010 월 기후값을 1° 공통 격자에서 비교 (MJJAS 평균, 위도·월별 편차, 종 분포).</a:t>
            </a:r>
          </a:p>
        </p:txBody>
      </p:sp>
      <p:sp>
        <p:nvSpPr>
          <p:cNvPr id="16" name="Header: RESULTS 1: OBSERVED RELATIONSHIP"/>
          <p:cNvSpPr/>
          <p:nvPr/>
        </p:nvSpPr>
        <p:spPr>
          <a:xfrm>
            <a:off x="914400" y="30519624"/>
            <a:ext cx="14919840" cy="11430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Header text: RESULTS 1: OBSERVED RELATIONSHIP"/>
          <p:cNvSpPr txBox="1"/>
          <p:nvPr/>
        </p:nvSpPr>
        <p:spPr>
          <a:xfrm>
            <a:off x="914400" y="30519624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bg1"/>
                </a:solidFill>
              </a:rPr>
              <a:t>결과 1: 전 지구 LAI 분포</a:t>
            </a:r>
            <a:endParaRPr lang="en-US" sz="4800" dirty="0"/>
          </a:p>
        </p:txBody>
      </p:sp>
      <p:sp>
        <p:nvSpPr>
          <p:cNvPr id="20" name="Caption 1"/>
          <p:cNvSpPr txBox="1"/>
          <p:nvPr/>
        </p:nvSpPr>
        <p:spPr>
          <a:xfrm>
            <a:off x="914400" y="42498264"/>
            <a:ext cx="14904720" cy="1188720"/>
          </a:xfrm>
          <a:prstGeom prst="rect">
            <a:avLst/>
          </a:prstGeom>
          <a:noFill/>
          <a:ln/>
        </p:spPr>
        <p:txBody>
          <a:bodyPr wrap="square" lIns="635" tIns="1905" rIns="1905" bIns="635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Fig. 2. Growing-season (MJJAS) LAI, 1982–2010: (a) GIMMS LAI4g, (b) LM4+, (c) LM4+ − GIMMS. Side panels: zonal means.</a:t>
            </a:r>
            <a:endParaRPr lang="en-US" sz="2600" dirty="0"/>
          </a:p>
        </p:txBody>
      </p:sp>
      <p:sp>
        <p:nvSpPr>
          <p:cNvPr id="21" name="Results 1 body"/>
          <p:cNvSpPr txBox="1"/>
          <p:nvPr/>
        </p:nvSpPr>
        <p:spPr>
          <a:xfrm>
            <a:off x="914400" y="43778424"/>
            <a:ext cx="14904720" cy="6513576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600" b="1" dirty="0">
                <a:solidFill>
                  <a:schemeClr val="tx1"/>
                </a:solidFill>
              </a:rPr>
              <a:t>공간 분포는 재현되나 거의 전 지역에서 과대: 전 지구 MJJAS 평균 2.77 vs 1.97 (+41 %).</a:t>
            </a:r>
            <a:endParaRPr lang="en-US" sz="3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600" b="1" dirty="0">
                <a:solidFill>
                  <a:schemeClr val="tx1"/>
                </a:solidFill>
              </a:rPr>
              <a:t>남아메리카 남동부(AR6 SES)에서 가장 뚜렷: 1.41 → 5.17 (+268 %). 열대 남미·아프리카·동남아도 +30–49 %.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600" b="0" dirty="0">
                <a:solidFill>
                  <a:schemeClr val="tx1"/>
                </a:solidFill>
              </a:rPr>
              <a:t>한대(50–70°N)는 여름 정점 +15 %뿐, 편차의 87 %가 비생장기(9–4월)에서 발생 → 크기보다 계절 위상 문제.</a:t>
            </a:r>
          </a:p>
        </p:txBody>
      </p:sp>
      <p:sp>
        <p:nvSpPr>
          <p:cNvPr id="22" name="Header: RESULTS 2: MECHANISM"/>
          <p:cNvSpPr/>
          <p:nvPr/>
        </p:nvSpPr>
        <p:spPr>
          <a:xfrm>
            <a:off x="16565760" y="10332720"/>
            <a:ext cx="14919840" cy="11430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Header text: RESULTS 2: MECHANISM"/>
          <p:cNvSpPr txBox="1"/>
          <p:nvPr/>
        </p:nvSpPr>
        <p:spPr>
          <a:xfrm>
            <a:off x="16565760" y="10332720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bg1"/>
                </a:solidFill>
              </a:rPr>
              <a:t>결과 2: 편차는 언제, 어디서?</a:t>
            </a:r>
            <a:endParaRPr lang="en-US" sz="4800" dirty="0"/>
          </a:p>
        </p:txBody>
      </p:sp>
      <p:sp>
        <p:nvSpPr>
          <p:cNvPr id="26" name="Caption 2"/>
          <p:cNvSpPr txBox="1"/>
          <p:nvPr/>
        </p:nvSpPr>
        <p:spPr>
          <a:xfrm>
            <a:off x="16550640" y="18600070"/>
            <a:ext cx="14904720" cy="1188720"/>
          </a:xfrm>
          <a:prstGeom prst="rect">
            <a:avLst/>
          </a:prstGeom>
          <a:noFill/>
          <a:ln/>
        </p:spPr>
        <p:txBody>
          <a:bodyPr wrap="square" lIns="635" tIns="1905" rIns="1905" bIns="635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Fig. 3. Latitude–month zonal means, 1982–2010: (a) GIMMS LAI, (b) LM4+ − GIMMS. Cells with GIMMS annual-mean LAI &lt; 0.25 (deserts, polar barrens) are excluded.</a:t>
            </a:r>
            <a:endParaRPr lang="en-US" sz="2600" dirty="0"/>
          </a:p>
        </p:txBody>
      </p:sp>
      <p:sp>
        <p:nvSpPr>
          <p:cNvPr id="27" name="Results 2 body"/>
          <p:cNvSpPr txBox="1"/>
          <p:nvPr/>
        </p:nvSpPr>
        <p:spPr>
          <a:xfrm>
            <a:off x="16550640" y="19880230"/>
            <a:ext cx="14904720" cy="393192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600" b="0" dirty="0">
                <a:solidFill>
                  <a:schemeClr val="tx1"/>
                </a:solidFill>
              </a:rPr>
              <a:t>열대(20°S–20°N): 연중 +1.2 (+42 %), 계절과 무관한 크기 </a:t>
            </a:r>
            <a:r>
              <a:rPr lang="en-US" sz="2600" b="0" dirty="0" err="1">
                <a:solidFill>
                  <a:schemeClr val="tx1"/>
                </a:solidFill>
              </a:rPr>
              <a:t>편차</a:t>
            </a:r>
            <a:r>
              <a:rPr lang="en-US" sz="2600" b="0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3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600" b="1" dirty="0">
                <a:solidFill>
                  <a:schemeClr val="tx1"/>
                </a:solidFill>
              </a:rPr>
              <a:t>남반구 중위도(20–60°S): 연중 +1.5 (+112 %). 관측 LAI가 낮은 남미 남동부(1.4)에서 모델은 숲 수준(5.2).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2600" b="1" dirty="0">
              <a:solidFill>
                <a:schemeClr val="tx1"/>
              </a:solidFill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600" b="0" dirty="0">
                <a:solidFill>
                  <a:schemeClr val="tx1"/>
                </a:solidFill>
              </a:rPr>
              <a:t>한대(50–70°N): 여름 +0.30이지만 가을(SON) +1.12 → 낙엽 지연. (Weng et al., 2015).</a:t>
            </a:r>
          </a:p>
        </p:txBody>
      </p:sp>
      <p:sp>
        <p:nvSpPr>
          <p:cNvPr id="28" name="Header: RESULTS 3: MODEL EXPERIMENT"/>
          <p:cNvSpPr/>
          <p:nvPr/>
        </p:nvSpPr>
        <p:spPr>
          <a:xfrm>
            <a:off x="16565760" y="23995030"/>
            <a:ext cx="14919840" cy="11430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Header text: RESULTS 3: MODEL EXPERIMENT"/>
          <p:cNvSpPr txBox="1"/>
          <p:nvPr/>
        </p:nvSpPr>
        <p:spPr>
          <a:xfrm>
            <a:off x="16565760" y="23995030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bg1"/>
                </a:solidFill>
              </a:rPr>
              <a:t>결과 3: 관측 기반 식생 지도 vs 모델 종 분포</a:t>
            </a:r>
            <a:endParaRPr lang="en-US" sz="4800" dirty="0"/>
          </a:p>
        </p:txBody>
      </p:sp>
      <p:sp>
        <p:nvSpPr>
          <p:cNvPr id="32" name="Results 3 body"/>
          <p:cNvSpPr txBox="1"/>
          <p:nvPr/>
        </p:nvSpPr>
        <p:spPr>
          <a:xfrm>
            <a:off x="16550640" y="35867421"/>
            <a:ext cx="14904720" cy="420624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열대(30°S–30°N): C4 풀 관측 45 % vs 모델 8 %, C3 풀 17 % vs 48 % → 사바나의 C4 풀이 C3 풀·열대 상록수로 </a:t>
            </a:r>
            <a:r>
              <a:rPr lang="en-US" sz="2600" b="1" dirty="0" err="1">
                <a:solidFill>
                  <a:schemeClr val="tx2"/>
                </a:solidFill>
              </a:rPr>
              <a:t>대체</a:t>
            </a:r>
            <a:r>
              <a:rPr lang="en-US" sz="2600" b="1" dirty="0">
                <a:solidFill>
                  <a:schemeClr val="tx2"/>
                </a:solidFill>
              </a:rPr>
              <a:t>.</a:t>
            </a:r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50°N 이북: 낙엽송 7.5 % vs 0 %, 낙엽 활엽수 4.8 % vs 16.7 %. 낙엽송은 결합 spin-up 경쟁에서 북반구에서 사라짐 (MODIS 원자료에서도 동시베리아 낙엽 침엽수 </a:t>
            </a:r>
            <a:r>
              <a:rPr lang="en-US" sz="2600" b="1" dirty="0" err="1">
                <a:solidFill>
                  <a:schemeClr val="tx2"/>
                </a:solidFill>
              </a:rPr>
              <a:t>확인</a:t>
            </a:r>
            <a:r>
              <a:rPr lang="en-US" sz="2600" b="1" dirty="0">
                <a:solidFill>
                  <a:schemeClr val="tx2"/>
                </a:solidFill>
              </a:rPr>
              <a:t>).</a:t>
            </a:r>
          </a:p>
          <a:p>
            <a:pPr marL="0" indent="0">
              <a:buNone/>
            </a:pPr>
            <a:endParaRPr lang="en-US" sz="26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600" b="0" dirty="0">
                <a:solidFill>
                  <a:schemeClr val="tx2"/>
                </a:solidFill>
              </a:rPr>
              <a:t>종 분포가 고정된 설정에서는 이 편차가 그대로 유지 → 관측 지도로 다시 심은 초기장을 시험 중.</a:t>
            </a:r>
          </a:p>
        </p:txBody>
      </p:sp>
      <p:sp>
        <p:nvSpPr>
          <p:cNvPr id="33" name="Caption 3"/>
          <p:cNvSpPr txBox="1"/>
          <p:nvPr/>
        </p:nvSpPr>
        <p:spPr>
          <a:xfrm>
            <a:off x="16550640" y="34587262"/>
            <a:ext cx="14904720" cy="1188720"/>
          </a:xfrm>
          <a:prstGeom prst="rect">
            <a:avLst/>
          </a:prstGeom>
          <a:noFill/>
          <a:ln/>
        </p:spPr>
        <p:txBody>
          <a:bodyPr wrap="square" lIns="635" tIns="1905" rIns="1905" bIns="635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Fig. 4. Dominant LM4+ species per 1° cell: (a) observation-based (MODIS-derived CLM5 PFT map, Lawrence et al., 2019), (b) LM4+ initial state from the KIOST-ESM2 spin-up (July leaf area).</a:t>
            </a:r>
            <a:endParaRPr lang="en-US" sz="2600" dirty="0"/>
          </a:p>
        </p:txBody>
      </p:sp>
      <p:sp>
        <p:nvSpPr>
          <p:cNvPr id="34" name="Header: SUMMARY &amp; CONCLUSIONS"/>
          <p:cNvSpPr/>
          <p:nvPr/>
        </p:nvSpPr>
        <p:spPr>
          <a:xfrm>
            <a:off x="16565760" y="40256541"/>
            <a:ext cx="14919840" cy="11430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Header text: SUMMARY &amp;amp; CONCLUSIONS"/>
          <p:cNvSpPr txBox="1"/>
          <p:nvPr/>
        </p:nvSpPr>
        <p:spPr>
          <a:xfrm>
            <a:off x="16565760" y="40256541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bg1"/>
                </a:solidFill>
              </a:rPr>
              <a:t>요약 및 향후 계획</a:t>
            </a:r>
            <a:endParaRPr lang="en-US" sz="4800" dirty="0"/>
          </a:p>
        </p:txBody>
      </p:sp>
      <p:sp>
        <p:nvSpPr>
          <p:cNvPr id="36" name="Conclusions body"/>
          <p:cNvSpPr txBox="1"/>
          <p:nvPr/>
        </p:nvSpPr>
        <p:spPr>
          <a:xfrm>
            <a:off x="16550639" y="41628141"/>
            <a:ext cx="15331461" cy="457200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marL="457200" indent="-457200">
              <a:buFont typeface="Wingdings" pitchFamily="2" charset="2"/>
              <a:buChar char="ü"/>
            </a:pPr>
            <a:r>
              <a:rPr lang="en-US" sz="2400" b="1" dirty="0">
                <a:solidFill>
                  <a:schemeClr val="tx2"/>
                </a:solidFill>
              </a:rPr>
              <a:t>LM4+는 전 지구 LAI 분포를 재현하나 MJJAS +41 % 과대, 특히 남미 남동부(+268 %)와 남반구 중위도 </a:t>
            </a:r>
            <a:r>
              <a:rPr lang="en-US" sz="2400" b="1" dirty="0" err="1">
                <a:solidFill>
                  <a:schemeClr val="tx2"/>
                </a:solidFill>
              </a:rPr>
              <a:t>초지</a:t>
            </a:r>
            <a:r>
              <a:rPr lang="en-US" sz="2400" b="1" dirty="0">
                <a:solidFill>
                  <a:schemeClr val="tx2"/>
                </a:solidFill>
              </a:rPr>
              <a:t>.</a:t>
            </a:r>
          </a:p>
          <a:p>
            <a:pPr marL="457200" indent="-457200">
              <a:buFont typeface="Wingdings" pitchFamily="2" charset="2"/>
              <a:buChar char="ü"/>
            </a:pPr>
            <a:endParaRPr lang="en-US" sz="3000" dirty="0"/>
          </a:p>
          <a:p>
            <a:pPr marL="457200" indent="-457200">
              <a:buFont typeface="Wingdings" pitchFamily="2" charset="2"/>
              <a:buChar char="ü"/>
            </a:pPr>
            <a:r>
              <a:rPr lang="en-US" sz="2400" b="1" dirty="0">
                <a:solidFill>
                  <a:schemeClr val="tx2"/>
                </a:solidFill>
              </a:rPr>
              <a:t>편차는 열대·남반구의 연중 크기 </a:t>
            </a:r>
            <a:r>
              <a:rPr lang="en-US" sz="2400" b="1" dirty="0" err="1">
                <a:solidFill>
                  <a:schemeClr val="tx2"/>
                </a:solidFill>
              </a:rPr>
              <a:t>과대와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ko-KR" altLang="en-US" sz="2400" b="1" dirty="0">
                <a:solidFill>
                  <a:schemeClr val="tx2"/>
                </a:solidFill>
              </a:rPr>
              <a:t>고위도</a:t>
            </a:r>
            <a:r>
              <a:rPr lang="en-US" sz="2400" b="1" dirty="0" err="1">
                <a:solidFill>
                  <a:schemeClr val="tx2"/>
                </a:solidFill>
              </a:rPr>
              <a:t>의</a:t>
            </a:r>
            <a:r>
              <a:rPr lang="en-US" sz="2400" b="1" dirty="0">
                <a:solidFill>
                  <a:schemeClr val="tx2"/>
                </a:solidFill>
              </a:rPr>
              <a:t> End of </a:t>
            </a:r>
            <a:r>
              <a:rPr lang="en-US" sz="2400" b="1" dirty="0" err="1">
                <a:solidFill>
                  <a:schemeClr val="tx2"/>
                </a:solidFill>
              </a:rPr>
              <a:t>seasona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b="1" dirty="0" err="1">
                <a:solidFill>
                  <a:schemeClr val="tx2"/>
                </a:solidFill>
              </a:rPr>
              <a:t>지연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b="1" dirty="0" err="1">
                <a:solidFill>
                  <a:schemeClr val="tx2"/>
                </a:solidFill>
              </a:rPr>
              <a:t>구분</a:t>
            </a:r>
            <a:r>
              <a:rPr lang="en-US" altLang="ko-KR" sz="2400" b="1" dirty="0">
                <a:solidFill>
                  <a:schemeClr val="tx2"/>
                </a:solidFill>
              </a:rPr>
              <a:t>.</a:t>
            </a:r>
            <a:endParaRPr lang="en-US" sz="2400" b="1" dirty="0">
              <a:solidFill>
                <a:schemeClr val="tx2"/>
              </a:solidFill>
            </a:endParaRPr>
          </a:p>
          <a:p>
            <a:pPr marL="457200" indent="-457200">
              <a:buFont typeface="Wingdings" pitchFamily="2" charset="2"/>
              <a:buChar char="ü"/>
            </a:pPr>
            <a:endParaRPr lang="en-US" sz="2400" b="1" dirty="0">
              <a:solidFill>
                <a:schemeClr val="tx2"/>
              </a:solidFill>
            </a:endParaRPr>
          </a:p>
          <a:p>
            <a:pPr marL="457200" indent="-457200">
              <a:buFont typeface="Wingdings" pitchFamily="2" charset="2"/>
              <a:buChar char="ü"/>
            </a:pPr>
            <a:r>
              <a:rPr lang="en-US" sz="2400" b="1" dirty="0">
                <a:solidFill>
                  <a:schemeClr val="tx2"/>
                </a:solidFill>
              </a:rPr>
              <a:t>모델 종 분포는 관측과 달리 열대 C4 풀이 거의 없고, </a:t>
            </a:r>
            <a:r>
              <a:rPr lang="ko-KR" altLang="en-US" sz="2400" b="1" dirty="0">
                <a:solidFill>
                  <a:schemeClr val="tx2"/>
                </a:solidFill>
              </a:rPr>
              <a:t>고위도의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b="1" dirty="0" err="1">
                <a:solidFill>
                  <a:schemeClr val="tx2"/>
                </a:solidFill>
              </a:rPr>
              <a:t>낙엽송</a:t>
            </a:r>
            <a:r>
              <a:rPr lang="ko-KR" altLang="en-US" sz="2400" b="1" dirty="0">
                <a:solidFill>
                  <a:schemeClr val="tx2"/>
                </a:solidFill>
              </a:rPr>
              <a:t>이 사라지고</a:t>
            </a:r>
            <a:r>
              <a:rPr lang="en-US" altLang="ko-KR" sz="2400" b="1" dirty="0">
                <a:solidFill>
                  <a:schemeClr val="tx2"/>
                </a:solidFill>
              </a:rPr>
              <a:t>,</a:t>
            </a:r>
            <a:r>
              <a:rPr lang="en-US" sz="2400" b="1" dirty="0">
                <a:solidFill>
                  <a:schemeClr val="tx2"/>
                </a:solidFill>
              </a:rPr>
              <a:t> 낙엽 </a:t>
            </a:r>
            <a:r>
              <a:rPr lang="en-US" sz="2400" b="1" dirty="0" err="1">
                <a:solidFill>
                  <a:schemeClr val="tx2"/>
                </a:solidFill>
              </a:rPr>
              <a:t>활엽수가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b="1" dirty="0" err="1">
                <a:solidFill>
                  <a:schemeClr val="tx2"/>
                </a:solidFill>
              </a:rPr>
              <a:t>과</a:t>
            </a:r>
            <a:r>
              <a:rPr lang="ko-KR" altLang="en-US" sz="2400" b="1" dirty="0">
                <a:solidFill>
                  <a:schemeClr val="tx2"/>
                </a:solidFill>
              </a:rPr>
              <a:t>대</a:t>
            </a:r>
            <a:r>
              <a:rPr lang="en-US" altLang="ko-KR" sz="2400" b="1" dirty="0">
                <a:solidFill>
                  <a:schemeClr val="tx2"/>
                </a:solidFill>
              </a:rPr>
              <a:t>.</a:t>
            </a:r>
            <a:endParaRPr lang="en-US" sz="2400" b="1" dirty="0">
              <a:solidFill>
                <a:schemeClr val="tx2"/>
              </a:solidFill>
            </a:endParaRPr>
          </a:p>
          <a:p>
            <a:pPr marL="457200" indent="-457200">
              <a:buFont typeface="Wingdings" pitchFamily="2" charset="2"/>
              <a:buChar char="ü"/>
            </a:pPr>
            <a:endParaRPr lang="en-US" sz="2400" b="1" dirty="0">
              <a:solidFill>
                <a:schemeClr val="tx2"/>
              </a:solidFill>
            </a:endParaRPr>
          </a:p>
          <a:p>
            <a:pPr marL="457200" indent="-457200">
              <a:buFont typeface="Wingdings" pitchFamily="2" charset="2"/>
              <a:buChar char="ü"/>
            </a:pPr>
            <a:r>
              <a:rPr lang="en-US" sz="2400" b="0" dirty="0">
                <a:solidFill>
                  <a:schemeClr val="tx2"/>
                </a:solidFill>
              </a:rPr>
              <a:t>향후: 낙엽 규칙(낮 길이 조건) 개선, 관측 지도 기반 재파종, 시간 변화 CO₂, KIOST-ESM2 결합 실험에서의 영향 평가.</a:t>
            </a:r>
          </a:p>
        </p:txBody>
      </p:sp>
      <p:sp>
        <p:nvSpPr>
          <p:cNvPr id="37" name="Header: REFERENCES &amp; ACKNOWLEDGEMENTS"/>
          <p:cNvSpPr/>
          <p:nvPr/>
        </p:nvSpPr>
        <p:spPr>
          <a:xfrm>
            <a:off x="16565760" y="46383021"/>
            <a:ext cx="14919840" cy="11430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Header text: REFERENCES &amp;amp; ACKNOWLEDGEMENTS"/>
          <p:cNvSpPr txBox="1"/>
          <p:nvPr/>
        </p:nvSpPr>
        <p:spPr>
          <a:xfrm>
            <a:off x="16565760" y="46383021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bg1"/>
                </a:solidFill>
              </a:rPr>
              <a:t>참고문헌 및 사사</a:t>
            </a:r>
            <a:endParaRPr lang="en-US" sz="4800" dirty="0"/>
          </a:p>
        </p:txBody>
      </p:sp>
      <p:sp>
        <p:nvSpPr>
          <p:cNvPr id="39" name="References body"/>
          <p:cNvSpPr txBox="1"/>
          <p:nvPr/>
        </p:nvSpPr>
        <p:spPr>
          <a:xfrm>
            <a:off x="16550640" y="47663181"/>
            <a:ext cx="14904720" cy="2628818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0" dirty="0">
                <a:solidFill>
                  <a:schemeClr val="tx1"/>
                </a:solidFill>
              </a:rPr>
              <a:t>Cao, S., et al. (2023). ESSD, 15, 4877. • Cucchi, M., et al. (2020). ESSD, 12, 2097. • Shevliakova, E., et al. (2024). JAMES, 16. • Weng, E., et al. (2015). Biogeosciences, 12, 2655. • Iturbide, M., et al. (2020). ESSD, 12, 2959. • Lawrence, D. M., et al. (2019). JAMES, 11, 4245. • Lawrence, P. J. &amp; Chase, T. N. (2007). JGR, 112, G01023.</a:t>
            </a:r>
            <a:endParaRPr lang="en-US" sz="2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이 연구는 기후에너지환경부의 재원으로 한국환경산업기술원의 “신기후체제 대응 환경기술개발사업”의 지원(RS-2022-KE002160) 및 해양수산부의 재원으로 해양수산과학기술진흥원의 지원(RS-2026-25543619)을 받아 수행되었습니다.</a:t>
            </a: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5C1CEE95-19E5-1EDC-3176-199FADB27631}"/>
              </a:ext>
            </a:extLst>
          </p:cNvPr>
          <p:cNvGrpSpPr/>
          <p:nvPr/>
        </p:nvGrpSpPr>
        <p:grpSpPr>
          <a:xfrm>
            <a:off x="27279621" y="6894195"/>
            <a:ext cx="2286000" cy="2286000"/>
            <a:chOff x="13319284" y="24871680"/>
            <a:chExt cx="2286000" cy="2286000"/>
          </a:xfrm>
        </p:grpSpPr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3D665758-97EA-4BC6-0908-52F87E2DDBB1}"/>
                </a:ext>
              </a:extLst>
            </p:cNvPr>
            <p:cNvSpPr/>
            <p:nvPr/>
          </p:nvSpPr>
          <p:spPr>
            <a:xfrm>
              <a:off x="13349764" y="24902160"/>
              <a:ext cx="2225040" cy="22250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pic>
          <p:nvPicPr>
            <p:cNvPr id="43" name="그림 42">
              <a:extLst>
                <a:ext uri="{FF2B5EF4-FFF2-40B4-BE49-F238E27FC236}">
                  <a16:creationId xmlns:a16="http://schemas.microsoft.com/office/drawing/2014/main" id="{E164C06D-9B40-5C6B-A141-4F816B29B8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319284" y="24871680"/>
              <a:ext cx="2286000" cy="2286000"/>
            </a:xfrm>
            <a:prstGeom prst="rect">
              <a:avLst/>
            </a:prstGeom>
          </p:spPr>
        </p:pic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D80E1233-C924-43CA-B258-882A027BB9E2}"/>
              </a:ext>
            </a:extLst>
          </p:cNvPr>
          <p:cNvGrpSpPr/>
          <p:nvPr/>
        </p:nvGrpSpPr>
        <p:grpSpPr>
          <a:xfrm>
            <a:off x="29596101" y="6920865"/>
            <a:ext cx="2290024" cy="2286000"/>
            <a:chOff x="15052976" y="8351520"/>
            <a:chExt cx="2290024" cy="2286000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89E872D7-5DB6-7818-ECF0-CD5B5F1E21AF}"/>
                </a:ext>
              </a:extLst>
            </p:cNvPr>
            <p:cNvSpPr/>
            <p:nvPr/>
          </p:nvSpPr>
          <p:spPr>
            <a:xfrm>
              <a:off x="15057000" y="8351520"/>
              <a:ext cx="2286000" cy="2286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EE20498D-3DF0-3D46-9A79-A03F3E3F0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052976" y="8351520"/>
              <a:ext cx="2286000" cy="2286000"/>
            </a:xfrm>
            <a:prstGeom prst="rect">
              <a:avLst/>
            </a:prstGeom>
          </p:spPr>
        </p:pic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D610C024-C308-65EB-021F-AB3BC93FC5D1}"/>
              </a:ext>
            </a:extLst>
          </p:cNvPr>
          <p:cNvSpPr txBox="1"/>
          <p:nvPr/>
        </p:nvSpPr>
        <p:spPr>
          <a:xfrm>
            <a:off x="386101" y="390882"/>
            <a:ext cx="26924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2026 한국기상학회 가을학술대회</a:t>
            </a:r>
            <a:endParaRPr lang="ko-KR" altLang="en-US" sz="1050" dirty="0">
              <a:solidFill>
                <a:schemeClr val="bg1"/>
              </a:solidFill>
            </a:endParaRPr>
          </a:p>
        </p:txBody>
      </p:sp>
      <p:pic>
        <p:nvPicPr>
          <p:cNvPr id="54" name="Picture fig0_spinup_lai_gpp_wood_kms.png" descr="fig0_spinup_lai_gpp_wood_km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23774400"/>
            <a:ext cx="14447520" cy="4093464"/>
          </a:xfrm>
          <a:prstGeom prst="rect">
            <a:avLst/>
          </a:prstGeom>
        </p:spPr>
      </p:pic>
      <p:pic>
        <p:nvPicPr>
          <p:cNvPr id="55" name="Picture fig1_lai_mean_bias.png" descr="fig1_lai_mean_bia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8960" y="31891224"/>
            <a:ext cx="10515600" cy="10515600"/>
          </a:xfrm>
          <a:prstGeom prst="rect">
            <a:avLst/>
          </a:prstGeom>
        </p:spPr>
      </p:pic>
      <p:pic>
        <p:nvPicPr>
          <p:cNvPr id="56" name="Picture fig_kms_zonal_month_bias.png" descr="fig_kms_zonal_month_bia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70680" y="11704320"/>
            <a:ext cx="14264640" cy="6804310"/>
          </a:xfrm>
          <a:prstGeom prst="rect">
            <a:avLst/>
          </a:prstGeom>
        </p:spPr>
      </p:pic>
      <p:pic>
        <p:nvPicPr>
          <p:cNvPr id="57" name="Picture fig_kms_species_model_vs_obs.png" descr="fig_kms_species_model_vs_ob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87800" y="25366630"/>
            <a:ext cx="14630400" cy="91291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NU Poster Green">
  <a:themeElements>
    <a:clrScheme name="CNU Poster Green">
      <a:dk1>
        <a:srgbClr val="1A1A1A"/>
      </a:dk1>
      <a:lt1>
        <a:srgbClr val="FFFFFF"/>
      </a:lt1>
      <a:dk2>
        <a:srgbClr val="007A33"/>
      </a:dk2>
      <a:lt2>
        <a:srgbClr val="E6F2EB"/>
      </a:lt2>
      <a:accent1>
        <a:srgbClr val="007A33"/>
      </a:accent1>
      <a:accent2>
        <a:srgbClr val="33955C"/>
      </a:accent2>
      <a:accent3>
        <a:srgbClr val="66AF85"/>
      </a:accent3>
      <a:accent4>
        <a:srgbClr val="F2A900"/>
      </a:accent4>
      <a:accent5>
        <a:srgbClr val="6B7A71"/>
      </a:accent5>
      <a:accent6>
        <a:srgbClr val="CCE4D6"/>
      </a:accent6>
      <a:hlink>
        <a:srgbClr val="33955C"/>
      </a:hlink>
      <a:folHlink>
        <a:srgbClr val="6B7A71"/>
      </a:folHlink>
    </a:clrScheme>
    <a:fontScheme name="CNU Poster Gree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1059</Words>
  <Application>Microsoft Macintosh PowerPoint</Application>
  <PresentationFormat>사용자 지정</PresentationFormat>
  <Paragraphs>63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Wingdings</vt:lpstr>
      <vt:lpstr>CNU Poster Green</vt:lpstr>
      <vt:lpstr>LM4+ 지면 모델의 전 지구 엽면적지수 모의 특성 진단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Poster template 90x140 cm</dc:title>
  <dc:subject>PptxGenJS Presentation</dc:subject>
  <dc:creator>Youngdae Koh</dc:creator>
  <cp:lastModifiedBy>고영대</cp:lastModifiedBy>
  <cp:revision>4</cp:revision>
  <dcterms:created xsi:type="dcterms:W3CDTF">2026-10-07T05:07:41Z</dcterms:created>
  <dcterms:modified xsi:type="dcterms:W3CDTF">2026-10-08T05:36:54Z</dcterms:modified>
</cp:coreProperties>
</file>