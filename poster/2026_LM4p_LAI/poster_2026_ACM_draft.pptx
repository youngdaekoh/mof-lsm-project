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50399950"/>
  <p:notesSz cx="50399950" cy="323992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1543B746-12AF-7D97-7BF0-212E8C54F7C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38" d="100"/>
          <a:sy n="38" d="100"/>
        </p:scale>
        <p:origin x="35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22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template 90 x 140 cm (portrait). Font sizes: title 72 pt, authors 40, affiliations 30, section headers 48, body 30, captions 26, references 24. Figures: replace the dashed boxes with 300-dpi images. Logo circles: replace with university / lab logos. Print: export as PDF (File &gt; Export) at actual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32400000" cy="95097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321040" y="914400"/>
            <a:ext cx="1575792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Poster title (2 lines max)</a:t>
            </a:r>
            <a:endParaRPr lang="en-US" sz="7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937760"/>
            <a:ext cx="3057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 dirty="0">
                <a:solidFill>
                  <a:schemeClr val="bg1"/>
                </a:solidFill>
              </a:rPr>
              <a:t>Authors</a:t>
            </a: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309360"/>
            <a:ext cx="305712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dirty="0">
                <a:solidFill>
                  <a:schemeClr val="accent6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Affiliations / contact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/>
          <p:cNvSpPr>
            <a:spLocks noGrp="1"/>
          </p:cNvSpPr>
          <p:nvPr>
            <p:ph type="title" idx="101" hasCustomPrompt="1"/>
          </p:nvPr>
        </p:nvSpPr>
        <p:spPr>
          <a:xfrm>
            <a:off x="3976666" y="1059180"/>
            <a:ext cx="244459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/>
              <a:t>Evaluation of global leaf area index simulated by LM4+, the land component of KIOST-ESM2</a:t>
            </a:r>
            <a:endParaRPr lang="en-US" sz="7200" dirty="0"/>
          </a:p>
        </p:txBody>
      </p:sp>
      <p:sp>
        <p:nvSpPr>
          <p:cNvPr id="7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671060"/>
            <a:ext cx="3057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u="sng" dirty="0">
                <a:solidFill>
                  <a:schemeClr val="bg1"/>
                </a:solidFill>
              </a:rPr>
              <a:t>Youngdae Koh</a:t>
            </a:r>
            <a:r>
              <a:rPr lang="en-US" sz="4000" baseline="30000" dirty="0">
                <a:solidFill>
                  <a:schemeClr val="bg1"/>
                </a:solidFill>
              </a:rPr>
              <a:t>¹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Sanghyuk</a:t>
            </a:r>
            <a:r>
              <a:rPr lang="en-US" altLang="ko-KR" dirty="0"/>
              <a:t> Park</a:t>
            </a:r>
            <a:r>
              <a:rPr lang="en-US" altLang="ko-KR" baseline="30000" dirty="0"/>
              <a:t>², </a:t>
            </a:r>
            <a:r>
              <a:rPr lang="en-US" sz="4000" dirty="0">
                <a:solidFill>
                  <a:schemeClr val="bg1"/>
                </a:solidFill>
              </a:rPr>
              <a:t>Jee-Hoon Jeong</a:t>
            </a:r>
            <a:r>
              <a:rPr lang="en-US" sz="4000" baseline="30000" dirty="0">
                <a:solidFill>
                  <a:schemeClr val="bg1"/>
                </a:solidFill>
              </a:rPr>
              <a:t>²</a:t>
            </a:r>
            <a:endParaRPr lang="en-US" sz="4000" dirty="0"/>
          </a:p>
        </p:txBody>
      </p:sp>
      <p:sp>
        <p:nvSpPr>
          <p:cNvPr id="8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042660"/>
            <a:ext cx="3057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¹Department of Oceanography, Chonnam National University, Gwangju, Republic of Korea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²Department of Environment and Energy, Sejong University, Seoul, Republic of Korea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chemeClr val="accent6"/>
                </a:solidFill>
              </a:rPr>
              <a:t>Contact: youngdaekoh@gmail.com</a:t>
            </a:r>
            <a:endParaRPr lang="en-US" sz="3000" dirty="0"/>
          </a:p>
        </p:txBody>
      </p:sp>
      <p:sp>
        <p:nvSpPr>
          <p:cNvPr id="9" name="Header: INTRODUCTION"/>
          <p:cNvSpPr/>
          <p:nvPr/>
        </p:nvSpPr>
        <p:spPr>
          <a:xfrm>
            <a:off x="914400" y="10332720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Header text: INTRODUCTION"/>
          <p:cNvSpPr txBox="1"/>
          <p:nvPr/>
        </p:nvSpPr>
        <p:spPr>
          <a:xfrm>
            <a:off x="914400" y="1035939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INTRODUCTION</a:t>
            </a:r>
            <a:endParaRPr lang="en-US" sz="4800" dirty="0"/>
          </a:p>
        </p:txBody>
      </p:sp>
      <p:sp>
        <p:nvSpPr>
          <p:cNvPr id="11" name="Introduction body"/>
          <p:cNvSpPr txBox="1"/>
          <p:nvPr/>
        </p:nvSpPr>
        <p:spPr>
          <a:xfrm>
            <a:off x="914400" y="11704320"/>
            <a:ext cx="14919840" cy="69494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Background: KIOST is developing KIOST-ESM2 for CMIP7 with GFDL's LM4+ (LM4 family) as its land component. LM4+ grows vegetation as size-structured cohorts (PPA), so leaf area, biomass and canopy structure evolve with climate.</a:t>
            </a:r>
            <a:endParaRPr lang="en-US" sz="3000" dirty="0"/>
          </a:p>
          <a:p>
            <a:pPr marL="0" indent="0">
              <a:buNone/>
            </a:pPr>
            <a:r>
              <a:rPr lang="en-US" sz="3000" b="0" dirty="0">
                <a:solidFill>
                  <a:schemeClr val="tx2"/>
                </a:solidFill>
              </a:rPr>
              <a:t>Vegetation controls the land–atmosphere exchange of energy, water and carbon; a biased leaf area index (LAI) therefore feeds back on the coupled climate. Offline evaluation under observed forcing isolates the land model's own errors.</a:t>
            </a:r>
          </a:p>
          <a:p/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Key question: Does offline LM4+ reproduce the magnitude and the phenology of global LAI, and what causes the mismatch?</a:t>
            </a:r>
          </a:p>
          <a:p/>
          <a:p>
            <a:pPr marL="0" indent="0">
              <a:buNone/>
            </a:pPr>
            <a:r>
              <a:rPr lang="en-US" sz="3000" b="0" dirty="0">
                <a:solidFill>
                  <a:schemeClr val="tx2"/>
                </a:solidFill>
              </a:rPr>
              <a:t>Objective 1: Benchmark 1982–2010 LAI against GIMMS LAI4g (pattern, magnitude, seasonal cycle).</a:t>
            </a:r>
          </a:p>
          <a:p/>
          <a:p>
            <a:pPr marL="0" indent="0">
              <a:buNone/>
            </a:pPr>
            <a:r>
              <a:rPr lang="en-US" sz="3000" b="0" dirty="0">
                <a:solidFill>
                  <a:schemeClr val="tx2"/>
                </a:solidFill>
              </a:rPr>
              <a:t>Objective 2: Trace the autumn leaf-off delay to the phenology rule and test a day-length cue in pilot runs.</a:t>
            </a:r>
          </a:p>
        </p:txBody>
      </p:sp>
      <p:sp>
        <p:nvSpPr>
          <p:cNvPr id="12" name="Header: DATA &amp; METHODS"/>
          <p:cNvSpPr/>
          <p:nvPr/>
        </p:nvSpPr>
        <p:spPr>
          <a:xfrm>
            <a:off x="914400" y="19110960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Header text: DATA &amp;amp; METHODS"/>
          <p:cNvSpPr txBox="1"/>
          <p:nvPr/>
        </p:nvSpPr>
        <p:spPr>
          <a:xfrm>
            <a:off x="914400" y="1911096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DATA &amp; METHODS</a:t>
            </a:r>
            <a:endParaRPr lang="en-US" sz="4800" dirty="0"/>
          </a:p>
        </p:txBody>
      </p:sp>
      <p:graphicFrame>
        <p:nvGraphicFramePr>
          <p:cNvPr id="14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0482560"/>
          <a:ext cx="14919840" cy="4526280"/>
        </p:xfrm>
        <a:graphic>
          <a:graphicData uri="http://schemas.openxmlformats.org/drawingml/2006/table">
            <a:tbl>
              <a:tblPr/>
              <a:tblGrid>
                <a:gridCol w="4475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03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3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Dataset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Setup / variables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b="1" dirty="0">
                          <a:solidFill>
                            <a:schemeClr val="bg1"/>
                          </a:solidFill>
                        </a:rPr>
                        <a:t>Period / resolution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LM4+ offline (KIOST-ESM2)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PPA cohorts, 6 species, fixed species map, N cycle off, CO₂ fixed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1979–2023, C96 (≈1°) →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WFDE5 forcing (Cucchi et al. 2020)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ERA5 bias-corrected with CRU/GPCC; T, q, wind, SW, LW, precip.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1979–2023, 0.5° hourly → C96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Initial land state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KIOST-ESM2 ≈400-yr coupled piControl + 1 cycle WFDE5 1981–2010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start 1979-01-01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GIMMS LAI4g (Cao et al. 2023)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AVHRR LAI, consolidated with MODIS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200" dirty="0">
                          <a:solidFill>
                            <a:schemeClr val="tx1"/>
                          </a:solidFill>
                        </a:rPr>
                        <a:t>1982–2010, 15-day 1/12° → monthly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Methods body"/>
          <p:cNvSpPr txBox="1"/>
          <p:nvPr/>
        </p:nvSpPr>
        <p:spPr>
          <a:xfrm>
            <a:off x="914400" y="25511760"/>
            <a:ext cx="14919840" cy="32918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Evaluation: 1982–2010 monthly climatology on a common 1° grid; MJJAS mean and bias; seasonal cycles in six IPCC AR6 regions. SOS/EOS = dates at which the interpolated monthly cycle crosses 50 % of its amplitude.</a:t>
            </a:r>
            <a:endParaRPr lang="en-US" sz="3000" dirty="0"/>
          </a:p>
          <a:p>
            <a:pPr marL="0" indent="0">
              <a:buNone/>
            </a:pPr>
            <a:r>
              <a:rPr lang="en-US" sz="2800" b="0" dirty="0">
                <a:solidFill>
                  <a:schemeClr val="tx2"/>
                </a:solidFill>
              </a:rPr>
              <a:t>Pilot runs (year 2010 from the 1 Jan 2010 CTRL state): TC10 raises the leaf-off temperature threshold 5 → 10 °C; DL14+TC10 adds a day-length (&lt; 14 h) leaf-off condition (code patch; larch and C3 grass).</a:t>
            </a:r>
          </a:p>
        </p:txBody>
      </p:sp>
      <p:sp>
        <p:nvSpPr>
          <p:cNvPr id="16" name="Header: RESULTS 1: OBSERVED RELATIONSHIP"/>
          <p:cNvSpPr/>
          <p:nvPr/>
        </p:nvSpPr>
        <p:spPr>
          <a:xfrm>
            <a:off x="914400" y="29077920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Header text: RESULTS 1: OBSERVED RELATIONSHIP"/>
          <p:cNvSpPr txBox="1"/>
          <p:nvPr/>
        </p:nvSpPr>
        <p:spPr>
          <a:xfrm>
            <a:off x="914400" y="290779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RESULTS 1: GROWING-SEASON LAI</a:t>
            </a:r>
            <a:endParaRPr lang="en-US" sz="4800" dirty="0"/>
          </a:p>
        </p:txBody>
      </p:sp>
      <p:sp>
        <p:nvSpPr>
          <p:cNvPr id="20" name="Caption 1"/>
          <p:cNvSpPr txBox="1"/>
          <p:nvPr/>
        </p:nvSpPr>
        <p:spPr>
          <a:xfrm>
            <a:off x="914400" y="43434000"/>
            <a:ext cx="14919840" cy="128016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Figure 1. Growing-season (MJJAS) LAI, 1982–2010: (a) GIMMS LAI4g, (b) LM4+, (c) LM4+ − GIMMS. Side panels: zonal means. Polygons: the AR6 regions used in Figs. 2–3.</a:t>
            </a:r>
            <a:endParaRPr lang="en-US" sz="2600" dirty="0"/>
          </a:p>
        </p:txBody>
      </p:sp>
      <p:sp>
        <p:nvSpPr>
          <p:cNvPr id="21" name="Results 1 body"/>
          <p:cNvSpPr txBox="1"/>
          <p:nvPr/>
        </p:nvSpPr>
        <p:spPr>
          <a:xfrm>
            <a:off x="914400" y="44805600"/>
            <a:ext cx="14919840" cy="48463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000" dirty="0" b="0">
                <a:solidFill>
                  <a:schemeClr val="tx1"/>
                </a:solidFill>
              </a:rPr>
              <a:t>The large-scale pattern is reproduced, but LAI is too high almost everywhere: global MJJAS mean 2.77 vs 1.97 (+41 %); annual +54 %.</a:t>
            </a: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000" dirty="0" b="0">
                <a:solidFill>
                  <a:schemeClr val="tx1"/>
                </a:solidFill>
              </a:rPr>
              <a:t>Largest excess over tropical and subtropical South America and Africa.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000" dirty="0" b="1">
                <a:solidFill>
                  <a:schemeClr val="tx1"/>
                </a:solidFill>
              </a:rPr>
              <a:t>Boreal forest (50–70°N): the summer peak is only +15 % too high, yet the annual mean is +56 % too high — 87 % of the bias comes from the off-season (Sep–Apr). The extratropical excess is a timing problem.</a:t>
            </a:r>
          </a:p>
        </p:txBody>
      </p:sp>
      <p:sp>
        <p:nvSpPr>
          <p:cNvPr id="22" name="Header: RESULTS 2: MECHANISM"/>
          <p:cNvSpPr/>
          <p:nvPr/>
        </p:nvSpPr>
        <p:spPr>
          <a:xfrm>
            <a:off x="16565760" y="10332720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Header text: RESULTS 2: MECHANISM"/>
          <p:cNvSpPr txBox="1"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RESULTS 2: SEASONAL TIMING AND ITS CAUSE</a:t>
            </a:r>
            <a:endParaRPr lang="en-US" sz="4800" dirty="0"/>
          </a:p>
        </p:txBody>
      </p:sp>
      <p:sp>
        <p:nvSpPr>
          <p:cNvPr id="26" name="Caption 2"/>
          <p:cNvSpPr txBox="1"/>
          <p:nvPr/>
        </p:nvSpPr>
        <p:spPr>
          <a:xfrm>
            <a:off x="16565760" y="18000406"/>
            <a:ext cx="14919840" cy="128016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Figure 2. Climatological LAI seasonal cycle, 1982–2010, GIMMS vs LM4+ in six AR6 regions; markers: SOS/EOS at 50 % of the amplitude.</a:t>
            </a:r>
            <a:endParaRPr lang="en-US" sz="2600" dirty="0"/>
          </a:p>
        </p:txBody>
      </p:sp>
      <p:sp>
        <p:nvSpPr>
          <p:cNvPr id="27" name="Results 2 body"/>
          <p:cNvSpPr txBox="1"/>
          <p:nvPr/>
        </p:nvSpPr>
        <p:spPr>
          <a:xfrm>
            <a:off x="16565760" y="19372006"/>
            <a:ext cx="14919840" cy="42062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000" dirty="0" b="1">
                <a:solidFill>
                  <a:schemeClr val="tx1"/>
                </a:solidFill>
              </a:rPr>
              <a:t>Leaf-off (EOS) is 28–70 days too late in every region (NWN +33, ESB +38, RFE +28, ENA +42, WCE +49, EAS +70 d); boreal leaf-on is also late (+13–24 d).</a:t>
            </a: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000" dirty="0" b="0">
                <a:solidFill>
                  <a:schemeClr val="tx1"/>
                </a:solidFill>
              </a:rPr>
              <a:t>Cause: leaves are dropped only when the 20-day smoothed canopy temperature falls below 5 °C (10 °C for broadleaf trees). Daily T &lt; 5 °C is reached ≈20 d after the observed EOS and the smoothing adds ≈17 d: ESB observed 3 Sep → model 11 Oct.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000" dirty="0" b="0">
                <a:solidFill>
                  <a:schemeClr val="tx1"/>
                </a:solidFill>
              </a:rPr>
              <a:t>The observed EOS instead clusters at a day length of 11.4–13.3 h regardless of temperature: a day-length cue is missing.</a:t>
            </a:r>
          </a:p>
        </p:txBody>
      </p:sp>
      <p:sp>
        <p:nvSpPr>
          <p:cNvPr id="28" name="Header: RESULTS 3: MODEL EXPERIMENT"/>
          <p:cNvSpPr/>
          <p:nvPr/>
        </p:nvSpPr>
        <p:spPr>
          <a:xfrm>
            <a:off x="16565760" y="23761126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Header text: RESULTS 3: MODEL EXPERIMENT"/>
          <p:cNvSpPr txBox="1"/>
          <p:nvPr/>
        </p:nvSpPr>
        <p:spPr>
          <a:xfrm>
            <a:off x="16565760" y="23761126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RESULTS 3: DAY-LENGTH LEAF-OFF PILOT RUNS</a:t>
            </a:r>
            <a:endParaRPr lang="en-US" sz="4800" dirty="0"/>
          </a:p>
        </p:txBody>
      </p:sp>
      <p:sp>
        <p:nvSpPr>
          <p:cNvPr id="32" name="Results 3 body"/>
          <p:cNvSpPr txBox="1"/>
          <p:nvPr/>
        </p:nvSpPr>
        <p:spPr>
          <a:xfrm>
            <a:off x="16550640" y="32754692"/>
            <a:ext cx="14904720" cy="457200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3000" b="0" dirty="0">
                <a:solidFill>
                  <a:schemeClr val="tx2"/>
                </a:solidFill>
              </a:rPr>
              <a:t>Temperature threshold alone (TC10): the autumn drop moves little and spring leaf-on is delayed as a side effect.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chemeClr val="tx2"/>
                </a:solidFill>
              </a:rPr>
              <a:t>DL14+TC10 removes 20–50 % of the Sep–Oct excess in boreal regions (NWN 38 %, ESB 20 %, RFE 50 %); the 50–70°N EOS bias falls from +33 to +16 d with spring unchanged.</a:t>
            </a:r>
          </a:p>
          <a:p>
            <a:pPr marL="0" indent="0">
              <a:buNone/>
            </a:pPr>
            <a:r>
              <a:rPr lang="en-US" sz="3000" b="0" dirty="0">
                <a:solidFill>
                  <a:schemeClr val="tx2"/>
                </a:solidFill>
              </a:rPr>
              <a:t>Temperate regions are unchanged: the rule was applied only to larch and C3 grass; broadleaf trees need a ≈11.5 h cue.</a:t>
            </a:r>
          </a:p>
          <a:p>
            <a:pPr marL="0" indent="0">
              <a:buNone/>
            </a:pPr>
            <a:r>
              <a:rPr lang="en-US" sz="3000" b="0" dirty="0">
                <a:solidFill>
                  <a:schemeClr val="tx2"/>
                </a:solidFill>
              </a:rPr>
              <a:t>Even the small TC10 shift changes Sep–Oct fluxes at 50–70°N: ET −4.5 %, GPP −11 %, runoff +4.7 %.</a:t>
            </a:r>
          </a:p>
        </p:txBody>
      </p:sp>
      <p:sp>
        <p:nvSpPr>
          <p:cNvPr id="33" name="Caption 3"/>
          <p:cNvSpPr txBox="1"/>
          <p:nvPr/>
        </p:nvSpPr>
        <p:spPr>
          <a:xfrm>
            <a:off x="16565760" y="31383092"/>
            <a:ext cx="14919840" cy="128016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Figure 3. Normalized 2010 LAI cycle, (LAI − min)/(max − min), in six regions: GIMMS, CTRL, TC10 and DL14+TC10.</a:t>
            </a:r>
            <a:endParaRPr lang="en-US" sz="2600" dirty="0"/>
          </a:p>
        </p:txBody>
      </p:sp>
      <p:sp>
        <p:nvSpPr>
          <p:cNvPr id="34" name="Header: SUMMARY &amp; CONCLUSIONS"/>
          <p:cNvSpPr/>
          <p:nvPr/>
        </p:nvSpPr>
        <p:spPr>
          <a:xfrm>
            <a:off x="16565760" y="37509572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Header text: SUMMARY &amp;amp; CONCLUSIONS"/>
          <p:cNvSpPr txBox="1"/>
          <p:nvPr/>
        </p:nvSpPr>
        <p:spPr>
          <a:xfrm>
            <a:off x="16565760" y="37509572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SUMMARY &amp; CONCLUSIONS</a:t>
            </a:r>
            <a:endParaRPr lang="en-US" sz="4800" dirty="0"/>
          </a:p>
        </p:txBody>
      </p:sp>
      <p:sp>
        <p:nvSpPr>
          <p:cNvPr id="36" name="Conclusions body"/>
          <p:cNvSpPr txBox="1"/>
          <p:nvPr/>
        </p:nvSpPr>
        <p:spPr>
          <a:xfrm>
            <a:off x="16565760" y="38881172"/>
            <a:ext cx="14919840" cy="51206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457200" indent="-457200">
              <a:buFont typeface="Wingdings" pitchFamily="2" charset="2"/>
              <a:buChar char="ü"/>
            </a:pPr>
            <a:r>
              <a:rPr lang="en-US" sz="3000" b="1" dirty="0">
                <a:solidFill>
                  <a:schemeClr val="tx2"/>
                </a:solidFill>
              </a:rPr>
              <a:t>Offline LM4+ reproduces the global LAI pattern but overestimates it (+41 % in MJJAS); in the extratropics the excess comes mainly from a 1–2 month delay of autumn leaf-off.</a:t>
            </a:r>
            <a:endParaRPr lang="en-US" sz="3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3000" b="1" dirty="0">
                <a:solidFill>
                  <a:schemeClr val="tx2"/>
                </a:solidFill>
              </a:rPr>
              <a:t>The delay follows from a temperature-only phenology rule (5 °C threshold on a 20-day smoothed temperature); observations point to day length as the missing cue.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3000" b="1" dirty="0">
                <a:solidFill>
                  <a:schemeClr val="tx2"/>
                </a:solidFill>
              </a:rPr>
              <a:t>A day-length leaf-off rule removes about half of the boreal EOS bias with no spring side effect; type-specific thresholds (larch 13.5 h, C3 grass 12.5 h, broadleaf 11.5 h) are being tested.</a:t>
            </a:r>
          </a:p>
          <a:p>
            <a:pPr marL="457200" indent="-457200">
              <a:buFont typeface="Wingdings" pitchFamily="2" charset="2"/>
              <a:buChar char="ü"/>
            </a:pPr>
            <a:r>
              <a:rPr lang="en-US" sz="3000" b="0" dirty="0">
                <a:solidFill>
                  <a:schemeClr val="tx2"/>
                </a:solidFill>
              </a:rPr>
              <a:t>Next: replant species from an observed map (larch is nearly absent in the current state), time-varying CO₂ and the C–N version, then coupled KIOST-ESM2 experiments.</a:t>
            </a:r>
          </a:p>
        </p:txBody>
      </p:sp>
      <p:sp>
        <p:nvSpPr>
          <p:cNvPr id="37" name="Header: REFERENCES &amp; ACKNOWLEDGEMENTS"/>
          <p:cNvSpPr/>
          <p:nvPr/>
        </p:nvSpPr>
        <p:spPr>
          <a:xfrm>
            <a:off x="16565760" y="44696756"/>
            <a:ext cx="14919840" cy="114300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Header text: REFERENCES &amp;amp; ACKNOWLEDGEMENTS"/>
          <p:cNvSpPr txBox="1"/>
          <p:nvPr/>
        </p:nvSpPr>
        <p:spPr>
          <a:xfrm>
            <a:off x="16565760" y="44696756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chemeClr val="bg1"/>
                </a:solidFill>
              </a:rPr>
              <a:t>REFERENCES &amp; ACKNOWLEDGEMENTS</a:t>
            </a:r>
            <a:endParaRPr lang="en-US" sz="4800" dirty="0"/>
          </a:p>
        </p:txBody>
      </p:sp>
      <p:sp>
        <p:nvSpPr>
          <p:cNvPr id="39" name="References body"/>
          <p:cNvSpPr txBox="1"/>
          <p:nvPr/>
        </p:nvSpPr>
        <p:spPr>
          <a:xfrm>
            <a:off x="16565760" y="45976916"/>
            <a:ext cx="14919840" cy="3099816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dirty="0" b="0">
                <a:solidFill>
                  <a:schemeClr val="tx1"/>
                </a:solidFill>
              </a:rPr>
              <a:t>Cao, S., et al. (2023). ESSD, 15, 4877. • Cucchi, M., et al. (2020). ESSD, 12, 2097. • Shevliakova, E., et al. (2024). JAMES, 16. • Weng, E., et al. (2015). Biogeosciences, 12, 2655. • Iturbide, M., et al. (2020). ESSD, 12, 2959. • Zohner, C. M., et al. (2023). Science, 381, eadf5098.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dirty="0" b="1">
                <a:solidFill>
                  <a:schemeClr val="tx1"/>
                </a:solidFill>
              </a:rPr>
              <a:t>Acknowledgements: This work was supported by Korea Environment Industry &amp; Technology Institute (KEITI) through “Climate Change R&amp;D Project for New Climate Regime.”, funded by Korea Ministry of Climate, Energy and Environment (MCEE) (RS-2022-KE002160). This research was supported by Korea Institute of Marine Science &amp; Technology Promotion (KIMST) funded by the Ministry of Oceans and Fisheries (RS-2026-25543619).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C1CEE95-19E5-1EDC-3176-199FADB27631}"/>
              </a:ext>
            </a:extLst>
          </p:cNvPr>
          <p:cNvGrpSpPr/>
          <p:nvPr/>
        </p:nvGrpSpPr>
        <p:grpSpPr>
          <a:xfrm>
            <a:off x="27279621" y="6894195"/>
            <a:ext cx="2286000" cy="2286000"/>
            <a:chOff x="13319284" y="24871680"/>
            <a:chExt cx="2286000" cy="2286000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D665758-97EA-4BC6-0908-52F87E2DDBB1}"/>
                </a:ext>
              </a:extLst>
            </p:cNvPr>
            <p:cNvSpPr/>
            <p:nvPr/>
          </p:nvSpPr>
          <p:spPr>
            <a:xfrm>
              <a:off x="13349764" y="24902160"/>
              <a:ext cx="2225040" cy="2225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E164C06D-9B40-5C6B-A141-4F816B29B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9284" y="24871680"/>
              <a:ext cx="2286000" cy="2286000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80E1233-C924-43CA-B258-882A027BB9E2}"/>
              </a:ext>
            </a:extLst>
          </p:cNvPr>
          <p:cNvGrpSpPr/>
          <p:nvPr/>
        </p:nvGrpSpPr>
        <p:grpSpPr>
          <a:xfrm>
            <a:off x="29596101" y="6920865"/>
            <a:ext cx="2290024" cy="2286000"/>
            <a:chOff x="15052976" y="8351520"/>
            <a:chExt cx="2290024" cy="228600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9E872D7-5DB6-7818-ECF0-CD5B5F1E21AF}"/>
                </a:ext>
              </a:extLst>
            </p:cNvPr>
            <p:cNvSpPr/>
            <p:nvPr/>
          </p:nvSpPr>
          <p:spPr>
            <a:xfrm>
              <a:off x="15057000" y="8351520"/>
              <a:ext cx="2286000" cy="228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EE20498D-3DF0-3D46-9A79-A03F3E3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52976" y="8351520"/>
              <a:ext cx="2286000" cy="2286000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610C024-C308-65EB-021F-AB3BC93FC5D1}"/>
              </a:ext>
            </a:extLst>
          </p:cNvPr>
          <p:cNvSpPr txBox="1"/>
          <p:nvPr/>
        </p:nvSpPr>
        <p:spPr>
          <a:xfrm>
            <a:off x="386101" y="390882"/>
            <a:ext cx="2692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ASIAN CONFERENCE on METEOROLOGY 2026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  <p:pic>
        <p:nvPicPr>
          <p:cNvPr id="54" name="Picture fig1_lai_mean_bias.png" descr="fig1_lai_mean_bia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30449519"/>
            <a:ext cx="12801600" cy="12801600"/>
          </a:xfrm>
          <a:prstGeom prst="rect">
            <a:avLst/>
          </a:prstGeom>
        </p:spPr>
      </p:pic>
      <p:pic>
        <p:nvPicPr>
          <p:cNvPr id="55" name="Picture fig2_regional_seasonal_cycle.png" descr="fig2_regional_seasonal_cy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600" y="11704320"/>
            <a:ext cx="13258800" cy="6158926"/>
          </a:xfrm>
          <a:prstGeom prst="rect">
            <a:avLst/>
          </a:prstGeom>
        </p:spPr>
      </p:pic>
      <p:pic>
        <p:nvPicPr>
          <p:cNvPr id="56" name="Picture fig3b_phentest_regions_normalised_dl.png" descr="fig3b_phentest_regions_normalised_d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3600" y="25132726"/>
            <a:ext cx="13258800" cy="61589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NU Poster Green">
  <a:themeElements>
    <a:clrScheme name="CNU Poster Green">
      <a:dk1>
        <a:srgbClr val="1A1A1A"/>
      </a:dk1>
      <a:lt1>
        <a:srgbClr val="FFFFFF"/>
      </a:lt1>
      <a:dk2>
        <a:srgbClr val="007A33"/>
      </a:dk2>
      <a:lt2>
        <a:srgbClr val="E6F2EB"/>
      </a:lt2>
      <a:accent1>
        <a:srgbClr val="007A33"/>
      </a:accent1>
      <a:accent2>
        <a:srgbClr val="33955C"/>
      </a:accent2>
      <a:accent3>
        <a:srgbClr val="66AF85"/>
      </a:accent3>
      <a:accent4>
        <a:srgbClr val="F2A900"/>
      </a:accent4>
      <a:accent5>
        <a:srgbClr val="6B7A71"/>
      </a:accent5>
      <a:accent6>
        <a:srgbClr val="CCE4D6"/>
      </a:accent6>
      <a:hlink>
        <a:srgbClr val="33955C"/>
      </a:hlink>
      <a:folHlink>
        <a:srgbClr val="6B7A71"/>
      </a:folHlink>
    </a:clrScheme>
    <a:fontScheme name="CNU Poster Gre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605</Words>
  <Application>Microsoft Macintosh PowerPoint</Application>
  <PresentationFormat>사용자 지정</PresentationFormat>
  <Paragraphs>59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CNU Poster Green</vt:lpstr>
      <vt:lpstr>Evaluation of global leaf area index simulated by LM4+, the land component of KIOST-ESM2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 90x140 cm</dc:title>
  <dc:subject>PptxGenJS Presentation</dc:subject>
  <dc:creator>Youngdae Koh</dc:creator>
  <cp:lastModifiedBy>고영대</cp:lastModifiedBy>
  <cp:revision>2</cp:revision>
  <dcterms:created xsi:type="dcterms:W3CDTF">2026-10-07T05:07:41Z</dcterms:created>
  <dcterms:modified xsi:type="dcterms:W3CDTF">2026-10-07T05:21:52Z</dcterms:modified>
</cp:coreProperties>
</file>