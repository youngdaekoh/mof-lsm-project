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399288" cy="50399950"/>
  <p:notesSz cx="50399950" cy="323992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ster" id="{1543B746-12AF-7D97-7BF0-212E8C54F7CE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00"/>
    <p:restoredTop sz="94610"/>
  </p:normalViewPr>
  <p:slideViewPr>
    <p:cSldViewPr snapToGrid="0" snapToObjects="1">
      <p:cViewPr>
        <p:scale>
          <a:sx n="43" d="100"/>
          <a:sy n="43" d="100"/>
        </p:scale>
        <p:origin x="306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62215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Poster template 90 x 140 cm (portrait). Font sizes: title 72 pt, authors 40, affiliations 30, section headers 48, body 30, captions 26, references 24. Figures: replace the dashed boxes with 300-dpi images. Logo circles: replace with university / lab logos. Print: export as PDF (File &gt; Export) at actual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0" y="0"/>
            <a:ext cx="32400000" cy="9509760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8321040" y="914400"/>
            <a:ext cx="1575792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7200" b="1" dirty="0">
                <a:solidFill>
                  <a:schemeClr val="bg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7200" b="1" dirty="0">
                <a:solidFill>
                  <a:schemeClr val="bg1"/>
                </a:solidFill>
              </a:rPr>
              <a:t>Poster title (2 lines max)</a:t>
            </a:r>
            <a:endParaRPr lang="en-US" sz="7200" dirty="0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914400" y="4937760"/>
            <a:ext cx="30571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dirty="0">
                <a:solidFill>
                  <a:schemeClr val="bg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4000" dirty="0">
                <a:solidFill>
                  <a:schemeClr val="bg1"/>
                </a:solidFill>
              </a:rPr>
              <a:t>Authors</a:t>
            </a:r>
            <a:endParaRPr lang="en-US" sz="40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914400" y="6309360"/>
            <a:ext cx="305712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3000" dirty="0">
                <a:solidFill>
                  <a:schemeClr val="accent6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3000" dirty="0">
                <a:solidFill>
                  <a:schemeClr val="accent6"/>
                </a:solidFill>
              </a:rPr>
              <a:t>Affiliations / contact</a:t>
            </a: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1"/>
          <p:cNvSpPr>
            <a:spLocks noGrp="1"/>
          </p:cNvSpPr>
          <p:nvPr>
            <p:ph type="title" idx="101" hasCustomPrompt="1"/>
          </p:nvPr>
        </p:nvSpPr>
        <p:spPr>
          <a:xfrm>
            <a:off x="3976666" y="1059180"/>
            <a:ext cx="24445955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dirty="0"/>
              <a:t>Evaluation of global leaf area index simulated by LM4+, the land component of KIOST-ESM2</a:t>
            </a:r>
            <a:endParaRPr lang="en-US" sz="7200" dirty="0"/>
          </a:p>
        </p:txBody>
      </p:sp>
      <p:sp>
        <p:nvSpPr>
          <p:cNvPr id="7" name="Text 1"/>
          <p:cNvSpPr>
            <a:spLocks noGrp="1"/>
          </p:cNvSpPr>
          <p:nvPr>
            <p:ph type="body" idx="102" hasCustomPrompt="1"/>
          </p:nvPr>
        </p:nvSpPr>
        <p:spPr>
          <a:xfrm>
            <a:off x="914400" y="4671060"/>
            <a:ext cx="3057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u="sng" dirty="0">
                <a:solidFill>
                  <a:schemeClr val="bg1"/>
                </a:solidFill>
              </a:rPr>
              <a:t>Youngdae Koh</a:t>
            </a:r>
            <a:r>
              <a:rPr lang="en-US" sz="4000" baseline="30000" dirty="0">
                <a:solidFill>
                  <a:schemeClr val="bg1"/>
                </a:solidFill>
              </a:rPr>
              <a:t>¹</a:t>
            </a:r>
            <a:r>
              <a:rPr lang="en-US" sz="4000" dirty="0">
                <a:solidFill>
                  <a:schemeClr val="bg1"/>
                </a:solidFill>
              </a:rPr>
              <a:t>, </a:t>
            </a:r>
            <a:r>
              <a:rPr lang="en-US" sz="4000" dirty="0" err="1">
                <a:solidFill>
                  <a:schemeClr val="bg1"/>
                </a:solidFill>
              </a:rPr>
              <a:t>Sanghyuk</a:t>
            </a:r>
            <a:r>
              <a:rPr lang="en-US" altLang="ko-KR" dirty="0"/>
              <a:t> Park</a:t>
            </a:r>
            <a:r>
              <a:rPr lang="en-US" altLang="ko-KR" baseline="30000" dirty="0"/>
              <a:t>², </a:t>
            </a:r>
            <a:r>
              <a:rPr lang="en-US" sz="4000" dirty="0">
                <a:solidFill>
                  <a:schemeClr val="bg1"/>
                </a:solidFill>
              </a:rPr>
              <a:t>Jee-Hoon Jeong</a:t>
            </a:r>
            <a:r>
              <a:rPr lang="en-US" sz="4000" baseline="30000" dirty="0">
                <a:solidFill>
                  <a:schemeClr val="bg1"/>
                </a:solidFill>
              </a:rPr>
              <a:t>²</a:t>
            </a:r>
            <a:endParaRPr lang="en-US" sz="4000" dirty="0"/>
          </a:p>
        </p:txBody>
      </p:sp>
      <p:sp>
        <p:nvSpPr>
          <p:cNvPr id="8" name="Text 1"/>
          <p:cNvSpPr>
            <a:spLocks noGrp="1"/>
          </p:cNvSpPr>
          <p:nvPr>
            <p:ph type="body" idx="103" hasCustomPrompt="1"/>
          </p:nvPr>
        </p:nvSpPr>
        <p:spPr>
          <a:xfrm>
            <a:off x="914400" y="6042660"/>
            <a:ext cx="30571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dirty="0">
                <a:solidFill>
                  <a:schemeClr val="accent6"/>
                </a:solidFill>
              </a:rPr>
              <a:t>¹Department of Oceanography, Chonnam National University, Gwangju, Republic of Korea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dirty="0">
                <a:solidFill>
                  <a:schemeClr val="accent6"/>
                </a:solidFill>
              </a:rPr>
              <a:t>²Department of Environment and Energy, Sejong University, Seoul, Republic of Korea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chemeClr val="accent6"/>
                </a:solidFill>
              </a:rPr>
              <a:t>Contact: youngdaekoh@gmail.com</a:t>
            </a:r>
            <a:endParaRPr lang="en-US" sz="3000" dirty="0"/>
          </a:p>
        </p:txBody>
      </p:sp>
      <p:sp>
        <p:nvSpPr>
          <p:cNvPr id="9" name="Header: INTRODUCTION"/>
          <p:cNvSpPr/>
          <p:nvPr/>
        </p:nvSpPr>
        <p:spPr>
          <a:xfrm>
            <a:off x="914400" y="10332720"/>
            <a:ext cx="14919840" cy="11430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Header text: INTRODUCTION"/>
          <p:cNvSpPr txBox="1"/>
          <p:nvPr/>
        </p:nvSpPr>
        <p:spPr>
          <a:xfrm>
            <a:off x="914400" y="10359390"/>
            <a:ext cx="14919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chemeClr val="bg1"/>
                </a:solidFill>
              </a:rPr>
              <a:t>INTRODUCTION</a:t>
            </a:r>
            <a:endParaRPr lang="en-US" sz="4800" dirty="0"/>
          </a:p>
        </p:txBody>
      </p:sp>
      <p:sp>
        <p:nvSpPr>
          <p:cNvPr id="11" name="Introduction body"/>
          <p:cNvSpPr txBox="1"/>
          <p:nvPr/>
        </p:nvSpPr>
        <p:spPr>
          <a:xfrm>
            <a:off x="914400" y="11704320"/>
            <a:ext cx="14919840" cy="6949440"/>
          </a:xfrm>
          <a:prstGeom prst="rect">
            <a:avLst/>
          </a:prstGeom>
          <a:noFill/>
          <a:ln/>
        </p:spPr>
        <p:txBody>
          <a:bodyPr wrap="square" lIns="1270" tIns="1905" rIns="1905" bIns="127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</a:rPr>
              <a:t>Background: KIOST is developing KIOST-ESM2 for CMIP7 with GFDL's LM4+ (LM4 family) as its land component. LM4+ grows vegetation as size-structured cohorts (PPA), so leaf area, biomass and canopy structure evolve with climate.</a:t>
            </a:r>
            <a:endParaRPr lang="en-US" sz="3000" dirty="0"/>
          </a:p>
          <a:p>
            <a:pPr marL="0" indent="0">
              <a:buNone/>
            </a:pPr>
            <a:r>
              <a:rPr lang="en-US" sz="3000" b="0" dirty="0">
                <a:solidFill>
                  <a:schemeClr val="tx2"/>
                </a:solidFill>
              </a:rPr>
              <a:t>Vegetation controls the land–atmosphere exchange of energy, water and carbon; a biased leaf area index (LAI) therefore feeds back on the coupled climate. Offline evaluations show that most land models keep leaves too long in autumn (Murray-Tortarolo et al., 2013); offline runs isolate the land model's own errors.</a:t>
            </a:r>
          </a:p>
          <a:p>
            <a:endParaRPr lang="en-US" sz="30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</a:rPr>
              <a:t>Key question: Does offline LM4+ reproduce the magnitude and the phenology of global LAI, and what causes the mismatch?</a:t>
            </a:r>
          </a:p>
          <a:p>
            <a:endParaRPr lang="en-US" sz="3000" b="1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3000" b="0" dirty="0">
                <a:solidFill>
                  <a:schemeClr val="tx2"/>
                </a:solidFill>
              </a:rPr>
              <a:t>Objective 1: Benchmark 1982–2010 LAI against GIMMS LAI4g (pattern, magnitude, seasonal cycle).</a:t>
            </a:r>
          </a:p>
          <a:p>
            <a:endParaRPr lang="en-US" sz="30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3000" b="0" dirty="0">
                <a:solidFill>
                  <a:schemeClr val="tx2"/>
                </a:solidFill>
              </a:rPr>
              <a:t>Objective 2: Trace the autumn leaf-off delay to the phenology rule and test a day-length cue in pilot runs.</a:t>
            </a:r>
          </a:p>
        </p:txBody>
      </p:sp>
      <p:sp>
        <p:nvSpPr>
          <p:cNvPr id="12" name="Header: DATA &amp; METHODS"/>
          <p:cNvSpPr/>
          <p:nvPr/>
        </p:nvSpPr>
        <p:spPr>
          <a:xfrm>
            <a:off x="914400" y="19110960"/>
            <a:ext cx="14919840" cy="11430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Header text: DATA &amp;amp; METHODS"/>
          <p:cNvSpPr txBox="1"/>
          <p:nvPr/>
        </p:nvSpPr>
        <p:spPr>
          <a:xfrm>
            <a:off x="914400" y="19110960"/>
            <a:ext cx="14919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chemeClr val="bg1"/>
                </a:solidFill>
              </a:rPr>
              <a:t>DATA &amp; METHODS</a:t>
            </a:r>
            <a:endParaRPr lang="en-US" sz="4800" dirty="0"/>
          </a:p>
        </p:txBody>
      </p:sp>
      <p:graphicFrame>
        <p:nvGraphicFramePr>
          <p:cNvPr id="14" name="Data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0482560"/>
          <a:ext cx="14919840" cy="4526280"/>
        </p:xfrm>
        <a:graphic>
          <a:graphicData uri="http://schemas.openxmlformats.org/drawingml/2006/table">
            <a:tbl>
              <a:tblPr/>
              <a:tblGrid>
                <a:gridCol w="4475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03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235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b="1" dirty="0">
                          <a:solidFill>
                            <a:schemeClr val="bg1"/>
                          </a:solidFill>
                        </a:rPr>
                        <a:t>Dataset</a:t>
                      </a:r>
                      <a:endParaRPr lang="en-US" sz="2600" dirty="0"/>
                    </a:p>
                  </a:txBody>
                  <a:tcPr marL="109728" marR="109728" marT="109728" marB="109728" anchor="ctr">
                    <a:lnL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b="1" dirty="0">
                          <a:solidFill>
                            <a:schemeClr val="bg1"/>
                          </a:solidFill>
                        </a:rPr>
                        <a:t>Setup / variables</a:t>
                      </a:r>
                      <a:endParaRPr lang="en-US" sz="2600" dirty="0"/>
                    </a:p>
                  </a:txBody>
                  <a:tcPr marL="109728" marR="109728" marT="109728" marB="109728" anchor="ctr">
                    <a:lnL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b="1" dirty="0">
                          <a:solidFill>
                            <a:schemeClr val="bg1"/>
                          </a:solidFill>
                        </a:rPr>
                        <a:t>Period / resolution</a:t>
                      </a:r>
                      <a:endParaRPr lang="en-US" sz="2600" dirty="0"/>
                    </a:p>
                  </a:txBody>
                  <a:tcPr marL="109728" marR="109728" marT="109728" marB="109728" anchor="ctr">
                    <a:lnL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LM4+ offline (KIOST-ESM2)</a:t>
                      </a:r>
                      <a:endParaRPr lang="en-US" sz="2600" dirty="0"/>
                    </a:p>
                  </a:txBody>
                  <a:tcPr marL="109728" marR="109728" marT="109728" marB="109728" anchor="ctr">
                    <a:lnL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PPA cohorts, 6 species, fixed species map, N cycle off, CO₂ fixed</a:t>
                      </a:r>
                      <a:endParaRPr lang="en-US" sz="2600" dirty="0"/>
                    </a:p>
                  </a:txBody>
                  <a:tcPr marL="109728" marR="109728" marT="109728" marB="109728" anchor="ctr">
                    <a:lnL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1979–2023, C96 (≈1°) → 1°</a:t>
                      </a:r>
                      <a:endParaRPr lang="en-US" sz="2600" dirty="0"/>
                    </a:p>
                  </a:txBody>
                  <a:tcPr marL="109728" marR="109728" marT="109728" marB="109728" anchor="ctr">
                    <a:lnL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WFDE5 forcing (Cucchi et al. 2020)</a:t>
                      </a:r>
                      <a:endParaRPr lang="en-US" sz="2600" dirty="0"/>
                    </a:p>
                  </a:txBody>
                  <a:tcPr marL="109728" marR="109728" marT="109728" marB="109728" anchor="ctr">
                    <a:lnL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ERA5 bias-corrected with CRU/GPCC; T, q, wind, SW, LW, precip.</a:t>
                      </a:r>
                      <a:endParaRPr lang="en-US" sz="2600" dirty="0"/>
                    </a:p>
                  </a:txBody>
                  <a:tcPr marL="109728" marR="109728" marT="109728" marB="109728" anchor="ctr">
                    <a:lnL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1979–2023, 0.5° hourly → C96</a:t>
                      </a:r>
                      <a:endParaRPr lang="en-US" sz="2600" dirty="0"/>
                    </a:p>
                  </a:txBody>
                  <a:tcPr marL="109728" marR="109728" marT="109728" marB="109728" anchor="ctr">
                    <a:lnL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Initial land state</a:t>
                      </a:r>
                      <a:endParaRPr lang="en-US" sz="2600" dirty="0"/>
                    </a:p>
                  </a:txBody>
                  <a:tcPr marL="109728" marR="109728" marT="109728" marB="109728" anchor="ctr">
                    <a:lnL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KIOST-ESM2 ≈400-yr coupled piControl + 1 cycle WFDE5 1981–2010</a:t>
                      </a:r>
                      <a:endParaRPr lang="en-US" sz="2600" dirty="0"/>
                    </a:p>
                  </a:txBody>
                  <a:tcPr marL="109728" marR="109728" marT="109728" marB="109728" anchor="ctr">
                    <a:lnL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start 1979-01-01</a:t>
                      </a:r>
                      <a:endParaRPr lang="en-US" sz="2600" dirty="0"/>
                    </a:p>
                  </a:txBody>
                  <a:tcPr marL="109728" marR="109728" marT="109728" marB="109728" anchor="ctr">
                    <a:lnL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GIMMS LAI4g (Cao et al. 2023)</a:t>
                      </a:r>
                      <a:endParaRPr lang="en-US" sz="2600" dirty="0"/>
                    </a:p>
                  </a:txBody>
                  <a:tcPr marL="109728" marR="109728" marT="109728" marB="109728" anchor="ctr">
                    <a:lnL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AVHRR LAI, consolidated with MODIS</a:t>
                      </a:r>
                      <a:endParaRPr lang="en-US" sz="2600" dirty="0"/>
                    </a:p>
                  </a:txBody>
                  <a:tcPr marL="109728" marR="109728" marT="109728" marB="109728" anchor="ctr">
                    <a:lnL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1982–2010, 15-day 1/12° → monthly 1°</a:t>
                      </a:r>
                      <a:endParaRPr lang="en-US" sz="2600" dirty="0"/>
                    </a:p>
                  </a:txBody>
                  <a:tcPr marL="109728" marR="109728" marT="109728" marB="109728" anchor="ctr">
                    <a:lnL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E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2780710"/>
                  </a:ext>
                </a:extLst>
              </a:tr>
            </a:tbl>
          </a:graphicData>
        </a:graphic>
      </p:graphicFrame>
      <p:sp>
        <p:nvSpPr>
          <p:cNvPr id="15" name="Methods body"/>
          <p:cNvSpPr txBox="1"/>
          <p:nvPr/>
        </p:nvSpPr>
        <p:spPr>
          <a:xfrm>
            <a:off x="914400" y="25511760"/>
            <a:ext cx="14919840" cy="3291840"/>
          </a:xfrm>
          <a:prstGeom prst="rect">
            <a:avLst/>
          </a:prstGeom>
          <a:noFill/>
          <a:ln/>
        </p:spPr>
        <p:txBody>
          <a:bodyPr wrap="square" lIns="1270" tIns="1905" rIns="1905" bIns="127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Evaluation: 1982–2010 monthly climatology on a common 1° grid; MJJAS mean and bias; seasonal cycles in four IPCC AR6 regions. SOS/EOS = dates at which the interpolated monthly cycle crosses 50 % of its amplitude (White et al., 1997).</a:t>
            </a:r>
            <a:endParaRPr lang="en-US" sz="3000" dirty="0"/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Pilot runs (year 2010 from the 1 Jan 2010 CTRL state): TC10 raises the leaf-off temperature threshold 5 → 10 °C; DL14+TC10 adds a day-length (&lt; 14 h) leaf-off condition (code patch; larch and C3 grass).</a:t>
            </a:r>
          </a:p>
        </p:txBody>
      </p:sp>
      <p:sp>
        <p:nvSpPr>
          <p:cNvPr id="16" name="Header: RESULTS 1: OBSERVED RELATIONSHIP"/>
          <p:cNvSpPr/>
          <p:nvPr/>
        </p:nvSpPr>
        <p:spPr>
          <a:xfrm>
            <a:off x="914400" y="29077920"/>
            <a:ext cx="14919840" cy="11430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Header text: RESULTS 1: OBSERVED RELATIONSHIP"/>
          <p:cNvSpPr txBox="1"/>
          <p:nvPr/>
        </p:nvSpPr>
        <p:spPr>
          <a:xfrm>
            <a:off x="914400" y="29077920"/>
            <a:ext cx="14919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chemeClr val="bg1"/>
                </a:solidFill>
              </a:rPr>
              <a:t>RESULTS 1: GROWING-SEASON LAI</a:t>
            </a:r>
            <a:endParaRPr lang="en-US" sz="4800" dirty="0"/>
          </a:p>
        </p:txBody>
      </p:sp>
      <p:sp>
        <p:nvSpPr>
          <p:cNvPr id="20" name="Caption 1"/>
          <p:cNvSpPr txBox="1"/>
          <p:nvPr/>
        </p:nvSpPr>
        <p:spPr>
          <a:xfrm>
            <a:off x="914400" y="43434000"/>
            <a:ext cx="14919840" cy="1280160"/>
          </a:xfrm>
          <a:prstGeom prst="rect">
            <a:avLst/>
          </a:prstGeom>
          <a:noFill/>
          <a:ln/>
        </p:spPr>
        <p:txBody>
          <a:bodyPr wrap="square" lIns="635" tIns="1905" rIns="1905" bIns="635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</a:rPr>
              <a:t>Figure 1. Growing-season (MJJAS) LAI, 1982–2010: (a) GIMMS LAI4g, (b) LM4+, (c) LM4+ − GIMMS. Side panels: zonal means. Polygons: the AR6 regions used in Figs. 2–3.</a:t>
            </a:r>
            <a:endParaRPr lang="en-US" sz="2600" dirty="0"/>
          </a:p>
        </p:txBody>
      </p:sp>
      <p:sp>
        <p:nvSpPr>
          <p:cNvPr id="21" name="Results 1 body"/>
          <p:cNvSpPr txBox="1"/>
          <p:nvPr/>
        </p:nvSpPr>
        <p:spPr>
          <a:xfrm>
            <a:off x="914400" y="44805600"/>
            <a:ext cx="14919840" cy="4846320"/>
          </a:xfrm>
          <a:prstGeom prst="rect">
            <a:avLst/>
          </a:prstGeom>
          <a:noFill/>
          <a:ln/>
        </p:spPr>
        <p:txBody>
          <a:bodyPr wrap="square" lIns="1270" tIns="1905" rIns="1905" bIns="127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3000" b="0" dirty="0">
                <a:solidFill>
                  <a:schemeClr val="tx1"/>
                </a:solidFill>
              </a:rPr>
              <a:t>The large-scale pattern is reproduced, but LAI is too high almost everywhere: global MJJAS mean 2.77 vs 1.97 (+41 %); annual +54 %.</a:t>
            </a:r>
            <a:endParaRPr lang="en-US" sz="3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3000" b="0" dirty="0">
                <a:solidFill>
                  <a:schemeClr val="tx1"/>
                </a:solidFill>
              </a:rPr>
              <a:t>Largest excess over tropical and subtropical South America and Africa.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3000" b="1" dirty="0">
                <a:solidFill>
                  <a:schemeClr val="tx1"/>
                </a:solidFill>
              </a:rPr>
              <a:t>Boreal forest (50–70°N): the summer peak is only +15 % too high, yet the annual mean is +56 % too high — 87 % of the bias comes from the off-season (Sep–Apr). The extratropical excess is a timing problem.</a:t>
            </a:r>
          </a:p>
        </p:txBody>
      </p:sp>
      <p:sp>
        <p:nvSpPr>
          <p:cNvPr id="22" name="Header: RESULTS 2: MECHANISM"/>
          <p:cNvSpPr/>
          <p:nvPr/>
        </p:nvSpPr>
        <p:spPr>
          <a:xfrm>
            <a:off x="16565760" y="10332720"/>
            <a:ext cx="14919840" cy="11430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Header text: RESULTS 2: MECHANISM"/>
          <p:cNvSpPr txBox="1"/>
          <p:nvPr/>
        </p:nvSpPr>
        <p:spPr>
          <a:xfrm>
            <a:off x="16565760" y="10332720"/>
            <a:ext cx="14919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chemeClr val="bg1"/>
                </a:solidFill>
              </a:rPr>
              <a:t>RESULTS 2: PHENOLOGY (OBS. AND MODEL)</a:t>
            </a:r>
            <a:endParaRPr lang="en-US" sz="4800" dirty="0"/>
          </a:p>
        </p:txBody>
      </p:sp>
      <p:sp>
        <p:nvSpPr>
          <p:cNvPr id="26" name="Caption 2"/>
          <p:cNvSpPr txBox="1"/>
          <p:nvPr/>
        </p:nvSpPr>
        <p:spPr>
          <a:xfrm>
            <a:off x="16565760" y="19741896"/>
            <a:ext cx="14919840" cy="1280160"/>
          </a:xfrm>
          <a:prstGeom prst="rect">
            <a:avLst/>
          </a:prstGeom>
          <a:noFill/>
          <a:ln/>
        </p:spPr>
        <p:txBody>
          <a:bodyPr wrap="square" lIns="635" tIns="1905" rIns="1905" bIns="635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</a:rPr>
              <a:t>Figure 2. Climatological LAI seasonal cycle, 1982–2010, GIMMS vs LM4+ in four AR6 regions (shading: ±1 s.d. over 29 years); dotted / dashed lines: SOS / EOS at 50 % of the amplitude.</a:t>
            </a:r>
            <a:endParaRPr lang="en-US" sz="2600" dirty="0"/>
          </a:p>
        </p:txBody>
      </p:sp>
      <p:sp>
        <p:nvSpPr>
          <p:cNvPr id="27" name="Results 2 body"/>
          <p:cNvSpPr txBox="1"/>
          <p:nvPr/>
        </p:nvSpPr>
        <p:spPr>
          <a:xfrm>
            <a:off x="16565760" y="21113496"/>
            <a:ext cx="14919840" cy="4206240"/>
          </a:xfrm>
          <a:prstGeom prst="rect">
            <a:avLst/>
          </a:prstGeom>
          <a:noFill/>
          <a:ln/>
        </p:spPr>
        <p:txBody>
          <a:bodyPr wrap="square" lIns="1270" tIns="1905" rIns="1905" bIns="127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3000" b="1" dirty="0">
                <a:solidFill>
                  <a:schemeClr val="tx1"/>
                </a:solidFill>
              </a:rPr>
              <a:t>Leaf-off (EOS) is 27–38 days too late in every region (NEU +27, RFE +28, NWN +33, ESB +38 d) and in all 29 years; leaf-on is also late (+13–27 d).</a:t>
            </a:r>
            <a:endParaRPr lang="en-US" sz="3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3000" b="0" dirty="0">
                <a:solidFill>
                  <a:schemeClr val="tx1"/>
                </a:solidFill>
              </a:rPr>
              <a:t>Cause: leaves are dropped only when the 20-day smoothed canopy temperature falls below 5 °C (10 °C for broadleaf trees). Daily T &lt; 5 °C is reached ≈20 d after the observed EOS and the smoothing adds ≈17 d: ESB observed 3 Sep → model 11 Oct.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3000" b="0" dirty="0">
                <a:solidFill>
                  <a:schemeClr val="tx1"/>
                </a:solidFill>
              </a:rPr>
              <a:t>The observed EOS falls at a day length of 12.7–13.3 h in NWN, ESB and RFE: a day-length cue is missing in the model.</a:t>
            </a:r>
          </a:p>
        </p:txBody>
      </p:sp>
      <p:sp>
        <p:nvSpPr>
          <p:cNvPr id="28" name="Header: RESULTS 3: MODEL EXPERIMENT"/>
          <p:cNvSpPr/>
          <p:nvPr/>
        </p:nvSpPr>
        <p:spPr>
          <a:xfrm>
            <a:off x="16565760" y="29696386"/>
            <a:ext cx="14919840" cy="11430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Header text: RESULTS 3: MODEL EXPERIMENT"/>
          <p:cNvSpPr txBox="1"/>
          <p:nvPr/>
        </p:nvSpPr>
        <p:spPr>
          <a:xfrm>
            <a:off x="16565760" y="29696386"/>
            <a:ext cx="14919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bg1"/>
                </a:solidFill>
              </a:rPr>
              <a:t>RESULTS 3: MODIFIED PHENOLOGY RULES (PILOT)</a:t>
            </a:r>
            <a:endParaRPr lang="en-US" sz="4800" dirty="0"/>
          </a:p>
        </p:txBody>
      </p:sp>
      <p:sp>
        <p:nvSpPr>
          <p:cNvPr id="32" name="Results 3 body"/>
          <p:cNvSpPr txBox="1"/>
          <p:nvPr/>
        </p:nvSpPr>
        <p:spPr>
          <a:xfrm>
            <a:off x="25146000" y="31067986"/>
            <a:ext cx="6309360" cy="5768558"/>
          </a:xfrm>
          <a:prstGeom prst="rect">
            <a:avLst/>
          </a:prstGeom>
          <a:noFill/>
          <a:ln/>
        </p:spPr>
        <p:txBody>
          <a:bodyPr wrap="square" lIns="1270" tIns="1905" rIns="1905" bIns="1270" rtlCol="0" anchor="t"/>
          <a:lstStyle/>
          <a:p>
            <a:pPr marL="0" indent="0">
              <a:buNone/>
            </a:pPr>
            <a:r>
              <a:rPr lang="en-US" sz="2400" b="0" dirty="0">
                <a:solidFill>
                  <a:schemeClr val="tx2"/>
                </a:solidFill>
              </a:rPr>
              <a:t>TC10 (temperature only): autumn drop moves, but spring leaf-on is delayed.</a:t>
            </a:r>
            <a:endParaRPr lang="en-US" sz="3000" dirty="0"/>
          </a:p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DL14+TC10 removes the Sep–Oct excess by NEU 65 %, RFE 50 %, NWN 38 %, ESB 20 %, with spring unchanged.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50–70°N EOS bias: +33 → +16 d.</a:t>
            </a:r>
          </a:p>
          <a:p>
            <a:pPr marL="0" indent="0">
              <a:buNone/>
            </a:pPr>
            <a:r>
              <a:rPr lang="en-US" sz="2400" b="0" dirty="0">
                <a:solidFill>
                  <a:schemeClr val="tx2"/>
                </a:solidFill>
              </a:rPr>
              <a:t>Sep–Oct fluxes change too (50–70°N, TC10): ET −4.5 %, GPP −11 %.</a:t>
            </a:r>
          </a:p>
        </p:txBody>
      </p:sp>
      <p:sp>
        <p:nvSpPr>
          <p:cNvPr id="33" name="Caption 3"/>
          <p:cNvSpPr txBox="1"/>
          <p:nvPr/>
        </p:nvSpPr>
        <p:spPr>
          <a:xfrm>
            <a:off x="16565760" y="36927984"/>
            <a:ext cx="14919840" cy="1280160"/>
          </a:xfrm>
          <a:prstGeom prst="rect">
            <a:avLst/>
          </a:prstGeom>
          <a:noFill/>
          <a:ln/>
        </p:spPr>
        <p:txBody>
          <a:bodyPr wrap="square" lIns="635" tIns="1905" rIns="1905" bIns="635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</a:rPr>
              <a:t>Figure 3. Normalized 2010 LAI cycle, (LAI − min)/(max − min), in the four regions with the largest gain: GIMMS, CTRL, TC10 and DL14+TC10.</a:t>
            </a:r>
            <a:endParaRPr lang="en-US" sz="2600" dirty="0"/>
          </a:p>
        </p:txBody>
      </p:sp>
      <p:sp>
        <p:nvSpPr>
          <p:cNvPr id="34" name="Header: SUMMARY &amp; CONCLUSIONS"/>
          <p:cNvSpPr/>
          <p:nvPr/>
        </p:nvSpPr>
        <p:spPr>
          <a:xfrm>
            <a:off x="16565760" y="38299584"/>
            <a:ext cx="14919840" cy="11430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Header text: SUMMARY &amp;amp; CONCLUSIONS"/>
          <p:cNvSpPr txBox="1"/>
          <p:nvPr/>
        </p:nvSpPr>
        <p:spPr>
          <a:xfrm>
            <a:off x="16565760" y="38299584"/>
            <a:ext cx="14919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chemeClr val="bg1"/>
                </a:solidFill>
              </a:rPr>
              <a:t>SUMMARY &amp; CONCLUSIONS</a:t>
            </a:r>
            <a:endParaRPr lang="en-US" sz="4800" dirty="0"/>
          </a:p>
        </p:txBody>
      </p:sp>
      <p:sp>
        <p:nvSpPr>
          <p:cNvPr id="36" name="Conclusions body"/>
          <p:cNvSpPr txBox="1"/>
          <p:nvPr/>
        </p:nvSpPr>
        <p:spPr>
          <a:xfrm>
            <a:off x="16565760" y="39671184"/>
            <a:ext cx="14919840" cy="5120640"/>
          </a:xfrm>
          <a:prstGeom prst="rect">
            <a:avLst/>
          </a:prstGeom>
          <a:noFill/>
          <a:ln/>
        </p:spPr>
        <p:txBody>
          <a:bodyPr wrap="square" lIns="1270" tIns="1905" rIns="1905" bIns="1270" rtlCol="0" anchor="t"/>
          <a:lstStyle/>
          <a:p>
            <a:pPr marL="457200" indent="-457200">
              <a:buFont typeface="Wingdings" pitchFamily="2" charset="2"/>
              <a:buChar char="ü"/>
            </a:pPr>
            <a:r>
              <a:rPr lang="en-US" sz="3000" b="1" dirty="0">
                <a:solidFill>
                  <a:schemeClr val="tx2"/>
                </a:solidFill>
              </a:rPr>
              <a:t>Offline LM4+ reproduces the global LAI pattern but overestimates it (+41 % in MJJAS); in the extratropics the excess comes mainly from a 1–2 month delay of autumn leaf-off.</a:t>
            </a:r>
            <a:endParaRPr lang="en-US" sz="3000" dirty="0"/>
          </a:p>
          <a:p>
            <a:pPr marL="457200" indent="-457200">
              <a:buFont typeface="Wingdings" pitchFamily="2" charset="2"/>
              <a:buChar char="ü"/>
            </a:pPr>
            <a:r>
              <a:rPr lang="en-US" sz="3000" b="1" dirty="0">
                <a:solidFill>
                  <a:schemeClr val="tx2"/>
                </a:solidFill>
              </a:rPr>
              <a:t>The delay follows from a temperature-only phenology rule (5 °C threshold on a 20-day smoothed temperature); observations point to day length as the missing cue.</a:t>
            </a:r>
          </a:p>
          <a:p>
            <a:pPr marL="457200" indent="-457200">
              <a:buFont typeface="Wingdings" pitchFamily="2" charset="2"/>
              <a:buChar char="ü"/>
            </a:pPr>
            <a:r>
              <a:rPr lang="en-US" sz="3000" b="1" dirty="0">
                <a:solidFill>
                  <a:schemeClr val="tx2"/>
                </a:solidFill>
              </a:rPr>
              <a:t>A day-length leaf-off rule removes about half of the boreal EOS bias with no spring side effect; further threshold tests are under way.</a:t>
            </a:r>
          </a:p>
          <a:p>
            <a:pPr marL="457200" indent="-457200">
              <a:buFont typeface="Wingdings" pitchFamily="2" charset="2"/>
              <a:buChar char="ü"/>
            </a:pPr>
            <a:r>
              <a:rPr lang="en-US" sz="3000" b="0" dirty="0">
                <a:solidFill>
                  <a:schemeClr val="tx2"/>
                </a:solidFill>
              </a:rPr>
              <a:t>Next: replant species from an observed map (larch is nearly absent in the current state), time-varying CO₂ and the C–N version, then coupled KIOST-ESM2 experiments.</a:t>
            </a:r>
          </a:p>
        </p:txBody>
      </p:sp>
      <p:sp>
        <p:nvSpPr>
          <p:cNvPr id="37" name="Header: REFERENCES &amp; ACKNOWLEDGEMENTS"/>
          <p:cNvSpPr/>
          <p:nvPr/>
        </p:nvSpPr>
        <p:spPr>
          <a:xfrm>
            <a:off x="16565760" y="45486768"/>
            <a:ext cx="14919840" cy="11430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Header text: REFERENCES &amp;amp; ACKNOWLEDGEMENTS"/>
          <p:cNvSpPr txBox="1"/>
          <p:nvPr/>
        </p:nvSpPr>
        <p:spPr>
          <a:xfrm>
            <a:off x="16565760" y="45486768"/>
            <a:ext cx="14919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chemeClr val="bg1"/>
                </a:solidFill>
              </a:rPr>
              <a:t>REFERENCES &amp; ACKNOWLEDGEMENTS</a:t>
            </a:r>
            <a:endParaRPr lang="en-US" sz="4800" dirty="0"/>
          </a:p>
        </p:txBody>
      </p:sp>
      <p:sp>
        <p:nvSpPr>
          <p:cNvPr id="39" name="References body"/>
          <p:cNvSpPr txBox="1"/>
          <p:nvPr/>
        </p:nvSpPr>
        <p:spPr>
          <a:xfrm>
            <a:off x="16565760" y="46766928"/>
            <a:ext cx="14919840" cy="3099816"/>
          </a:xfrm>
          <a:prstGeom prst="rect">
            <a:avLst/>
          </a:prstGeom>
          <a:noFill/>
          <a:ln/>
        </p:spPr>
        <p:txBody>
          <a:bodyPr wrap="square" lIns="1270" tIns="1905" rIns="1905" bIns="127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000" b="0" dirty="0">
                <a:solidFill>
                  <a:schemeClr val="tx1"/>
                </a:solidFill>
              </a:rPr>
              <a:t>Cao, S., et al. (2023). ESSD, 15, 4877. • Cucchi, M., et al. (2020). ESSD, 12, 2097. • Shevliakova, E., et al. (2024). JAMES, 16. • Weng, E., et al. (2015). Biogeosciences, 12, 2655. • Iturbide, M., et al. (2020). ESSD, 12, 2959. • Zohner, C. M., et al. (2023). Science, 381, eadf5098. • White, M. A., et al. (1997). GBC, 11, 217. • Murray-Tortarolo, G., et al. (2013). Remote Sens., 5, 4819.</a:t>
            </a:r>
            <a:endParaRPr lang="en-US" sz="2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Acknowledgements: This work was supported by Korea Environment Industry &amp; Technology Institute (KEITI) through “Climate Change R&amp;D Project for New Climate Regime.”, funded by Korea Ministry of Climate, Energy and Environment (MCEE) (RS-2022-KE002160). This research was supported by Korea Institute of Marine Science &amp; Technology Promotion (KIMST) funded by the Ministry of Oceans and Fisheries (RS-2026-25543619).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5C1CEE95-19E5-1EDC-3176-199FADB27631}"/>
              </a:ext>
            </a:extLst>
          </p:cNvPr>
          <p:cNvGrpSpPr/>
          <p:nvPr/>
        </p:nvGrpSpPr>
        <p:grpSpPr>
          <a:xfrm>
            <a:off x="27279621" y="6894195"/>
            <a:ext cx="2286000" cy="2286000"/>
            <a:chOff x="13319284" y="24871680"/>
            <a:chExt cx="2286000" cy="2286000"/>
          </a:xfrm>
        </p:grpSpPr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3D665758-97EA-4BC6-0908-52F87E2DDBB1}"/>
                </a:ext>
              </a:extLst>
            </p:cNvPr>
            <p:cNvSpPr/>
            <p:nvPr/>
          </p:nvSpPr>
          <p:spPr>
            <a:xfrm>
              <a:off x="13349764" y="24902160"/>
              <a:ext cx="2225040" cy="22250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pic>
          <p:nvPicPr>
            <p:cNvPr id="43" name="그림 42">
              <a:extLst>
                <a:ext uri="{FF2B5EF4-FFF2-40B4-BE49-F238E27FC236}">
                  <a16:creationId xmlns:a16="http://schemas.microsoft.com/office/drawing/2014/main" id="{E164C06D-9B40-5C6B-A141-4F816B29B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319284" y="24871680"/>
              <a:ext cx="2286000" cy="2286000"/>
            </a:xfrm>
            <a:prstGeom prst="rect">
              <a:avLst/>
            </a:prstGeom>
          </p:spPr>
        </p:pic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D80E1233-C924-43CA-B258-882A027BB9E2}"/>
              </a:ext>
            </a:extLst>
          </p:cNvPr>
          <p:cNvGrpSpPr/>
          <p:nvPr/>
        </p:nvGrpSpPr>
        <p:grpSpPr>
          <a:xfrm>
            <a:off x="29596101" y="6920865"/>
            <a:ext cx="2290024" cy="2286000"/>
            <a:chOff x="15052976" y="8351520"/>
            <a:chExt cx="2290024" cy="2286000"/>
          </a:xfrm>
        </p:grpSpPr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89E872D7-5DB6-7818-ECF0-CD5B5F1E21AF}"/>
                </a:ext>
              </a:extLst>
            </p:cNvPr>
            <p:cNvSpPr/>
            <p:nvPr/>
          </p:nvSpPr>
          <p:spPr>
            <a:xfrm>
              <a:off x="15057000" y="8351520"/>
              <a:ext cx="2286000" cy="2286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EE20498D-3DF0-3D46-9A79-A03F3E3F05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052976" y="8351520"/>
              <a:ext cx="2286000" cy="2286000"/>
            </a:xfrm>
            <a:prstGeom prst="rect">
              <a:avLst/>
            </a:prstGeom>
          </p:spPr>
        </p:pic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D610C024-C308-65EB-021F-AB3BC93FC5D1}"/>
              </a:ext>
            </a:extLst>
          </p:cNvPr>
          <p:cNvSpPr txBox="1"/>
          <p:nvPr/>
        </p:nvSpPr>
        <p:spPr>
          <a:xfrm>
            <a:off x="386101" y="390882"/>
            <a:ext cx="26924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ASIAN CONFERENCE on METEOROLOGY 2026</a:t>
            </a:r>
            <a:endParaRPr lang="ko-KR" altLang="en-US" sz="1050" dirty="0">
              <a:solidFill>
                <a:schemeClr val="bg1"/>
              </a:solidFill>
            </a:endParaRPr>
          </a:p>
        </p:txBody>
      </p:sp>
      <p:pic>
        <p:nvPicPr>
          <p:cNvPr id="54" name="Picture fig1_lai_mean_bias.png" descr="fig1_lai_mean_bi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5960" y="30449519"/>
            <a:ext cx="12801600" cy="12801600"/>
          </a:xfrm>
          <a:prstGeom prst="rect">
            <a:avLst/>
          </a:prstGeom>
        </p:spPr>
      </p:pic>
      <p:pic>
        <p:nvPicPr>
          <p:cNvPr id="55" name="Picture fig2_regional_seasonal_cycle.png" descr="fig2_regional_seasonal_cyc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42280" y="11704320"/>
            <a:ext cx="11521440" cy="7900416"/>
          </a:xfrm>
          <a:prstGeom prst="rect">
            <a:avLst/>
          </a:prstGeom>
        </p:spPr>
      </p:pic>
      <p:pic>
        <p:nvPicPr>
          <p:cNvPr id="56" name="Picture phenology rule box" descr="box_phenology_rule.png"/>
          <p:cNvPicPr>
            <a:picLocks noChangeAspect="1"/>
          </p:cNvPicPr>
          <p:nvPr/>
        </p:nvPicPr>
        <p:blipFill>
          <a:blip r:embed="rId7"/>
          <a:srcRect l="1441" t="5005" r="5696" b="4032"/>
          <a:stretch>
            <a:fillRect/>
          </a:stretch>
        </p:blipFill>
        <p:spPr>
          <a:xfrm>
            <a:off x="17655362" y="25111546"/>
            <a:ext cx="12695275" cy="3761880"/>
          </a:xfrm>
          <a:prstGeom prst="rect">
            <a:avLst/>
          </a:prstGeom>
        </p:spPr>
      </p:pic>
      <p:pic>
        <p:nvPicPr>
          <p:cNvPr id="57" name="Picture fig3b_phentest_regions_normalised_NEU_RFE_NWN_ESB_poster.png" descr="fig3b_phentest_regions_normalised_NEU_RFE_NWN_ESB_post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550640" y="31067986"/>
            <a:ext cx="8412480" cy="5768558"/>
          </a:xfrm>
          <a:prstGeom prst="rect">
            <a:avLst/>
          </a:prstGeom>
        </p:spPr>
      </p:pic>
      <p:sp>
        <p:nvSpPr>
          <p:cNvPr id="24" name="타원 23">
            <a:extLst>
              <a:ext uri="{FF2B5EF4-FFF2-40B4-BE49-F238E27FC236}">
                <a16:creationId xmlns:a16="http://schemas.microsoft.com/office/drawing/2014/main" id="{895484FD-49D2-2D07-CD82-0A8FD8968BD0}"/>
              </a:ext>
            </a:extLst>
          </p:cNvPr>
          <p:cNvSpPr/>
          <p:nvPr/>
        </p:nvSpPr>
        <p:spPr>
          <a:xfrm>
            <a:off x="19613880" y="31821120"/>
            <a:ext cx="685800" cy="685800"/>
          </a:xfrm>
          <a:prstGeom prst="ellipse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B959D5F5-884F-19A5-26F9-9CCD15BCAF07}"/>
              </a:ext>
            </a:extLst>
          </p:cNvPr>
          <p:cNvSpPr/>
          <p:nvPr/>
        </p:nvSpPr>
        <p:spPr>
          <a:xfrm>
            <a:off x="18379440" y="32164020"/>
            <a:ext cx="685800" cy="685800"/>
          </a:xfrm>
          <a:prstGeom prst="ellipse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NU Poster Green">
  <a:themeElements>
    <a:clrScheme name="CNU Poster Green">
      <a:dk1>
        <a:srgbClr val="1A1A1A"/>
      </a:dk1>
      <a:lt1>
        <a:srgbClr val="FFFFFF"/>
      </a:lt1>
      <a:dk2>
        <a:srgbClr val="007A33"/>
      </a:dk2>
      <a:lt2>
        <a:srgbClr val="E6F2EB"/>
      </a:lt2>
      <a:accent1>
        <a:srgbClr val="007A33"/>
      </a:accent1>
      <a:accent2>
        <a:srgbClr val="33955C"/>
      </a:accent2>
      <a:accent3>
        <a:srgbClr val="66AF85"/>
      </a:accent3>
      <a:accent4>
        <a:srgbClr val="F2A900"/>
      </a:accent4>
      <a:accent5>
        <a:srgbClr val="6B7A71"/>
      </a:accent5>
      <a:accent6>
        <a:srgbClr val="CCE4D6"/>
      </a:accent6>
      <a:hlink>
        <a:srgbClr val="33955C"/>
      </a:hlink>
      <a:folHlink>
        <a:srgbClr val="6B7A71"/>
      </a:folHlink>
    </a:clrScheme>
    <a:fontScheme name="CNU Poster Gree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1289</Words>
  <Application>Microsoft Macintosh PowerPoint</Application>
  <PresentationFormat>사용자 지정</PresentationFormat>
  <Paragraphs>59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Arial</vt:lpstr>
      <vt:lpstr>Wingdings</vt:lpstr>
      <vt:lpstr>CNU Poster Green</vt:lpstr>
      <vt:lpstr>Evaluation of global leaf area index simulated by LM4+, the land component of KIOST-ESM2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Poster template 90x140 cm</dc:title>
  <dc:subject>PptxGenJS Presentation</dc:subject>
  <dc:creator>Youngdae Koh</dc:creator>
  <cp:lastModifiedBy>고영대</cp:lastModifiedBy>
  <cp:revision>3</cp:revision>
  <dcterms:created xsi:type="dcterms:W3CDTF">2026-10-07T05:07:41Z</dcterms:created>
  <dcterms:modified xsi:type="dcterms:W3CDTF">2026-10-08T05:11:34Z</dcterms:modified>
</cp:coreProperties>
</file>