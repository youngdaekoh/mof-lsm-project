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04"/>
    <p:restoredTop sz="94610"/>
  </p:normalViewPr>
  <p:slideViewPr>
    <p:cSldViewPr snapToGrid="0" snapToObjects="1">
      <p:cViewPr>
        <p:scale>
          <a:sx n="20" d="100"/>
          <a:sy n="20" d="100"/>
        </p:scale>
        <p:origin x="28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ame: REFERENCES &amp; ACKNOWLEDGEMENTS"/>
          <p:cNvSpPr/>
          <p:nvPr/>
        </p:nvSpPr>
        <p:spPr>
          <a:xfrm>
            <a:off x="16565760" y="47635749"/>
            <a:ext cx="14919840" cy="2610531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rame: SUMMARY &amp; CONCLUSIONS"/>
          <p:cNvSpPr/>
          <p:nvPr/>
        </p:nvSpPr>
        <p:spPr>
          <a:xfrm>
            <a:off x="16565760" y="41509268"/>
            <a:ext cx="14919840" cy="464515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Frame: RESULTS 3: MODEL EXPERIMENT"/>
          <p:cNvSpPr/>
          <p:nvPr/>
        </p:nvSpPr>
        <p:spPr>
          <a:xfrm>
            <a:off x="16565760" y="25247758"/>
            <a:ext cx="14919840" cy="147801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Frame: RESULTS 2: MECHANISM"/>
          <p:cNvSpPr/>
          <p:nvPr/>
        </p:nvSpPr>
        <p:spPr>
          <a:xfrm>
            <a:off x="16565760" y="11585448"/>
            <a:ext cx="14919840" cy="121809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Frame: RESULTS 1: OBSERVED RELATIONSHIP"/>
          <p:cNvSpPr/>
          <p:nvPr/>
        </p:nvSpPr>
        <p:spPr>
          <a:xfrm>
            <a:off x="914400" y="31772351"/>
            <a:ext cx="14919840" cy="18473928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Frame: DATA &amp; METHODS"/>
          <p:cNvSpPr/>
          <p:nvPr/>
        </p:nvSpPr>
        <p:spPr>
          <a:xfrm>
            <a:off x="914400" y="19174968"/>
            <a:ext cx="14919840" cy="11116055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Frame: INTRODUCTION"/>
          <p:cNvSpPr/>
          <p:nvPr/>
        </p:nvSpPr>
        <p:spPr>
          <a:xfrm>
            <a:off x="914400" y="11585448"/>
            <a:ext cx="14919840" cy="610819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LM4+ 지면 모델의 전 지구 엽면적지수 모의 특성 진단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고영대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박상혁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정지훈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¹전남대학교 해양학과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²세종대학교 환경융합공학과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</a:rPr>
              <a:t>서론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1188720" y="11704320"/>
            <a:ext cx="14374367" cy="60350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800" b="1" dirty="0">
                <a:solidFill>
                  <a:schemeClr val="tx2"/>
                </a:solidFill>
              </a:rPr>
              <a:t>한국해양과학기술원(KIOST)</a:t>
            </a:r>
            <a:r>
              <a:rPr lang="ko-KR" altLang="en-US" sz="2800" b="1" dirty="0">
                <a:solidFill>
                  <a:schemeClr val="tx2"/>
                </a:solidFill>
              </a:rPr>
              <a:t>의 </a:t>
            </a:r>
            <a:r>
              <a:rPr lang="en-US" sz="2800" b="1" dirty="0">
                <a:solidFill>
                  <a:schemeClr val="tx2"/>
                </a:solidFill>
              </a:rPr>
              <a:t>KIOST-ESM2</a:t>
            </a:r>
            <a:r>
              <a:rPr lang="ko-KR" altLang="en-US" sz="2800" b="1" dirty="0">
                <a:solidFill>
                  <a:schemeClr val="tx2"/>
                </a:solidFill>
              </a:rPr>
              <a:t>는 </a:t>
            </a:r>
            <a:r>
              <a:rPr lang="en-US" sz="2800" b="1" dirty="0" err="1">
                <a:solidFill>
                  <a:schemeClr val="tx2"/>
                </a:solidFill>
              </a:rPr>
              <a:t>지면</a:t>
            </a:r>
            <a:r>
              <a:rPr lang="en-US" sz="2800" b="1" dirty="0">
                <a:solidFill>
                  <a:schemeClr val="tx2"/>
                </a:solidFill>
              </a:rPr>
              <a:t> 성분으로 GFDL의 LM4+를 </a:t>
            </a:r>
            <a:r>
              <a:rPr lang="en-US" sz="2800" b="1" dirty="0" err="1">
                <a:solidFill>
                  <a:schemeClr val="tx2"/>
                </a:solidFill>
              </a:rPr>
              <a:t>사용</a:t>
            </a:r>
            <a:endParaRPr lang="en-US" sz="3000" dirty="0"/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>
                <a:solidFill>
                  <a:schemeClr val="tx2"/>
                </a:solidFill>
              </a:rPr>
              <a:t>LM4+는 식생을 크기별 개체군(cohort, PPA)으로 모의하여 엽면적·생물량·종 구성이 기후에 </a:t>
            </a:r>
            <a:r>
              <a:rPr lang="en-US" sz="2800" b="0" dirty="0" err="1">
                <a:solidFill>
                  <a:schemeClr val="tx2"/>
                </a:solidFill>
              </a:rPr>
              <a:t>반응해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변</a:t>
            </a:r>
            <a:r>
              <a:rPr lang="ko-KR" altLang="en-US" sz="2800" b="0" dirty="0">
                <a:solidFill>
                  <a:schemeClr val="tx2"/>
                </a:solidFill>
              </a:rPr>
              <a:t>함</a:t>
            </a:r>
            <a:r>
              <a:rPr lang="en-US" altLang="ko-KR" sz="28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자유도는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prescribed</a:t>
            </a:r>
            <a:r>
              <a:rPr lang="en-US" sz="2800" b="0" dirty="0">
                <a:solidFill>
                  <a:schemeClr val="tx2"/>
                </a:solidFill>
              </a:rPr>
              <a:t> 식생이 담지 </a:t>
            </a:r>
            <a:r>
              <a:rPr lang="en-US" sz="2800" b="0" dirty="0" err="1">
                <a:solidFill>
                  <a:schemeClr val="tx2"/>
                </a:solidFill>
              </a:rPr>
              <a:t>못하는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feedback</a:t>
            </a:r>
            <a:r>
              <a:rPr lang="en-US" sz="2800" b="0" dirty="0" err="1">
                <a:solidFill>
                  <a:schemeClr val="tx2"/>
                </a:solidFill>
              </a:rPr>
              <a:t>을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모의</a:t>
            </a:r>
            <a:r>
              <a:rPr lang="en-US" sz="2800" b="0" dirty="0" err="1">
                <a:solidFill>
                  <a:schemeClr val="tx2"/>
                </a:solidFill>
              </a:rPr>
              <a:t>하지만</a:t>
            </a:r>
            <a:r>
              <a:rPr lang="en-US" sz="2800" b="0" dirty="0">
                <a:solidFill>
                  <a:schemeClr val="tx2"/>
                </a:solidFill>
              </a:rPr>
              <a:t>, 동시에 </a:t>
            </a:r>
            <a:r>
              <a:rPr lang="en-US" sz="2800" b="0" dirty="0" err="1">
                <a:solidFill>
                  <a:schemeClr val="tx2"/>
                </a:solidFill>
              </a:rPr>
              <a:t>큰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불확실성</a:t>
            </a:r>
            <a:r>
              <a:rPr lang="ko-KR" altLang="en-US" sz="2800" b="0" dirty="0">
                <a:solidFill>
                  <a:schemeClr val="tx2"/>
                </a:solidFill>
              </a:rPr>
              <a:t> 내포</a:t>
            </a:r>
            <a:endParaRPr lang="en-US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따라서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fully coupled model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dirty="0">
                <a:solidFill>
                  <a:schemeClr val="tx2"/>
                </a:solidFill>
              </a:rPr>
              <a:t>실험</a:t>
            </a:r>
            <a:r>
              <a:rPr lang="en-US" sz="2800" b="0" dirty="0" err="1">
                <a:solidFill>
                  <a:schemeClr val="tx2"/>
                </a:solidFill>
              </a:rPr>
              <a:t>에</a:t>
            </a:r>
            <a:r>
              <a:rPr lang="en-US" sz="2800" b="0" dirty="0">
                <a:solidFill>
                  <a:schemeClr val="tx2"/>
                </a:solidFill>
              </a:rPr>
              <a:t> 앞서, </a:t>
            </a:r>
            <a:r>
              <a:rPr lang="ko-KR" altLang="en-US" sz="2800" dirty="0">
                <a:solidFill>
                  <a:schemeClr val="tx2"/>
                </a:solidFill>
              </a:rPr>
              <a:t>관측 기반의 </a:t>
            </a:r>
            <a:r>
              <a:rPr lang="ko-KR" altLang="en-US" sz="2800" dirty="0" err="1">
                <a:solidFill>
                  <a:schemeClr val="tx2"/>
                </a:solidFill>
              </a:rPr>
              <a:t>대기강제력으로</a:t>
            </a:r>
            <a:r>
              <a:rPr lang="ko-KR" altLang="en-US" sz="280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오프라인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실험</a:t>
            </a:r>
            <a:r>
              <a:rPr lang="ko-KR" altLang="en-US" sz="2800" b="0" dirty="0">
                <a:solidFill>
                  <a:schemeClr val="tx2"/>
                </a:solidFill>
              </a:rPr>
              <a:t>을 수행해</a:t>
            </a:r>
            <a:r>
              <a:rPr lang="en-US" sz="2800" b="0" dirty="0">
                <a:solidFill>
                  <a:schemeClr val="tx2"/>
                </a:solidFill>
              </a:rPr>
              <a:t> 지면 모델 자체의 </a:t>
            </a:r>
            <a:r>
              <a:rPr lang="en-US" sz="2800" b="0" dirty="0" err="1">
                <a:solidFill>
                  <a:schemeClr val="tx2"/>
                </a:solidFill>
              </a:rPr>
              <a:t>식생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편</a:t>
            </a:r>
            <a:r>
              <a:rPr lang="ko-KR" altLang="en-US" sz="2800" b="0" dirty="0">
                <a:solidFill>
                  <a:schemeClr val="tx2"/>
                </a:solidFill>
              </a:rPr>
              <a:t>차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진단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목표: 1982–2010년 LM4+ 엽면적지수(LAI)를 위성 관측(GIMMS LAI4g)과 비교하여 편차의 위치·시기·원인(종 분포 포함)</a:t>
            </a:r>
            <a:r>
              <a:rPr lang="en-US" sz="2800" b="1" dirty="0" err="1">
                <a:solidFill>
                  <a:schemeClr val="tx2"/>
                </a:solidFill>
              </a:rPr>
              <a:t>을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>
                <a:solidFill>
                  <a:schemeClr val="tx2"/>
                </a:solidFill>
              </a:rPr>
              <a:t>진단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</a:rPr>
              <a:t>자료 및 방법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85075"/>
              </p:ext>
            </p:extLst>
          </p:nvPr>
        </p:nvGraphicFramePr>
        <p:xfrm>
          <a:off x="1188720" y="19293840"/>
          <a:ext cx="14374367" cy="4343400"/>
        </p:xfrm>
        <a:graphic>
          <a:graphicData uri="http://schemas.openxmlformats.org/drawingml/2006/table">
            <a:tbl>
              <a:tblPr/>
              <a:tblGrid>
                <a:gridCol w="452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0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자료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설정 / 변수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기간 / 해상도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LM4+ 오프라인 (KIOST-ESM2 지면)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PPA cohort, 6개 종, 종 분포 고정, 질소 순환 off, CO₂ 고정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WFDE5 강제력 (Cucchi et al.,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ERA5를 CRU/GPCC로 편향 보정: 기온, 습도, 바람, 단파, 장파, 강수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0.5°, 1시간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초기장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KIOST-ESM2 약 400년 결합 piControl + WFDE5 1981–2010 1회 spin-up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1979-01-01 시작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GIMMS LAI4g (Cao et al.,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AVHRR LAI, MODIS로 통합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1982–2010, 15일 1/12° → 월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50338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1188720" y="27959304"/>
            <a:ext cx="14374367" cy="2377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Fig. 1. Offline spin-up after the KIOST-ESM2 initial state (WFDE5 1981–2010 twice; non-ice land, annual mean): (a) LAI, (b) GPP, (c) wood carbon. Shading: cycle 2 = analysis run.</a:t>
            </a:r>
            <a:endParaRPr lang="en-US" sz="3000" dirty="0"/>
          </a:p>
          <a:p>
            <a:pPr marL="0" indent="0">
              <a:buNone/>
            </a:pPr>
            <a:r>
              <a:rPr lang="en-US" sz="2200" b="0" dirty="0">
                <a:solidFill>
                  <a:schemeClr val="tx2"/>
                </a:solidFill>
              </a:rPr>
              <a:t>두 번째 주기 변화: LAI −0.6 %, GPP +0.4 % → 평형, 느린 목재 탄소만 +7.6 % 계속 증가. 평가: 1982–2010 월 기후값을 1° 공통 격자에서 비교 (MJJAS 평균, 위도·월별 편차, 종 분포).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</a:rPr>
              <a:t>결과 1: 전 지구 LAI 분포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1188720" y="42498264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2. Growing-season (MJJAS) LAI, 1982–2010: (a) GIMMS LAI4g, (b) LM4+, (c) LM4+ − GIMMS. Side panels: zonal means.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1188720" y="43778424"/>
            <a:ext cx="14374367" cy="6513576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공간 분포는 재현되나 거의 전 지역에서 과대: 전 지구 MJJAS 평균 2.77 vs 1.97 (+41 %).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남아메리카 남동부(AR6 SES)에서 가장 뚜렷: 1.41 → 5.17 (+268 %). 열대 남미·아프리카·동남아도 +30–49 %.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한대(50–70°N)는 여름 정점 +15 %뿐, 편차의 87 %가 비생장기(9–4월)에서 발생 → 크기보다 계절 위상 문제.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</a:rPr>
              <a:t>결과 2: 편차는 언제, 어디서?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843248" y="18600070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3. Latitude–month zonal means, 1982–2010: (a) GIMMS LAI, (b) LM4+ − GIMMS. Cells with GIMMS annual-mean LAI &lt; 0.25 (deserts, polar barrens) are excluded.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843248" y="19880230"/>
            <a:ext cx="14374367" cy="39319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열대(20°S–20°N): 연중 +1.2 (+42 %), 계절과 무관한 크기 </a:t>
            </a:r>
            <a:r>
              <a:rPr lang="en-US" sz="2600" b="0" dirty="0" err="1">
                <a:solidFill>
                  <a:schemeClr val="tx1"/>
                </a:solidFill>
              </a:rPr>
              <a:t>편차</a:t>
            </a:r>
            <a:r>
              <a:rPr lang="en-US" sz="2600" b="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남반구 중위도(20–60°S): 연중 +1.5 (+112 %). 관측 LAI가 낮은 남미 남동부(1.4)에서 모델은 숲 수준(5.2).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한대(50–70°N): 여름 +0.30이지만 가을(SON) +1.12 → 낙엽 지연. (Weng et al., 2015).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</a:rPr>
              <a:t>결과 3: 관측 기반 식생 지도 vs 모델 종 분포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843248" y="35867421"/>
            <a:ext cx="14374367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열대(30°S–30°N): C4 풀 관측 45 % vs 모델 8 %, C3 풀 17 % vs 48 % → 사바나의 C4 풀이 C3 풀·열대 상록수로 </a:t>
            </a:r>
            <a:r>
              <a:rPr lang="en-US" sz="2600" b="1" dirty="0" err="1">
                <a:solidFill>
                  <a:schemeClr val="tx2"/>
                </a:solidFill>
              </a:rPr>
              <a:t>대체</a:t>
            </a:r>
            <a:r>
              <a:rPr lang="en-US" sz="2600" b="1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50°N 이북: 낙엽송 7.5 % vs 0 %, 낙엽 활엽수 4.8 % vs 16.7 %. 낙엽송은 결합 spin-up 경쟁에서 북반구에서 사라짐 (MODIS 원자료에서도 동시베리아 낙엽 침엽수 </a:t>
            </a:r>
            <a:r>
              <a:rPr lang="en-US" sz="2600" b="1" dirty="0" err="1">
                <a:solidFill>
                  <a:schemeClr val="tx2"/>
                </a:solidFill>
              </a:rPr>
              <a:t>확인</a:t>
            </a:r>
            <a:r>
              <a:rPr lang="en-US" sz="2600" b="1" dirty="0">
                <a:solidFill>
                  <a:schemeClr val="tx2"/>
                </a:solidFill>
              </a:rPr>
              <a:t>).</a:t>
            </a:r>
          </a:p>
          <a:p>
            <a:pPr marL="0" indent="0"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chemeClr val="tx2"/>
                </a:solidFill>
              </a:rPr>
              <a:t>종 분포가 고정된 설정에서는 이 편차가 그대로 유지 → 관측 지도로 다시 심은 초기장을 시험 중.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843248" y="34587262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4. Dominant LM4+ species per 1° cell: (a) observation-based (MODIS-derived CLM5 PFT map, Lawrence et al., 2019), (b) LM4+ initial state from the KIOST-ESM2 spin-up (July leaf area).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</a:rPr>
              <a:t>요약 및 향후 계획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843248" y="41628141"/>
            <a:ext cx="14374367" cy="457200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LM4+는 전 지구 LAI 분포를 재현하나 MJJAS +41 % 과대, 특히 남미 남동부(+268 %)와 남반구 중위도 </a:t>
            </a:r>
            <a:r>
              <a:rPr lang="en-US" sz="2400" b="1" dirty="0" err="1">
                <a:solidFill>
                  <a:schemeClr val="tx2"/>
                </a:solidFill>
              </a:rPr>
              <a:t>초지</a:t>
            </a:r>
            <a:r>
              <a:rPr lang="en-US" sz="2400" b="1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편차는 열대·남반구의 연중 크기 </a:t>
            </a:r>
            <a:r>
              <a:rPr lang="en-US" sz="2400" b="1" dirty="0" err="1">
                <a:solidFill>
                  <a:schemeClr val="tx2"/>
                </a:solidFill>
              </a:rPr>
              <a:t>과대와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ko-KR" altLang="en-US" sz="2400" b="1" dirty="0">
                <a:solidFill>
                  <a:schemeClr val="tx2"/>
                </a:solidFill>
              </a:rPr>
              <a:t>고위도</a:t>
            </a:r>
            <a:r>
              <a:rPr lang="en-US" sz="2400" b="1" dirty="0" err="1">
                <a:solidFill>
                  <a:schemeClr val="tx2"/>
                </a:solidFill>
              </a:rPr>
              <a:t>의</a:t>
            </a:r>
            <a:r>
              <a:rPr lang="en-US" sz="2400" b="1" dirty="0">
                <a:solidFill>
                  <a:schemeClr val="tx2"/>
                </a:solidFill>
              </a:rPr>
              <a:t> End of </a:t>
            </a:r>
            <a:r>
              <a:rPr lang="en-US" sz="2400" b="1" dirty="0" err="1">
                <a:solidFill>
                  <a:schemeClr val="tx2"/>
                </a:solidFill>
              </a:rPr>
              <a:t>seasona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지연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구분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모델 종 분포는 관측과 달리 열대 C4 풀이 거의 없고, </a:t>
            </a:r>
            <a:r>
              <a:rPr lang="ko-KR" altLang="en-US" sz="2400" b="1" dirty="0">
                <a:solidFill>
                  <a:schemeClr val="tx2"/>
                </a:solidFill>
              </a:rPr>
              <a:t>고위도의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낙엽송</a:t>
            </a:r>
            <a:r>
              <a:rPr lang="ko-KR" altLang="en-US" sz="2400" b="1" dirty="0">
                <a:solidFill>
                  <a:schemeClr val="tx2"/>
                </a:solidFill>
              </a:rPr>
              <a:t>이 사라지고</a:t>
            </a:r>
            <a:r>
              <a:rPr lang="en-US" altLang="ko-KR" sz="2400" b="1" dirty="0">
                <a:solidFill>
                  <a:schemeClr val="tx2"/>
                </a:solidFill>
              </a:rPr>
              <a:t>,</a:t>
            </a:r>
            <a:r>
              <a:rPr lang="en-US" sz="2400" b="1" dirty="0">
                <a:solidFill>
                  <a:schemeClr val="tx2"/>
                </a:solidFill>
              </a:rPr>
              <a:t> 낙엽 </a:t>
            </a:r>
            <a:r>
              <a:rPr lang="en-US" sz="2400" b="1" dirty="0" err="1">
                <a:solidFill>
                  <a:schemeClr val="tx2"/>
                </a:solidFill>
              </a:rPr>
              <a:t>활엽수가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과</a:t>
            </a:r>
            <a:r>
              <a:rPr lang="ko-KR" altLang="en-US" sz="2400" b="1" dirty="0">
                <a:solidFill>
                  <a:schemeClr val="tx2"/>
                </a:solidFill>
              </a:rPr>
              <a:t>대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0" dirty="0">
                <a:solidFill>
                  <a:schemeClr val="tx2"/>
                </a:solidFill>
              </a:rPr>
              <a:t>향후: 낙엽 규칙(낮 길이 조건) 개선, 관측 지도 기반 재파종, 시간 변화 CO₂, KIOST-ESM2 결합 실험에서의 영향 평가.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</a:rPr>
              <a:t>참고문헌 및 사사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843248" y="47663181"/>
            <a:ext cx="14374367" cy="2628818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0" dirty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Lawrence, D. M., et al. (2019). JAMES, 11, 4245. • Lawrence, P. J. &amp; Chase, T. N. (2007). JGR, 112, G01023.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이 연구는 기후에너지환경부의 재원으로 한국환경산업기술원의 “신기후체제 대응 환경기술개발사업”의 지원(RS-2022-KE002160) 및 해양수산부의 재원으로 해양수산과학기술진흥원의 지원(RS-2026-25543619)을 받아 수행되었습니다.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2026 한국기상학회 가을학술대회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0_spinup_lai_gpp_wood_kms.png" descr="fig0_spinup_lai_gpp_wood_k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774400"/>
            <a:ext cx="14447520" cy="4093464"/>
          </a:xfrm>
          <a:prstGeom prst="rect">
            <a:avLst/>
          </a:prstGeom>
        </p:spPr>
      </p:pic>
      <p:pic>
        <p:nvPicPr>
          <p:cNvPr id="55" name="Picture fig1_lai_mean_bias.png" descr="fig1_lai_mean_bi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1891224"/>
            <a:ext cx="10515600" cy="10515600"/>
          </a:xfrm>
          <a:prstGeom prst="rect">
            <a:avLst/>
          </a:prstGeom>
        </p:spPr>
      </p:pic>
      <p:pic>
        <p:nvPicPr>
          <p:cNvPr id="56" name="Picture fig_kms_zonal_month_bias.png" descr="fig_kms_zonal_month_bi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0" y="11704320"/>
            <a:ext cx="14264640" cy="6804310"/>
          </a:xfrm>
          <a:prstGeom prst="rect">
            <a:avLst/>
          </a:prstGeom>
        </p:spPr>
      </p:pic>
      <p:pic>
        <p:nvPicPr>
          <p:cNvPr id="57" name="Picture fig_kms_species_model_vs_obs.png" descr="fig_kms_species_model_vs_o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7800" y="25366630"/>
            <a:ext cx="14630400" cy="912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1059</Words>
  <Application>Microsoft Macintosh PowerPoint</Application>
  <PresentationFormat>사용자 지정</PresentationFormat>
  <Paragraphs>63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CNU Poster Green</vt:lpstr>
      <vt:lpstr>LM4+ 지면 모델의 전 지구 엽면적지수 모의 특성 진단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4</cp:revision>
  <dcterms:created xsi:type="dcterms:W3CDTF">2026-10-07T05:07:41Z</dcterms:created>
  <dcterms:modified xsi:type="dcterms:W3CDTF">2026-10-08T05:36:54Z</dcterms:modified>
</cp:coreProperties>
</file>