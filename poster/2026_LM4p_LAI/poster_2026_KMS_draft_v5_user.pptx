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2"/>
    <p:restoredTop sz="94610"/>
  </p:normalViewPr>
  <p:slideViewPr>
    <p:cSldViewPr snapToGrid="0" snapToObjects="1">
      <p:cViewPr>
        <p:scale>
          <a:sx n="54" d="100"/>
          <a:sy n="54" d="100"/>
        </p:scale>
        <p:origin x="720" y="-6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b="1" dirty="0">
                <a:solidFill>
                  <a:schemeClr val="tx2"/>
                </a:solidFill>
              </a:rPr>
              <a:t>KIOST-ESM2</a:t>
            </a:r>
            <a:r>
              <a:rPr lang="ko-KR" altLang="en-US" sz="2800" b="1" dirty="0">
                <a:solidFill>
                  <a:schemeClr val="tx2"/>
                </a:solidFill>
              </a:rPr>
              <a:t>는 </a:t>
            </a:r>
            <a:r>
              <a:rPr lang="en-US" sz="2800" b="1" dirty="0" err="1">
                <a:solidFill>
                  <a:schemeClr val="tx2"/>
                </a:solidFill>
              </a:rPr>
              <a:t>지면</a:t>
            </a:r>
            <a:r>
              <a:rPr lang="ko-KR" altLang="en-US" sz="2800" b="1" dirty="0">
                <a:solidFill>
                  <a:schemeClr val="tx2"/>
                </a:solidFill>
              </a:rPr>
              <a:t> 모델로</a:t>
            </a:r>
            <a:r>
              <a:rPr lang="en-US" sz="2800" b="1" dirty="0" err="1">
                <a:solidFill>
                  <a:schemeClr val="tx2"/>
                </a:solidFill>
              </a:rPr>
              <a:t>로</a:t>
            </a:r>
            <a:r>
              <a:rPr lang="en-US" sz="2800" b="1" dirty="0">
                <a:solidFill>
                  <a:schemeClr val="tx2"/>
                </a:solidFill>
              </a:rPr>
              <a:t> GFDL의 LM4+를 </a:t>
            </a:r>
            <a:r>
              <a:rPr lang="en-US" sz="2800" b="1" dirty="0" err="1">
                <a:solidFill>
                  <a:schemeClr val="tx2"/>
                </a:solidFill>
              </a:rPr>
              <a:t>사용</a:t>
            </a:r>
            <a:endParaRPr lang="en-US" sz="28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000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>
                <a:solidFill>
                  <a:schemeClr val="tx2"/>
                </a:solidFill>
              </a:rPr>
              <a:t>LM4+는 식생을 크기별 개체군(cohort, PPA)으로 모의하여 엽면적·생물량·종 구성이 기후에 </a:t>
            </a:r>
            <a:r>
              <a:rPr lang="en-US" sz="2800" b="0" dirty="0" err="1">
                <a:solidFill>
                  <a:schemeClr val="tx2"/>
                </a:solidFill>
              </a:rPr>
              <a:t>반응해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변</a:t>
            </a:r>
            <a:r>
              <a:rPr lang="ko-KR" altLang="en-US" sz="2800" b="0" dirty="0">
                <a:solidFill>
                  <a:schemeClr val="tx2"/>
                </a:solidFill>
              </a:rPr>
              <a:t>함</a:t>
            </a:r>
            <a:r>
              <a:rPr lang="en-US" altLang="ko-KR" sz="28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altLang="ko-KR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자유도는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prescribed</a:t>
            </a:r>
            <a:r>
              <a:rPr lang="en-US" sz="2800" b="0" dirty="0">
                <a:solidFill>
                  <a:schemeClr val="tx2"/>
                </a:solidFill>
              </a:rPr>
              <a:t> 식생이 담지 </a:t>
            </a:r>
            <a:r>
              <a:rPr lang="en-US" sz="2800" b="0" dirty="0" err="1">
                <a:solidFill>
                  <a:schemeClr val="tx2"/>
                </a:solidFill>
              </a:rPr>
              <a:t>못하는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</a:t>
            </a:r>
            <a:r>
              <a:rPr lang="en-US" sz="2800" b="0" dirty="0" err="1">
                <a:solidFill>
                  <a:schemeClr val="tx2"/>
                </a:solidFill>
              </a:rPr>
              <a:t>을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모의</a:t>
            </a:r>
            <a:r>
              <a:rPr lang="en-US" sz="2800" b="0" dirty="0" err="1">
                <a:solidFill>
                  <a:schemeClr val="tx2"/>
                </a:solidFill>
              </a:rPr>
              <a:t>하지만</a:t>
            </a:r>
            <a:r>
              <a:rPr lang="en-US" sz="2800" b="0" dirty="0">
                <a:solidFill>
                  <a:schemeClr val="tx2"/>
                </a:solidFill>
              </a:rPr>
              <a:t>, 동시에 </a:t>
            </a:r>
            <a:r>
              <a:rPr lang="en-US" sz="2800" b="0" dirty="0" err="1">
                <a:solidFill>
                  <a:schemeClr val="tx2"/>
                </a:solidFill>
              </a:rPr>
              <a:t>큰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800" b="0" dirty="0">
                <a:solidFill>
                  <a:schemeClr val="tx2"/>
                </a:solidFill>
              </a:rPr>
              <a:t> 내포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따라서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fully coupled model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dirty="0">
                <a:solidFill>
                  <a:schemeClr val="tx2"/>
                </a:solidFill>
              </a:rPr>
              <a:t>실험</a:t>
            </a:r>
            <a:r>
              <a:rPr lang="en-US" sz="2800" b="0" dirty="0" err="1">
                <a:solidFill>
                  <a:schemeClr val="tx2"/>
                </a:solidFill>
              </a:rPr>
              <a:t>에</a:t>
            </a:r>
            <a:r>
              <a:rPr lang="en-US" sz="2800" b="0" dirty="0">
                <a:solidFill>
                  <a:schemeClr val="tx2"/>
                </a:solidFill>
              </a:rPr>
              <a:t> 앞서, </a:t>
            </a:r>
            <a:r>
              <a:rPr lang="ko-KR" altLang="en-US" sz="2800" dirty="0">
                <a:solidFill>
                  <a:schemeClr val="tx2"/>
                </a:solidFill>
              </a:rPr>
              <a:t>관측 기반의 </a:t>
            </a:r>
            <a:r>
              <a:rPr lang="ko-KR" altLang="en-US" sz="2800" dirty="0" err="1">
                <a:solidFill>
                  <a:schemeClr val="tx2"/>
                </a:solidFill>
              </a:rPr>
              <a:t>대기강제력으로</a:t>
            </a:r>
            <a:r>
              <a:rPr lang="ko-KR" altLang="en-US" sz="280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오프라인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실험</a:t>
            </a:r>
            <a:r>
              <a:rPr lang="ko-KR" altLang="en-US" sz="2800" b="0" dirty="0">
                <a:solidFill>
                  <a:schemeClr val="tx2"/>
                </a:solidFill>
              </a:rPr>
              <a:t>을 수행해</a:t>
            </a:r>
            <a:r>
              <a:rPr lang="en-US" sz="2800" b="0" dirty="0">
                <a:solidFill>
                  <a:schemeClr val="tx2"/>
                </a:solidFill>
              </a:rPr>
              <a:t> 지면 모델 자체의 </a:t>
            </a:r>
            <a:r>
              <a:rPr lang="en-US" sz="2800" b="0" dirty="0" err="1">
                <a:solidFill>
                  <a:schemeClr val="tx2"/>
                </a:solidFill>
              </a:rPr>
              <a:t>식생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편</a:t>
            </a:r>
            <a:r>
              <a:rPr lang="ko-KR" altLang="en-US" sz="2800" b="0" dirty="0">
                <a:solidFill>
                  <a:schemeClr val="tx2"/>
                </a:solidFill>
              </a:rPr>
              <a:t>차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목표: 1982–2010년 LM4+ 엽면적지수(LAI)를 위성 관측(GIMMS LAI4g)과 비교하여 편차의 위치·시기·원인(종 분포 포함)</a:t>
            </a:r>
            <a:r>
              <a:rPr lang="en-US" sz="2800" b="1" dirty="0" err="1">
                <a:solidFill>
                  <a:schemeClr val="tx2"/>
                </a:solidFill>
              </a:rPr>
              <a:t>을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13070"/>
              </p:ext>
            </p:extLst>
          </p:nvPr>
        </p:nvGraphicFramePr>
        <p:xfrm>
          <a:off x="1188720" y="19293840"/>
          <a:ext cx="14374365" cy="4343400"/>
        </p:xfrm>
        <a:graphic>
          <a:graphicData uri="http://schemas.openxmlformats.org/drawingml/2006/table">
            <a:tbl>
              <a:tblPr/>
              <a:tblGrid>
                <a:gridCol w="452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ERA5를 CRU/GPCC로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KIOST-ESM2 약 400년 결합 piControl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AVHRR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endParaRPr lang="en-US" sz="22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0" dirty="0" err="1">
                <a:solidFill>
                  <a:schemeClr val="tx2"/>
                </a:solidFill>
              </a:rPr>
              <a:t>두</a:t>
            </a:r>
            <a:r>
              <a:rPr lang="en-US" sz="2200" b="0" dirty="0">
                <a:solidFill>
                  <a:schemeClr val="tx2"/>
                </a:solidFill>
              </a:rPr>
              <a:t> 번째 주기 변화: LAI −0.6 %, GPP +0.4 % → 평형, 느린 목재 탄소만 +7.6 % 계속 증가. 평가: 1982–2010 월 기후값을 1° 공통 격자에서 비교 (MJJAS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3747597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남동부(AR6 SES)에서 가장 뚜렷: 1.36 → 5.00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MODIS barren fraction ≥ 50 % are excluded (same results with 80 % or no mask).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+1.4 (+113 %). 관측 LAI가 낮은 남미 남동부(1.4)에서 모델은 숲 수준(5.0).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+0.28이지만 가을(SON) +1.07 → 낙엽 지연. (Weng et al., 2015). CMIP5/6 ESM에서도 공통된 편향 (Park and Jeong, 2021).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CLM5 PFT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100749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</a:t>
            </a:r>
            <a:r>
              <a:rPr lang="en-US" sz="2400" b="1" dirty="0" err="1">
                <a:solidFill>
                  <a:schemeClr val="tx2"/>
                </a:solidFill>
              </a:rPr>
              <a:t>과대와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ko-KR" altLang="en-US" sz="2400" b="1" dirty="0">
                <a:solidFill>
                  <a:schemeClr val="tx2"/>
                </a:solidFill>
              </a:rPr>
              <a:t>고위도</a:t>
            </a:r>
            <a:r>
              <a:rPr lang="en-US" sz="2400" b="1" dirty="0" err="1">
                <a:solidFill>
                  <a:schemeClr val="tx2"/>
                </a:solidFill>
              </a:rPr>
              <a:t>의</a:t>
            </a:r>
            <a:r>
              <a:rPr lang="en-US" sz="2400" b="1" dirty="0">
                <a:solidFill>
                  <a:schemeClr val="tx2"/>
                </a:solidFill>
              </a:rPr>
              <a:t> End of </a:t>
            </a:r>
            <a:r>
              <a:rPr lang="en-US" sz="2400" b="1" dirty="0" err="1">
                <a:solidFill>
                  <a:schemeClr val="tx2"/>
                </a:solidFill>
              </a:rPr>
              <a:t>seasona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지연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구분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 • Park, H. &amp; Jeong, S. (2021). ERL, 16, 034027.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1089</Words>
  <Application>Microsoft Macintosh PowerPoint</Application>
  <PresentationFormat>사용자 지정</PresentationFormat>
  <Paragraphs>69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5</cp:revision>
  <dcterms:created xsi:type="dcterms:W3CDTF">2026-10-07T05:07:41Z</dcterms:created>
  <dcterms:modified xsi:type="dcterms:W3CDTF">2026-10-08T06:14:04Z</dcterms:modified>
</cp:coreProperties>
</file>